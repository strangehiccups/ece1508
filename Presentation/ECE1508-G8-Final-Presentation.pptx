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comment1.xml" ContentType="application/vnd.openxmlformats-officedocument.presentationml.comments+xml"/>
  <Override PartName="/ppt/notesSlides/notesSlide3.xml" ContentType="application/vnd.openxmlformats-officedocument.presentationml.notesSlide+xml"/>
  <Override PartName="/ppt/comments/comment2.xml" ContentType="application/vnd.openxmlformats-officedocument.presentationml.comments+xml"/>
  <Override PartName="/ppt/notesSlides/notesSlide4.xml" ContentType="application/vnd.openxmlformats-officedocument.presentationml.notesSlide+xml"/>
  <Override PartName="/ppt/comments/comment3.xml" ContentType="application/vnd.openxmlformats-officedocument.presentationml.comments+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 id="2147483662" r:id="rId2"/>
  </p:sldMasterIdLst>
  <p:notesMasterIdLst>
    <p:notesMasterId r:id="rId8"/>
  </p:notesMasterIdLst>
  <p:sldIdLst>
    <p:sldId id="256" r:id="rId3"/>
    <p:sldId id="257" r:id="rId4"/>
    <p:sldId id="258" r:id="rId5"/>
    <p:sldId id="259" r:id="rId6"/>
    <p:sldId id="260" r:id="rId7"/>
  </p:sldIdLst>
  <p:sldSz cx="9144000" cy="5143500" type="screen16x9"/>
  <p:notesSz cx="6858000" cy="9144000"/>
  <p:embeddedFontLst>
    <p:embeddedFont>
      <p:font typeface="Economica" panose="020B0604020202020204" charset="0"/>
      <p:regular r:id="rId9"/>
      <p:bold r:id="rId10"/>
      <p:italic r:id="rId11"/>
      <p:boldItalic r:id="rId12"/>
    </p:embeddedFont>
    <p:embeddedFont>
      <p:font typeface="Open Sans" panose="020B0606030504020204" pitchFamily="34" charset="0"/>
      <p:regular r:id="rId13"/>
      <p:bold r:id="rId14"/>
      <p:italic r:id="rId15"/>
      <p:boldItalic r:id="rId16"/>
    </p:embeddedFont>
    <p:embeddedFont>
      <p:font typeface="Tahoma" panose="020B0604030504040204" pitchFamily="34" charset="0"/>
      <p:regular r:id="rId17"/>
      <p:bold r:id="rId1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ubhav Sharma" initials="" lastIdx="3"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EC3C7F0-2309-4531-97DA-3BB09D230519}">
  <a:tblStyle styleId="{6EC3C7F0-2309-4531-97DA-3BB09D230519}"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8" d="100"/>
          <a:sy n="138" d="100"/>
        </p:scale>
        <p:origin x="834" y="120"/>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openxmlformats.org/officeDocument/2006/relationships/font" Target="fonts/font5.fntdata"/><Relationship Id="rId18" Type="http://schemas.openxmlformats.org/officeDocument/2006/relationships/font" Target="fonts/font10.fntdata"/><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font" Target="fonts/font4.fntdata"/><Relationship Id="rId17" Type="http://schemas.openxmlformats.org/officeDocument/2006/relationships/font" Target="fonts/font9.fntdata"/><Relationship Id="rId2" Type="http://schemas.openxmlformats.org/officeDocument/2006/relationships/slideMaster" Target="slideMasters/slideMaster2.xml"/><Relationship Id="rId16" Type="http://schemas.openxmlformats.org/officeDocument/2006/relationships/font" Target="fonts/font8.fntdata"/><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font" Target="fonts/font3.fntdata"/><Relationship Id="rId5" Type="http://schemas.openxmlformats.org/officeDocument/2006/relationships/slide" Target="slides/slide3.xml"/><Relationship Id="rId15" Type="http://schemas.openxmlformats.org/officeDocument/2006/relationships/font" Target="fonts/font7.fntdata"/><Relationship Id="rId23" Type="http://schemas.openxmlformats.org/officeDocument/2006/relationships/tableStyles" Target="tableStyles.xml"/><Relationship Id="rId10" Type="http://schemas.openxmlformats.org/officeDocument/2006/relationships/font" Target="fonts/font2.fntdata"/><Relationship Id="rId19" Type="http://schemas.openxmlformats.org/officeDocument/2006/relationships/commentAuthors" Target="commentAuthors.xml"/><Relationship Id="rId4" Type="http://schemas.openxmlformats.org/officeDocument/2006/relationships/slide" Target="slides/slide2.xml"/><Relationship Id="rId9" Type="http://schemas.openxmlformats.org/officeDocument/2006/relationships/font" Target="fonts/font1.fntdata"/><Relationship Id="rId14" Type="http://schemas.openxmlformats.org/officeDocument/2006/relationships/font" Target="fonts/font6.fntdata"/><Relationship Id="rId22" Type="http://schemas.openxmlformats.org/officeDocument/2006/relationships/theme" Target="theme/theme1.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26-04-02T21:15:44.494" idx="1">
    <p:pos x="259" y="126"/>
    <p:text>@lam26106@gmail.com
_Assigned to lam26106@gmail.com_</p:text>
  </p:cm>
</p:cmLst>
</file>

<file path=ppt/comments/comment2.xml><?xml version="1.0" encoding="utf-8"?>
<p:cmLst xmlns:a="http://schemas.openxmlformats.org/drawingml/2006/main" xmlns:r="http://schemas.openxmlformats.org/officeDocument/2006/relationships" xmlns:p="http://schemas.openxmlformats.org/presentationml/2006/main">
  <p:cm authorId="0" dt="2026-04-02T21:16:11.825" idx="2">
    <p:pos x="218" y="0"/>
    <p:text>@edwin.chen93@gmail.com
_Assigned to GarENt sIrUS_</p:text>
  </p:cm>
</p:cmLst>
</file>

<file path=ppt/comments/comment3.xml><?xml version="1.0" encoding="utf-8"?>
<p:cmLst xmlns:a="http://schemas.openxmlformats.org/drawingml/2006/main" xmlns:r="http://schemas.openxmlformats.org/officeDocument/2006/relationships" xmlns:p="http://schemas.openxmlformats.org/presentationml/2006/main">
  <p:cm authorId="0" dt="2026-04-02T21:16:32.825" idx="3">
    <p:pos x="218" y="0"/>
    <p:text>@anubhavsharma1431@gmail.com
_Assigned to you_</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d43d76a2ae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d43d76a2ae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g3d440c04a73_1_2:notes"/>
          <p:cNvSpPr>
            <a:spLocks noGrp="1" noRot="1" noChangeAspect="1"/>
          </p:cNvSpPr>
          <p:nvPr>
            <p:ph type="sldImg" idx="2"/>
          </p:nvPr>
        </p:nvSpPr>
        <p:spPr>
          <a:xfrm>
            <a:off x="914400" y="1143000"/>
            <a:ext cx="73152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3" name="Google Shape;73;g3d440c04a73_1_2: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en">
                <a:solidFill>
                  <a:schemeClr val="dk1"/>
                </a:solidFill>
              </a:rPr>
              <a:t>Our project focuses on speech to text, the task of converting spoken language into written text using deep learning. Our goal is to implement a speech-to-text model that is inspired by the well-known DeepSpeech2 paper and evaluate the impact of architectural choices.</a:t>
            </a:r>
            <a:endParaRPr>
              <a:solidFill>
                <a:schemeClr val="dk1"/>
              </a:solidFill>
            </a:endParaRPr>
          </a:p>
          <a:p>
            <a:pPr marL="0" lvl="0" indent="0" algn="l" rtl="0">
              <a:lnSpc>
                <a:spcPct val="115000"/>
              </a:lnSpc>
              <a:spcBef>
                <a:spcPts val="1200"/>
              </a:spcBef>
              <a:spcAft>
                <a:spcPts val="0"/>
              </a:spcAft>
              <a:buSzPts val="1100"/>
              <a:buNone/>
            </a:pPr>
            <a:r>
              <a:rPr lang="en">
                <a:solidFill>
                  <a:schemeClr val="dk1"/>
                </a:solidFill>
              </a:rPr>
              <a:t>This is a well-studied problem with several existing approaches. Traditional systems relied on Hidden Markov Model, but modern solutions like DeepSpeech, OpenAI's Whisper have shifted toward end-to-end deep learning models.</a:t>
            </a: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a:solidFill>
                  <a:schemeClr val="dk1"/>
                </a:solidFill>
              </a:rPr>
              <a:t>Speech-to-text powers many real world applications, from automatic video transcription to virtual assistant, and recently AI agents.</a:t>
            </a:r>
            <a:endParaRPr>
              <a:solidFill>
                <a:schemeClr val="dk1"/>
              </a:solidFill>
            </a:endParaRPr>
          </a:p>
          <a:p>
            <a:pPr marL="0" lvl="0" indent="0" algn="l" rtl="0">
              <a:lnSpc>
                <a:spcPct val="115000"/>
              </a:lnSpc>
              <a:spcBef>
                <a:spcPts val="1200"/>
              </a:spcBef>
              <a:spcAft>
                <a:spcPts val="1200"/>
              </a:spcAft>
              <a:buClr>
                <a:schemeClr val="dk1"/>
              </a:buClr>
              <a:buSzPts val="1100"/>
              <a:buFont typeface="Arial"/>
              <a:buNone/>
            </a:pPr>
            <a:r>
              <a:rPr lang="en">
                <a:solidFill>
                  <a:schemeClr val="dk1"/>
                </a:solidFill>
              </a:rPr>
              <a:t>However, key challenges remain. For example, acoustic variability like accents, speaking rates, background noise, or high computation cost, they can all degrade the model quality.</a:t>
            </a:r>
            <a:endParaRPr/>
          </a:p>
        </p:txBody>
      </p:sp>
      <p:sp>
        <p:nvSpPr>
          <p:cNvPr id="74" name="Google Shape;74;g3d440c04a73_1_2: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3d440c04a73_1_38: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1" name="Google Shape;91;g3d440c04a73_1_38: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
              <a:t>We implemented a baseline speech-to-text architecture based on DeepSpeech2 that begins with a data preprocessing step, converting raw audio into spectrograms. A CNN block then extracts features from the spectrograms, and the temporal model learns time-sequential relations across features. The encoded state sequences from the temporal model is then converted into a sequence of character probabilities by the prediction head and the CTC (Connectionist Temporal Classification) decoder constructs all valid alignments and outputs the character sequence with the highest confidence.</a:t>
            </a:r>
            <a:endParaRPr/>
          </a:p>
          <a:p>
            <a:pPr marL="0" lvl="0" indent="0" algn="l" rtl="0">
              <a:spcBef>
                <a:spcPts val="0"/>
              </a:spcBef>
              <a:spcAft>
                <a:spcPts val="0"/>
              </a:spcAft>
              <a:buNone/>
            </a:pPr>
            <a:r>
              <a:rPr lang="en"/>
              <a:t>The original DeepSpeech2 authors trained on LibriSpeech (~100-500hrs of audio from multiple speakers) however, due to the limited compute we had access to, we worked with the smaller LJ Speech dataset (~24hrs audio from single speaker).</a:t>
            </a:r>
            <a:endParaRPr/>
          </a:p>
          <a:p>
            <a:pPr marL="0" lvl="0" indent="0" algn="l" rtl="0">
              <a:spcBef>
                <a:spcPts val="0"/>
              </a:spcBef>
              <a:spcAft>
                <a:spcPts val="0"/>
              </a:spcAft>
              <a:buNone/>
            </a:pPr>
            <a:r>
              <a:rPr lang="en"/>
              <a:t>We also introduced an additional preprocessing step that reduced the spectrogram frequencies to the frequencies humans are sensitive to.</a:t>
            </a:r>
            <a:endParaRPr/>
          </a:p>
          <a:p>
            <a:pPr marL="0" lvl="0" indent="0" algn="l" rtl="0">
              <a:spcBef>
                <a:spcPts val="0"/>
              </a:spcBef>
              <a:spcAft>
                <a:spcPts val="0"/>
              </a:spcAft>
              <a:buNone/>
            </a:pPr>
            <a:r>
              <a:rPr lang="en"/>
              <a:t>We also experimented with other temporal models such as LSTM and Conformer.</a:t>
            </a:r>
            <a:endParaRPr/>
          </a:p>
        </p:txBody>
      </p:sp>
      <p:sp>
        <p:nvSpPr>
          <p:cNvPr id="92" name="Google Shape;92;g3d440c04a73_1_38: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g3d440c04a73_1_72:notes"/>
          <p:cNvSpPr>
            <a:spLocks noGrp="1" noRot="1" noChangeAspect="1"/>
          </p:cNvSpPr>
          <p:nvPr>
            <p:ph type="sldImg" idx="2"/>
          </p:nvPr>
        </p:nvSpPr>
        <p:spPr>
          <a:xfrm>
            <a:off x="914400" y="1143000"/>
            <a:ext cx="73152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8" name="Google Shape;128;g3d440c04a73_1_72: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
              <a:t>"This slide walks through the full experimental pipeline — from how we set up our data, to how we trained, to how we measured performance.</a:t>
            </a:r>
            <a:endParaRPr/>
          </a:p>
          <a:p>
            <a:pPr marL="0" lvl="0" indent="0" algn="l" rtl="0">
              <a:spcBef>
                <a:spcPts val="0"/>
              </a:spcBef>
              <a:spcAft>
                <a:spcPts val="0"/>
              </a:spcAft>
              <a:buNone/>
            </a:pPr>
            <a:endParaRPr/>
          </a:p>
          <a:p>
            <a:pPr marL="0" lvl="0" indent="0" algn="l" rtl="0">
              <a:spcBef>
                <a:spcPts val="0"/>
              </a:spcBef>
              <a:spcAft>
                <a:spcPts val="0"/>
              </a:spcAft>
              <a:buNone/>
            </a:pPr>
            <a:r>
              <a:rPr lang="en"/>
              <a:t>We trained on a 24-hour subset of LJ Speech — a single-speaker, studio-quality English corpus. We split it 80/10/10 for train, validation, and test. All audio is 22.5 kHz mono WAV, normalized, and converted into 80-bin log-mel spectrogram features before being fed into the model.</a:t>
            </a:r>
            <a:endParaRPr/>
          </a:p>
          <a:p>
            <a:pPr marL="0" lvl="0" indent="0" algn="l" rtl="0">
              <a:spcBef>
                <a:spcPts val="0"/>
              </a:spcBef>
              <a:spcAft>
                <a:spcPts val="0"/>
              </a:spcAft>
              <a:buNone/>
            </a:pPr>
            <a:endParaRPr/>
          </a:p>
          <a:p>
            <a:pPr marL="0" lvl="0" indent="0" algn="l" rtl="0">
              <a:spcBef>
                <a:spcPts val="0"/>
              </a:spcBef>
              <a:spcAft>
                <a:spcPts val="0"/>
              </a:spcAft>
              <a:buNone/>
            </a:pPr>
            <a:r>
              <a:rPr lang="en"/>
              <a:t>We used Adam with a OneCycleLR scheduler, which ramps up and then anneals the learning rate across 20 epochs at batch level. We used a Connectionist Temporal Classification loss which let us train without needing frame-level transcription alignment. Our batch size was set to 32 given compute constraints, and, we ran every architecture over three independent random seeds and averaged across them.</a:t>
            </a:r>
            <a:endParaRPr/>
          </a:p>
          <a:p>
            <a:pPr marL="0" lvl="0" indent="0" algn="l" rtl="0">
              <a:spcBef>
                <a:spcPts val="0"/>
              </a:spcBef>
              <a:spcAft>
                <a:spcPts val="0"/>
              </a:spcAft>
              <a:buNone/>
            </a:pPr>
            <a:endParaRPr/>
          </a:p>
          <a:p>
            <a:pPr marL="0" lvl="0" indent="0" algn="l" rtl="0">
              <a:spcBef>
                <a:spcPts val="0"/>
              </a:spcBef>
              <a:spcAft>
                <a:spcPts val="0"/>
              </a:spcAft>
              <a:buNone/>
            </a:pPr>
            <a:r>
              <a:rPr lang="en"/>
              <a:t>For inference, we first used greedy decoding taking the argmax of model output at each timestep which was fast but suboptimal. We then implemented beam search augmented with a 3-gram language model trained on LibriSpeech, comparing the top 50 beams at each step. The LM consistently brought WER down by 4 to 6 percentage points.</a:t>
            </a:r>
            <a:endParaRPr/>
          </a:p>
          <a:p>
            <a:pPr marL="0" lvl="0" indent="0" algn="l" rtl="0">
              <a:spcBef>
                <a:spcPts val="0"/>
              </a:spcBef>
              <a:spcAft>
                <a:spcPts val="0"/>
              </a:spcAft>
              <a:buNone/>
            </a:pPr>
            <a:endParaRPr/>
          </a:p>
          <a:p>
            <a:pPr marL="0" lvl="0" indent="0" algn="l" rtl="0">
              <a:spcBef>
                <a:spcPts val="0"/>
              </a:spcBef>
              <a:spcAft>
                <a:spcPts val="0"/>
              </a:spcAft>
              <a:buNone/>
            </a:pPr>
            <a:r>
              <a:rPr lang="en"/>
              <a:t>Our primary metrics are character error rate  and  word error rate which are common for benchmarking. Looking at the table: our strongest result came from the 18M Conformer at 25.2% WER with the language model. The LSTM was the most stable trainer with the lowest validation loss, hitting 27.8% WER. The Conformer, while architecturally the most expressive, had a marginally higher loss, which we attribute to it requiring more data and tuning to reach its potential. The WER history graph on the left confirms all models converge smoothly within 20 epochs.</a:t>
            </a:r>
            <a:endParaRPr/>
          </a:p>
        </p:txBody>
      </p:sp>
      <p:sp>
        <p:nvSpPr>
          <p:cNvPr id="129" name="Google Shape;129;g3d440c04a73_1_72: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3d440c04a73_1_109:notes"/>
          <p:cNvSpPr>
            <a:spLocks noGrp="1" noRot="1" noChangeAspect="1"/>
          </p:cNvSpPr>
          <p:nvPr>
            <p:ph type="sldImg" idx="2"/>
          </p:nvPr>
        </p:nvSpPr>
        <p:spPr>
          <a:xfrm>
            <a:off x="914400" y="1143000"/>
            <a:ext cx="73152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5" name="Google Shape;165;g3d440c04a73_1_109: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6" name="Google Shape;166;g3d440c04a73_1_109: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
              <a:t>5</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p:nvPr/>
        </p:nvSpPr>
        <p:spPr>
          <a:xfrm>
            <a:off x="2744013" y="756700"/>
            <a:ext cx="1081625" cy="1124950"/>
          </a:xfrm>
          <a:custGeom>
            <a:avLst/>
            <a:gdLst/>
            <a:ahLst/>
            <a:cxnLst/>
            <a:rect l="l" t="t" r="r" b="b"/>
            <a:pathLst>
              <a:path w="43265" h="44998" extrusionOk="0">
                <a:moveTo>
                  <a:pt x="0" y="44998"/>
                </a:moveTo>
                <a:lnTo>
                  <a:pt x="0" y="0"/>
                </a:lnTo>
                <a:lnTo>
                  <a:pt x="43265" y="0"/>
                </a:lnTo>
              </a:path>
            </a:pathLst>
          </a:custGeom>
          <a:noFill/>
          <a:ln w="28575" cap="flat" cmpd="sng">
            <a:solidFill>
              <a:schemeClr val="lt2"/>
            </a:solidFill>
            <a:prstDash val="solid"/>
            <a:miter lim="8000"/>
            <a:headEnd type="none" w="sm" len="sm"/>
            <a:tailEnd type="none" w="sm" len="sm"/>
          </a:ln>
        </p:spPr>
        <p:txBody>
          <a:bodyPr/>
          <a:lstStyle/>
          <a:p>
            <a:endParaRPr lang="en-SG"/>
          </a:p>
        </p:txBody>
      </p:sp>
      <p:sp>
        <p:nvSpPr>
          <p:cNvPr id="11" name="Google Shape;11;p2"/>
          <p:cNvSpPr/>
          <p:nvPr/>
        </p:nvSpPr>
        <p:spPr>
          <a:xfrm rot="10800000">
            <a:off x="5318350" y="3266725"/>
            <a:ext cx="1081625" cy="1124950"/>
          </a:xfrm>
          <a:custGeom>
            <a:avLst/>
            <a:gdLst/>
            <a:ahLst/>
            <a:cxnLst/>
            <a:rect l="l" t="t" r="r" b="b"/>
            <a:pathLst>
              <a:path w="43265" h="44998" extrusionOk="0">
                <a:moveTo>
                  <a:pt x="0" y="44998"/>
                </a:moveTo>
                <a:lnTo>
                  <a:pt x="0" y="0"/>
                </a:lnTo>
                <a:lnTo>
                  <a:pt x="43265" y="0"/>
                </a:lnTo>
              </a:path>
            </a:pathLst>
          </a:custGeom>
          <a:noFill/>
          <a:ln w="28575" cap="flat" cmpd="sng">
            <a:solidFill>
              <a:schemeClr val="lt2"/>
            </a:solidFill>
            <a:prstDash val="solid"/>
            <a:miter lim="8000"/>
            <a:headEnd type="none" w="sm" len="sm"/>
            <a:tailEnd type="none" w="sm" len="sm"/>
          </a:ln>
        </p:spPr>
        <p:txBody>
          <a:bodyPr/>
          <a:lstStyle/>
          <a:p>
            <a:endParaRPr lang="en-SG"/>
          </a:p>
        </p:txBody>
      </p:sp>
      <p:sp>
        <p:nvSpPr>
          <p:cNvPr id="12" name="Google Shape;12;p2"/>
          <p:cNvSpPr txBox="1">
            <a:spLocks noGrp="1"/>
          </p:cNvSpPr>
          <p:nvPr>
            <p:ph type="ctrTitle"/>
          </p:nvPr>
        </p:nvSpPr>
        <p:spPr>
          <a:xfrm>
            <a:off x="3044700" y="1444255"/>
            <a:ext cx="3054600" cy="15372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a:lvl1pPr>
            <a:lvl2pPr lvl="1" algn="ctr">
              <a:spcBef>
                <a:spcPts val="0"/>
              </a:spcBef>
              <a:spcAft>
                <a:spcPts val="0"/>
              </a:spcAft>
              <a:buSzPts val="4200"/>
              <a:buNone/>
              <a:defRPr/>
            </a:lvl2pPr>
            <a:lvl3pPr lvl="2" algn="ctr">
              <a:spcBef>
                <a:spcPts val="0"/>
              </a:spcBef>
              <a:spcAft>
                <a:spcPts val="0"/>
              </a:spcAft>
              <a:buSzPts val="4200"/>
              <a:buNone/>
              <a:defRPr/>
            </a:lvl3pPr>
            <a:lvl4pPr lvl="3" algn="ctr">
              <a:spcBef>
                <a:spcPts val="0"/>
              </a:spcBef>
              <a:spcAft>
                <a:spcPts val="0"/>
              </a:spcAft>
              <a:buSzPts val="4200"/>
              <a:buNone/>
              <a:defRPr/>
            </a:lvl4pPr>
            <a:lvl5pPr lvl="4" algn="ctr">
              <a:spcBef>
                <a:spcPts val="0"/>
              </a:spcBef>
              <a:spcAft>
                <a:spcPts val="0"/>
              </a:spcAft>
              <a:buSzPts val="4200"/>
              <a:buNone/>
              <a:defRPr/>
            </a:lvl5pPr>
            <a:lvl6pPr lvl="5" algn="ctr">
              <a:spcBef>
                <a:spcPts val="0"/>
              </a:spcBef>
              <a:spcAft>
                <a:spcPts val="0"/>
              </a:spcAft>
              <a:buSzPts val="4200"/>
              <a:buNone/>
              <a:defRPr/>
            </a:lvl6pPr>
            <a:lvl7pPr lvl="6" algn="ctr">
              <a:spcBef>
                <a:spcPts val="0"/>
              </a:spcBef>
              <a:spcAft>
                <a:spcPts val="0"/>
              </a:spcAft>
              <a:buSzPts val="4200"/>
              <a:buNone/>
              <a:defRPr/>
            </a:lvl7pPr>
            <a:lvl8pPr lvl="7" algn="ctr">
              <a:spcBef>
                <a:spcPts val="0"/>
              </a:spcBef>
              <a:spcAft>
                <a:spcPts val="0"/>
              </a:spcAft>
              <a:buSzPts val="4200"/>
              <a:buNone/>
              <a:defRPr/>
            </a:lvl8pPr>
            <a:lvl9pPr lvl="8" algn="ctr">
              <a:spcBef>
                <a:spcPts val="0"/>
              </a:spcBef>
              <a:spcAft>
                <a:spcPts val="0"/>
              </a:spcAft>
              <a:buSzPts val="4200"/>
              <a:buNone/>
              <a:defRPr/>
            </a:lvl9pPr>
          </a:lstStyle>
          <a:p>
            <a:endParaRPr/>
          </a:p>
        </p:txBody>
      </p:sp>
      <p:sp>
        <p:nvSpPr>
          <p:cNvPr id="13" name="Google Shape;13;p2"/>
          <p:cNvSpPr txBox="1">
            <a:spLocks noGrp="1"/>
          </p:cNvSpPr>
          <p:nvPr>
            <p:ph type="subTitle" idx="1"/>
          </p:nvPr>
        </p:nvSpPr>
        <p:spPr>
          <a:xfrm>
            <a:off x="3044700" y="3116580"/>
            <a:ext cx="3054600" cy="7014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Font typeface="Economica"/>
              <a:buNone/>
              <a:defRPr sz="2100">
                <a:latin typeface="Economica"/>
                <a:ea typeface="Economica"/>
                <a:cs typeface="Economica"/>
                <a:sym typeface="Economica"/>
              </a:defRPr>
            </a:lvl1pPr>
            <a:lvl2pPr lvl="1" algn="ctr">
              <a:lnSpc>
                <a:spcPct val="100000"/>
              </a:lnSpc>
              <a:spcBef>
                <a:spcPts val="0"/>
              </a:spcBef>
              <a:spcAft>
                <a:spcPts val="0"/>
              </a:spcAft>
              <a:buSzPts val="2100"/>
              <a:buFont typeface="Economica"/>
              <a:buNone/>
              <a:defRPr sz="2100">
                <a:latin typeface="Economica"/>
                <a:ea typeface="Economica"/>
                <a:cs typeface="Economica"/>
                <a:sym typeface="Economica"/>
              </a:defRPr>
            </a:lvl2pPr>
            <a:lvl3pPr lvl="2" algn="ctr">
              <a:lnSpc>
                <a:spcPct val="100000"/>
              </a:lnSpc>
              <a:spcBef>
                <a:spcPts val="0"/>
              </a:spcBef>
              <a:spcAft>
                <a:spcPts val="0"/>
              </a:spcAft>
              <a:buSzPts val="2100"/>
              <a:buFont typeface="Economica"/>
              <a:buNone/>
              <a:defRPr sz="2100">
                <a:latin typeface="Economica"/>
                <a:ea typeface="Economica"/>
                <a:cs typeface="Economica"/>
                <a:sym typeface="Economica"/>
              </a:defRPr>
            </a:lvl3pPr>
            <a:lvl4pPr lvl="3" algn="ctr">
              <a:lnSpc>
                <a:spcPct val="100000"/>
              </a:lnSpc>
              <a:spcBef>
                <a:spcPts val="0"/>
              </a:spcBef>
              <a:spcAft>
                <a:spcPts val="0"/>
              </a:spcAft>
              <a:buSzPts val="2100"/>
              <a:buFont typeface="Economica"/>
              <a:buNone/>
              <a:defRPr sz="2100">
                <a:latin typeface="Economica"/>
                <a:ea typeface="Economica"/>
                <a:cs typeface="Economica"/>
                <a:sym typeface="Economica"/>
              </a:defRPr>
            </a:lvl4pPr>
            <a:lvl5pPr lvl="4" algn="ctr">
              <a:lnSpc>
                <a:spcPct val="100000"/>
              </a:lnSpc>
              <a:spcBef>
                <a:spcPts val="0"/>
              </a:spcBef>
              <a:spcAft>
                <a:spcPts val="0"/>
              </a:spcAft>
              <a:buSzPts val="2100"/>
              <a:buFont typeface="Economica"/>
              <a:buNone/>
              <a:defRPr sz="2100">
                <a:latin typeface="Economica"/>
                <a:ea typeface="Economica"/>
                <a:cs typeface="Economica"/>
                <a:sym typeface="Economica"/>
              </a:defRPr>
            </a:lvl5pPr>
            <a:lvl6pPr lvl="5" algn="ctr">
              <a:lnSpc>
                <a:spcPct val="100000"/>
              </a:lnSpc>
              <a:spcBef>
                <a:spcPts val="0"/>
              </a:spcBef>
              <a:spcAft>
                <a:spcPts val="0"/>
              </a:spcAft>
              <a:buSzPts val="2100"/>
              <a:buFont typeface="Economica"/>
              <a:buNone/>
              <a:defRPr sz="2100">
                <a:latin typeface="Economica"/>
                <a:ea typeface="Economica"/>
                <a:cs typeface="Economica"/>
                <a:sym typeface="Economica"/>
              </a:defRPr>
            </a:lvl6pPr>
            <a:lvl7pPr lvl="6" algn="ctr">
              <a:lnSpc>
                <a:spcPct val="100000"/>
              </a:lnSpc>
              <a:spcBef>
                <a:spcPts val="0"/>
              </a:spcBef>
              <a:spcAft>
                <a:spcPts val="0"/>
              </a:spcAft>
              <a:buSzPts val="2100"/>
              <a:buFont typeface="Economica"/>
              <a:buNone/>
              <a:defRPr sz="2100">
                <a:latin typeface="Economica"/>
                <a:ea typeface="Economica"/>
                <a:cs typeface="Economica"/>
                <a:sym typeface="Economica"/>
              </a:defRPr>
            </a:lvl7pPr>
            <a:lvl8pPr lvl="7" algn="ctr">
              <a:lnSpc>
                <a:spcPct val="100000"/>
              </a:lnSpc>
              <a:spcBef>
                <a:spcPts val="0"/>
              </a:spcBef>
              <a:spcAft>
                <a:spcPts val="0"/>
              </a:spcAft>
              <a:buSzPts val="2100"/>
              <a:buFont typeface="Economica"/>
              <a:buNone/>
              <a:defRPr sz="2100">
                <a:latin typeface="Economica"/>
                <a:ea typeface="Economica"/>
                <a:cs typeface="Economica"/>
                <a:sym typeface="Economica"/>
              </a:defRPr>
            </a:lvl8pPr>
            <a:lvl9pPr lvl="8" algn="ctr">
              <a:lnSpc>
                <a:spcPct val="100000"/>
              </a:lnSpc>
              <a:spcBef>
                <a:spcPts val="0"/>
              </a:spcBef>
              <a:spcAft>
                <a:spcPts val="0"/>
              </a:spcAft>
              <a:buSzPts val="2100"/>
              <a:buFont typeface="Economica"/>
              <a:buNone/>
              <a:defRPr sz="2100">
                <a:latin typeface="Economica"/>
                <a:ea typeface="Economica"/>
                <a:cs typeface="Economica"/>
                <a:sym typeface="Economica"/>
              </a:defRPr>
            </a:lvl9pPr>
          </a:lstStyle>
          <a:p>
            <a:endParaRPr/>
          </a:p>
        </p:txBody>
      </p:sp>
      <p:sp>
        <p:nvSpPr>
          <p:cNvPr id="14" name="Google Shape;14;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5"/>
        <p:cNvGrpSpPr/>
        <p:nvPr/>
      </p:nvGrpSpPr>
      <p:grpSpPr>
        <a:xfrm>
          <a:off x="0" y="0"/>
          <a:ext cx="0" cy="0"/>
          <a:chOff x="0" y="0"/>
          <a:chExt cx="0" cy="0"/>
        </a:xfrm>
      </p:grpSpPr>
      <p:sp>
        <p:nvSpPr>
          <p:cNvPr id="16" name="Google Shape;16;p3"/>
          <p:cNvSpPr/>
          <p:nvPr/>
        </p:nvSpPr>
        <p:spPr>
          <a:xfrm flipH="1">
            <a:off x="7595938" y="460225"/>
            <a:ext cx="1081625" cy="1124950"/>
          </a:xfrm>
          <a:custGeom>
            <a:avLst/>
            <a:gdLst/>
            <a:ahLst/>
            <a:cxnLst/>
            <a:rect l="l" t="t" r="r" b="b"/>
            <a:pathLst>
              <a:path w="43265" h="44998" extrusionOk="0">
                <a:moveTo>
                  <a:pt x="0" y="44998"/>
                </a:moveTo>
                <a:lnTo>
                  <a:pt x="0" y="0"/>
                </a:lnTo>
                <a:lnTo>
                  <a:pt x="43265" y="0"/>
                </a:lnTo>
              </a:path>
            </a:pathLst>
          </a:custGeom>
          <a:noFill/>
          <a:ln w="28575" cap="flat" cmpd="sng">
            <a:solidFill>
              <a:schemeClr val="lt2"/>
            </a:solidFill>
            <a:prstDash val="solid"/>
            <a:miter lim="8000"/>
            <a:headEnd type="none" w="sm" len="sm"/>
            <a:tailEnd type="none" w="sm" len="sm"/>
          </a:ln>
        </p:spPr>
      </p:sp>
      <p:sp>
        <p:nvSpPr>
          <p:cNvPr id="17" name="Google Shape;17;p3"/>
          <p:cNvSpPr/>
          <p:nvPr/>
        </p:nvSpPr>
        <p:spPr>
          <a:xfrm rot="10800000" flipH="1">
            <a:off x="466425" y="3558325"/>
            <a:ext cx="1081625" cy="1124950"/>
          </a:xfrm>
          <a:custGeom>
            <a:avLst/>
            <a:gdLst/>
            <a:ahLst/>
            <a:cxnLst/>
            <a:rect l="l" t="t" r="r" b="b"/>
            <a:pathLst>
              <a:path w="43265" h="44998" extrusionOk="0">
                <a:moveTo>
                  <a:pt x="0" y="44998"/>
                </a:moveTo>
                <a:lnTo>
                  <a:pt x="0" y="0"/>
                </a:lnTo>
                <a:lnTo>
                  <a:pt x="43265" y="0"/>
                </a:lnTo>
              </a:path>
            </a:pathLst>
          </a:custGeom>
          <a:noFill/>
          <a:ln w="28575" cap="flat" cmpd="sng">
            <a:solidFill>
              <a:schemeClr val="lt2"/>
            </a:solidFill>
            <a:prstDash val="solid"/>
            <a:miter lim="8000"/>
            <a:headEnd type="none" w="sm" len="sm"/>
            <a:tailEnd type="none" w="sm" len="sm"/>
          </a:ln>
        </p:spPr>
      </p:sp>
      <p:sp>
        <p:nvSpPr>
          <p:cNvPr id="18" name="Google Shape;18;p3"/>
          <p:cNvSpPr txBox="1">
            <a:spLocks noGrp="1"/>
          </p:cNvSpPr>
          <p:nvPr>
            <p:ph type="title"/>
          </p:nvPr>
        </p:nvSpPr>
        <p:spPr>
          <a:xfrm>
            <a:off x="773700" y="1806450"/>
            <a:ext cx="7596600" cy="15306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4200"/>
              <a:buNone/>
              <a:defRPr/>
            </a:lvl1pPr>
            <a:lvl2pPr lvl="1" algn="ctr">
              <a:spcBef>
                <a:spcPts val="0"/>
              </a:spcBef>
              <a:spcAft>
                <a:spcPts val="0"/>
              </a:spcAft>
              <a:buSzPts val="4200"/>
              <a:buNone/>
              <a:defRPr/>
            </a:lvl2pPr>
            <a:lvl3pPr lvl="2" algn="ctr">
              <a:spcBef>
                <a:spcPts val="0"/>
              </a:spcBef>
              <a:spcAft>
                <a:spcPts val="0"/>
              </a:spcAft>
              <a:buSzPts val="4200"/>
              <a:buNone/>
              <a:defRPr/>
            </a:lvl3pPr>
            <a:lvl4pPr lvl="3" algn="ctr">
              <a:spcBef>
                <a:spcPts val="0"/>
              </a:spcBef>
              <a:spcAft>
                <a:spcPts val="0"/>
              </a:spcAft>
              <a:buSzPts val="4200"/>
              <a:buNone/>
              <a:defRPr/>
            </a:lvl4pPr>
            <a:lvl5pPr lvl="4" algn="ctr">
              <a:spcBef>
                <a:spcPts val="0"/>
              </a:spcBef>
              <a:spcAft>
                <a:spcPts val="0"/>
              </a:spcAft>
              <a:buSzPts val="4200"/>
              <a:buNone/>
              <a:defRPr/>
            </a:lvl5pPr>
            <a:lvl6pPr lvl="5" algn="ctr">
              <a:spcBef>
                <a:spcPts val="0"/>
              </a:spcBef>
              <a:spcAft>
                <a:spcPts val="0"/>
              </a:spcAft>
              <a:buSzPts val="4200"/>
              <a:buNone/>
              <a:defRPr/>
            </a:lvl6pPr>
            <a:lvl7pPr lvl="6" algn="ctr">
              <a:spcBef>
                <a:spcPts val="0"/>
              </a:spcBef>
              <a:spcAft>
                <a:spcPts val="0"/>
              </a:spcAft>
              <a:buSzPts val="4200"/>
              <a:buNone/>
              <a:defRPr/>
            </a:lvl7pPr>
            <a:lvl8pPr lvl="7" algn="ctr">
              <a:spcBef>
                <a:spcPts val="0"/>
              </a:spcBef>
              <a:spcAft>
                <a:spcPts val="0"/>
              </a:spcAft>
              <a:buSzPts val="4200"/>
              <a:buNone/>
              <a:defRPr/>
            </a:lvl8pPr>
            <a:lvl9pPr lvl="8" algn="ctr">
              <a:spcBef>
                <a:spcPts val="0"/>
              </a:spcBef>
              <a:spcAft>
                <a:spcPts val="0"/>
              </a:spcAft>
              <a:buSzPts val="4200"/>
              <a:buNone/>
              <a:defRPr/>
            </a:lvl9pPr>
          </a:lstStyle>
          <a:p>
            <a:endParaRPr/>
          </a:p>
        </p:txBody>
      </p:sp>
      <p:sp>
        <p:nvSpPr>
          <p:cNvPr id="19" name="Google Shape;19;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0"/>
        <p:cNvGrpSpPr/>
        <p:nvPr/>
      </p:nvGrpSpPr>
      <p:grpSpPr>
        <a:xfrm>
          <a:off x="0" y="0"/>
          <a:ext cx="0" cy="0"/>
          <a:chOff x="0" y="0"/>
          <a:chExt cx="0" cy="0"/>
        </a:xfrm>
      </p:grpSpPr>
      <p:sp>
        <p:nvSpPr>
          <p:cNvPr id="21" name="Google Shape;21;p4"/>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4"/>
          <p:cNvSpPr txBox="1">
            <a:spLocks noGrp="1"/>
          </p:cNvSpPr>
          <p:nvPr>
            <p:ph type="title"/>
          </p:nvPr>
        </p:nvSpPr>
        <p:spPr>
          <a:xfrm>
            <a:off x="311700" y="315925"/>
            <a:ext cx="8520600" cy="831300"/>
          </a:xfrm>
          <a:prstGeom prst="rect">
            <a:avLst/>
          </a:prstGeom>
        </p:spPr>
        <p:txBody>
          <a:bodyPr spcFirstLastPara="1" wrap="square" lIns="91425" tIns="91425" rIns="91425" bIns="91425" anchor="b" anchorCtr="0">
            <a:norm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a:endParaRPr/>
          </a:p>
        </p:txBody>
      </p:sp>
      <p:sp>
        <p:nvSpPr>
          <p:cNvPr id="23" name="Google Shape;23;p4"/>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4" name="Google Shape;24;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5"/>
        <p:cNvGrpSpPr/>
        <p:nvPr/>
      </p:nvGrpSpPr>
      <p:grpSpPr>
        <a:xfrm>
          <a:off x="0" y="0"/>
          <a:ext cx="0" cy="0"/>
          <a:chOff x="0" y="0"/>
          <a:chExt cx="0" cy="0"/>
        </a:xfrm>
      </p:grpSpPr>
      <p:sp>
        <p:nvSpPr>
          <p:cNvPr id="26" name="Google Shape;26;p5"/>
          <p:cNvSpPr txBox="1">
            <a:spLocks noGrp="1"/>
          </p:cNvSpPr>
          <p:nvPr>
            <p:ph type="title"/>
          </p:nvPr>
        </p:nvSpPr>
        <p:spPr>
          <a:xfrm>
            <a:off x="311700" y="315925"/>
            <a:ext cx="8520600" cy="831300"/>
          </a:xfrm>
          <a:prstGeom prst="rect">
            <a:avLst/>
          </a:prstGeom>
        </p:spPr>
        <p:txBody>
          <a:bodyPr spcFirstLastPara="1" wrap="square" lIns="91425" tIns="91425" rIns="91425" bIns="91425" anchor="b" anchorCtr="0">
            <a:norm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a:endParaRPr/>
          </a:p>
        </p:txBody>
      </p:sp>
      <p:sp>
        <p:nvSpPr>
          <p:cNvPr id="27" name="Google Shape;27;p5"/>
          <p:cNvSpPr txBox="1">
            <a:spLocks noGrp="1"/>
          </p:cNvSpPr>
          <p:nvPr>
            <p:ph type="body" idx="1"/>
          </p:nvPr>
        </p:nvSpPr>
        <p:spPr>
          <a:xfrm>
            <a:off x="311700" y="1225225"/>
            <a:ext cx="3999900" cy="33540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8" name="Google Shape;28;p5"/>
          <p:cNvSpPr txBox="1">
            <a:spLocks noGrp="1"/>
          </p:cNvSpPr>
          <p:nvPr>
            <p:ph type="body" idx="2"/>
          </p:nvPr>
        </p:nvSpPr>
        <p:spPr>
          <a:xfrm>
            <a:off x="4832400" y="1225225"/>
            <a:ext cx="3999900" cy="33540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9" name="Google Shape;29;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0"/>
        <p:cNvGrpSpPr/>
        <p:nvPr/>
      </p:nvGrpSpPr>
      <p:grpSpPr>
        <a:xfrm>
          <a:off x="0" y="0"/>
          <a:ext cx="0" cy="0"/>
          <a:chOff x="0" y="0"/>
          <a:chExt cx="0" cy="0"/>
        </a:xfrm>
      </p:grpSpPr>
      <p:sp>
        <p:nvSpPr>
          <p:cNvPr id="31" name="Google Shape;31;p6"/>
          <p:cNvSpPr txBox="1">
            <a:spLocks noGrp="1"/>
          </p:cNvSpPr>
          <p:nvPr>
            <p:ph type="title"/>
          </p:nvPr>
        </p:nvSpPr>
        <p:spPr>
          <a:xfrm>
            <a:off x="311700" y="315925"/>
            <a:ext cx="8520600" cy="831300"/>
          </a:xfrm>
          <a:prstGeom prst="rect">
            <a:avLst/>
          </a:prstGeom>
        </p:spPr>
        <p:txBody>
          <a:bodyPr spcFirstLastPara="1" wrap="square" lIns="91425" tIns="91425" rIns="91425" bIns="91425" anchor="b" anchorCtr="0">
            <a:norm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a:endParaRPr/>
          </a:p>
        </p:txBody>
      </p:sp>
      <p:sp>
        <p:nvSpPr>
          <p:cNvPr id="32" name="Google Shape;32;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3"/>
        <p:cNvGrpSpPr/>
        <p:nvPr/>
      </p:nvGrpSpPr>
      <p:grpSpPr>
        <a:xfrm>
          <a:off x="0" y="0"/>
          <a:ext cx="0" cy="0"/>
          <a:chOff x="0" y="0"/>
          <a:chExt cx="0" cy="0"/>
        </a:xfrm>
      </p:grpSpPr>
      <p:sp>
        <p:nvSpPr>
          <p:cNvPr id="34" name="Google Shape;34;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endParaRPr/>
          </a:p>
        </p:txBody>
      </p:sp>
      <p:sp>
        <p:nvSpPr>
          <p:cNvPr id="35" name="Google Shape;35;p7"/>
          <p:cNvSpPr txBox="1">
            <a:spLocks noGrp="1"/>
          </p:cNvSpPr>
          <p:nvPr>
            <p:ph type="body" idx="1"/>
          </p:nvPr>
        </p:nvSpPr>
        <p:spPr>
          <a:xfrm>
            <a:off x="311700" y="1399400"/>
            <a:ext cx="2808000" cy="27849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6" name="Google Shape;36;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7"/>
        <p:cNvGrpSpPr/>
        <p:nvPr/>
      </p:nvGrpSpPr>
      <p:grpSpPr>
        <a:xfrm>
          <a:off x="0" y="0"/>
          <a:ext cx="0" cy="0"/>
          <a:chOff x="0" y="0"/>
          <a:chExt cx="0" cy="0"/>
        </a:xfrm>
      </p:grpSpPr>
      <p:sp>
        <p:nvSpPr>
          <p:cNvPr id="38" name="Google Shape;38;p8"/>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8"/>
          <p:cNvSpPr txBox="1">
            <a:spLocks noGrp="1"/>
          </p:cNvSpPr>
          <p:nvPr>
            <p:ph type="title"/>
          </p:nvPr>
        </p:nvSpPr>
        <p:spPr>
          <a:xfrm>
            <a:off x="490250" y="450150"/>
            <a:ext cx="5878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0" name="Google Shape;40;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1"/>
        <p:cNvGrpSpPr/>
        <p:nvPr/>
      </p:nvGrpSpPr>
      <p:grpSpPr>
        <a:xfrm>
          <a:off x="0" y="0"/>
          <a:ext cx="0" cy="0"/>
          <a:chOff x="0" y="0"/>
          <a:chExt cx="0" cy="0"/>
        </a:xfrm>
      </p:grpSpPr>
      <p:sp>
        <p:nvSpPr>
          <p:cNvPr id="42" name="Google Shape;42;p9"/>
          <p:cNvSpPr/>
          <p:nvPr/>
        </p:nvSpPr>
        <p:spPr>
          <a:xfrm>
            <a:off x="4572000" y="-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3" name="Google Shape;43;p9"/>
          <p:cNvCxnSpPr/>
          <p:nvPr/>
        </p:nvCxnSpPr>
        <p:spPr>
          <a:xfrm>
            <a:off x="5029675" y="4495500"/>
            <a:ext cx="468300" cy="0"/>
          </a:xfrm>
          <a:prstGeom prst="straightConnector1">
            <a:avLst/>
          </a:prstGeom>
          <a:noFill/>
          <a:ln w="19050" cap="flat" cmpd="sng">
            <a:solidFill>
              <a:schemeClr val="lt1"/>
            </a:solidFill>
            <a:prstDash val="solid"/>
            <a:round/>
            <a:headEnd type="none" w="sm" len="sm"/>
            <a:tailEnd type="none" w="sm" len="sm"/>
          </a:ln>
        </p:spPr>
      </p:cxnSp>
      <p:sp>
        <p:nvSpPr>
          <p:cNvPr id="44" name="Google Shape;44;p9"/>
          <p:cNvSpPr txBox="1">
            <a:spLocks noGrp="1"/>
          </p:cNvSpPr>
          <p:nvPr>
            <p:ph type="title"/>
          </p:nvPr>
        </p:nvSpPr>
        <p:spPr>
          <a:xfrm>
            <a:off x="265500" y="929275"/>
            <a:ext cx="4045200" cy="17862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lt2"/>
              </a:buClr>
              <a:buSzPts val="4200"/>
              <a:buNone/>
              <a:defRPr>
                <a:solidFill>
                  <a:schemeClr val="lt2"/>
                </a:solidFill>
              </a:defRPr>
            </a:lvl1pPr>
            <a:lvl2pPr lvl="1" algn="ctr">
              <a:spcBef>
                <a:spcPts val="0"/>
              </a:spcBef>
              <a:spcAft>
                <a:spcPts val="0"/>
              </a:spcAft>
              <a:buClr>
                <a:schemeClr val="lt2"/>
              </a:buClr>
              <a:buSzPts val="4200"/>
              <a:buNone/>
              <a:defRPr>
                <a:solidFill>
                  <a:schemeClr val="lt2"/>
                </a:solidFill>
              </a:defRPr>
            </a:lvl2pPr>
            <a:lvl3pPr lvl="2" algn="ctr">
              <a:spcBef>
                <a:spcPts val="0"/>
              </a:spcBef>
              <a:spcAft>
                <a:spcPts val="0"/>
              </a:spcAft>
              <a:buClr>
                <a:schemeClr val="lt2"/>
              </a:buClr>
              <a:buSzPts val="4200"/>
              <a:buNone/>
              <a:defRPr>
                <a:solidFill>
                  <a:schemeClr val="lt2"/>
                </a:solidFill>
              </a:defRPr>
            </a:lvl3pPr>
            <a:lvl4pPr lvl="3" algn="ctr">
              <a:spcBef>
                <a:spcPts val="0"/>
              </a:spcBef>
              <a:spcAft>
                <a:spcPts val="0"/>
              </a:spcAft>
              <a:buClr>
                <a:schemeClr val="lt2"/>
              </a:buClr>
              <a:buSzPts val="4200"/>
              <a:buNone/>
              <a:defRPr>
                <a:solidFill>
                  <a:schemeClr val="lt2"/>
                </a:solidFill>
              </a:defRPr>
            </a:lvl4pPr>
            <a:lvl5pPr lvl="4" algn="ctr">
              <a:spcBef>
                <a:spcPts val="0"/>
              </a:spcBef>
              <a:spcAft>
                <a:spcPts val="0"/>
              </a:spcAft>
              <a:buClr>
                <a:schemeClr val="lt2"/>
              </a:buClr>
              <a:buSzPts val="4200"/>
              <a:buNone/>
              <a:defRPr>
                <a:solidFill>
                  <a:schemeClr val="lt2"/>
                </a:solidFill>
              </a:defRPr>
            </a:lvl5pPr>
            <a:lvl6pPr lvl="5" algn="ctr">
              <a:spcBef>
                <a:spcPts val="0"/>
              </a:spcBef>
              <a:spcAft>
                <a:spcPts val="0"/>
              </a:spcAft>
              <a:buClr>
                <a:schemeClr val="lt2"/>
              </a:buClr>
              <a:buSzPts val="4200"/>
              <a:buNone/>
              <a:defRPr>
                <a:solidFill>
                  <a:schemeClr val="lt2"/>
                </a:solidFill>
              </a:defRPr>
            </a:lvl6pPr>
            <a:lvl7pPr lvl="6" algn="ctr">
              <a:spcBef>
                <a:spcPts val="0"/>
              </a:spcBef>
              <a:spcAft>
                <a:spcPts val="0"/>
              </a:spcAft>
              <a:buClr>
                <a:schemeClr val="lt2"/>
              </a:buClr>
              <a:buSzPts val="4200"/>
              <a:buNone/>
              <a:defRPr>
                <a:solidFill>
                  <a:schemeClr val="lt2"/>
                </a:solidFill>
              </a:defRPr>
            </a:lvl7pPr>
            <a:lvl8pPr lvl="7" algn="ctr">
              <a:spcBef>
                <a:spcPts val="0"/>
              </a:spcBef>
              <a:spcAft>
                <a:spcPts val="0"/>
              </a:spcAft>
              <a:buClr>
                <a:schemeClr val="lt2"/>
              </a:buClr>
              <a:buSzPts val="4200"/>
              <a:buNone/>
              <a:defRPr>
                <a:solidFill>
                  <a:schemeClr val="lt2"/>
                </a:solidFill>
              </a:defRPr>
            </a:lvl8pPr>
            <a:lvl9pPr lvl="8" algn="ctr">
              <a:spcBef>
                <a:spcPts val="0"/>
              </a:spcBef>
              <a:spcAft>
                <a:spcPts val="0"/>
              </a:spcAft>
              <a:buClr>
                <a:schemeClr val="lt2"/>
              </a:buClr>
              <a:buSzPts val="4200"/>
              <a:buNone/>
              <a:defRPr>
                <a:solidFill>
                  <a:schemeClr val="lt2"/>
                </a:solidFill>
              </a:defRPr>
            </a:lvl9pPr>
          </a:lstStyle>
          <a:p>
            <a:endParaRPr/>
          </a:p>
        </p:txBody>
      </p:sp>
      <p:sp>
        <p:nvSpPr>
          <p:cNvPr id="45" name="Google Shape;45;p9"/>
          <p:cNvSpPr txBox="1">
            <a:spLocks noGrp="1"/>
          </p:cNvSpPr>
          <p:nvPr>
            <p:ph type="subTitle" idx="1"/>
          </p:nvPr>
        </p:nvSpPr>
        <p:spPr>
          <a:xfrm>
            <a:off x="265500" y="2769001"/>
            <a:ext cx="4045200" cy="1574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400"/>
              <a:buFont typeface="Economica"/>
              <a:buNone/>
              <a:defRPr sz="2400">
                <a:latin typeface="Economica"/>
                <a:ea typeface="Economica"/>
                <a:cs typeface="Economica"/>
                <a:sym typeface="Economica"/>
              </a:defRPr>
            </a:lvl1pPr>
            <a:lvl2pPr lvl="1" algn="ctr">
              <a:lnSpc>
                <a:spcPct val="100000"/>
              </a:lnSpc>
              <a:spcBef>
                <a:spcPts val="0"/>
              </a:spcBef>
              <a:spcAft>
                <a:spcPts val="0"/>
              </a:spcAft>
              <a:buSzPts val="2400"/>
              <a:buFont typeface="Economica"/>
              <a:buNone/>
              <a:defRPr sz="2400">
                <a:latin typeface="Economica"/>
                <a:ea typeface="Economica"/>
                <a:cs typeface="Economica"/>
                <a:sym typeface="Economica"/>
              </a:defRPr>
            </a:lvl2pPr>
            <a:lvl3pPr lvl="2" algn="ctr">
              <a:lnSpc>
                <a:spcPct val="100000"/>
              </a:lnSpc>
              <a:spcBef>
                <a:spcPts val="0"/>
              </a:spcBef>
              <a:spcAft>
                <a:spcPts val="0"/>
              </a:spcAft>
              <a:buSzPts val="2400"/>
              <a:buFont typeface="Economica"/>
              <a:buNone/>
              <a:defRPr sz="2400">
                <a:latin typeface="Economica"/>
                <a:ea typeface="Economica"/>
                <a:cs typeface="Economica"/>
                <a:sym typeface="Economica"/>
              </a:defRPr>
            </a:lvl3pPr>
            <a:lvl4pPr lvl="3" algn="ctr">
              <a:lnSpc>
                <a:spcPct val="100000"/>
              </a:lnSpc>
              <a:spcBef>
                <a:spcPts val="0"/>
              </a:spcBef>
              <a:spcAft>
                <a:spcPts val="0"/>
              </a:spcAft>
              <a:buSzPts val="2400"/>
              <a:buFont typeface="Economica"/>
              <a:buNone/>
              <a:defRPr sz="2400">
                <a:latin typeface="Economica"/>
                <a:ea typeface="Economica"/>
                <a:cs typeface="Economica"/>
                <a:sym typeface="Economica"/>
              </a:defRPr>
            </a:lvl4pPr>
            <a:lvl5pPr lvl="4" algn="ctr">
              <a:lnSpc>
                <a:spcPct val="100000"/>
              </a:lnSpc>
              <a:spcBef>
                <a:spcPts val="0"/>
              </a:spcBef>
              <a:spcAft>
                <a:spcPts val="0"/>
              </a:spcAft>
              <a:buSzPts val="2400"/>
              <a:buFont typeface="Economica"/>
              <a:buNone/>
              <a:defRPr sz="2400">
                <a:latin typeface="Economica"/>
                <a:ea typeface="Economica"/>
                <a:cs typeface="Economica"/>
                <a:sym typeface="Economica"/>
              </a:defRPr>
            </a:lvl5pPr>
            <a:lvl6pPr lvl="5" algn="ctr">
              <a:lnSpc>
                <a:spcPct val="100000"/>
              </a:lnSpc>
              <a:spcBef>
                <a:spcPts val="0"/>
              </a:spcBef>
              <a:spcAft>
                <a:spcPts val="0"/>
              </a:spcAft>
              <a:buSzPts val="2400"/>
              <a:buFont typeface="Economica"/>
              <a:buNone/>
              <a:defRPr sz="2400">
                <a:latin typeface="Economica"/>
                <a:ea typeface="Economica"/>
                <a:cs typeface="Economica"/>
                <a:sym typeface="Economica"/>
              </a:defRPr>
            </a:lvl6pPr>
            <a:lvl7pPr lvl="6" algn="ctr">
              <a:lnSpc>
                <a:spcPct val="100000"/>
              </a:lnSpc>
              <a:spcBef>
                <a:spcPts val="0"/>
              </a:spcBef>
              <a:spcAft>
                <a:spcPts val="0"/>
              </a:spcAft>
              <a:buSzPts val="2400"/>
              <a:buFont typeface="Economica"/>
              <a:buNone/>
              <a:defRPr sz="2400">
                <a:latin typeface="Economica"/>
                <a:ea typeface="Economica"/>
                <a:cs typeface="Economica"/>
                <a:sym typeface="Economica"/>
              </a:defRPr>
            </a:lvl7pPr>
            <a:lvl8pPr lvl="7" algn="ctr">
              <a:lnSpc>
                <a:spcPct val="100000"/>
              </a:lnSpc>
              <a:spcBef>
                <a:spcPts val="0"/>
              </a:spcBef>
              <a:spcAft>
                <a:spcPts val="0"/>
              </a:spcAft>
              <a:buSzPts val="2400"/>
              <a:buFont typeface="Economica"/>
              <a:buNone/>
              <a:defRPr sz="2400">
                <a:latin typeface="Economica"/>
                <a:ea typeface="Economica"/>
                <a:cs typeface="Economica"/>
                <a:sym typeface="Economica"/>
              </a:defRPr>
            </a:lvl8pPr>
            <a:lvl9pPr lvl="8" algn="ctr">
              <a:lnSpc>
                <a:spcPct val="100000"/>
              </a:lnSpc>
              <a:spcBef>
                <a:spcPts val="0"/>
              </a:spcBef>
              <a:spcAft>
                <a:spcPts val="0"/>
              </a:spcAft>
              <a:buSzPts val="2400"/>
              <a:buFont typeface="Economica"/>
              <a:buNone/>
              <a:defRPr sz="2400">
                <a:latin typeface="Economica"/>
                <a:ea typeface="Economica"/>
                <a:cs typeface="Economica"/>
                <a:sym typeface="Economica"/>
              </a:defRPr>
            </a:lvl9pPr>
          </a:lstStyle>
          <a:p>
            <a:endParaRPr/>
          </a:p>
        </p:txBody>
      </p:sp>
      <p:sp>
        <p:nvSpPr>
          <p:cNvPr id="46" name="Google Shape;46;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Clr>
                <a:schemeClr val="lt1"/>
              </a:buClr>
              <a:buSzPts val="1800"/>
              <a:buChar char="●"/>
              <a:defRPr>
                <a:solidFill>
                  <a:schemeClr val="lt1"/>
                </a:solidFill>
              </a:defRPr>
            </a:lvl1pPr>
            <a:lvl2pPr marL="914400" lvl="1" indent="-317500">
              <a:spcBef>
                <a:spcPts val="0"/>
              </a:spcBef>
              <a:spcAft>
                <a:spcPts val="0"/>
              </a:spcAft>
              <a:buClr>
                <a:schemeClr val="lt1"/>
              </a:buClr>
              <a:buSzPts val="1400"/>
              <a:buChar char="○"/>
              <a:defRPr>
                <a:solidFill>
                  <a:schemeClr val="lt1"/>
                </a:solidFill>
              </a:defRPr>
            </a:lvl2pPr>
            <a:lvl3pPr marL="1371600" lvl="2" indent="-317500">
              <a:spcBef>
                <a:spcPts val="0"/>
              </a:spcBef>
              <a:spcAft>
                <a:spcPts val="0"/>
              </a:spcAft>
              <a:buClr>
                <a:schemeClr val="lt1"/>
              </a:buClr>
              <a:buSzPts val="1400"/>
              <a:buChar char="■"/>
              <a:defRPr>
                <a:solidFill>
                  <a:schemeClr val="lt1"/>
                </a:solidFill>
              </a:defRPr>
            </a:lvl3pPr>
            <a:lvl4pPr marL="1828800" lvl="3" indent="-317500">
              <a:spcBef>
                <a:spcPts val="0"/>
              </a:spcBef>
              <a:spcAft>
                <a:spcPts val="0"/>
              </a:spcAft>
              <a:buClr>
                <a:schemeClr val="lt1"/>
              </a:buClr>
              <a:buSzPts val="1400"/>
              <a:buChar char="●"/>
              <a:defRPr>
                <a:solidFill>
                  <a:schemeClr val="lt1"/>
                </a:solidFill>
              </a:defRPr>
            </a:lvl4pPr>
            <a:lvl5pPr marL="2286000" lvl="4" indent="-317500">
              <a:spcBef>
                <a:spcPts val="0"/>
              </a:spcBef>
              <a:spcAft>
                <a:spcPts val="0"/>
              </a:spcAft>
              <a:buClr>
                <a:schemeClr val="lt1"/>
              </a:buClr>
              <a:buSzPts val="1400"/>
              <a:buChar char="○"/>
              <a:defRPr>
                <a:solidFill>
                  <a:schemeClr val="lt1"/>
                </a:solidFill>
              </a:defRPr>
            </a:lvl5pPr>
            <a:lvl6pPr marL="2743200" lvl="5" indent="-317500">
              <a:spcBef>
                <a:spcPts val="0"/>
              </a:spcBef>
              <a:spcAft>
                <a:spcPts val="0"/>
              </a:spcAft>
              <a:buClr>
                <a:schemeClr val="lt1"/>
              </a:buClr>
              <a:buSzPts val="1400"/>
              <a:buChar char="■"/>
              <a:defRPr>
                <a:solidFill>
                  <a:schemeClr val="lt1"/>
                </a:solidFill>
              </a:defRPr>
            </a:lvl6pPr>
            <a:lvl7pPr marL="3200400" lvl="6" indent="-317500">
              <a:spcBef>
                <a:spcPts val="0"/>
              </a:spcBef>
              <a:spcAft>
                <a:spcPts val="0"/>
              </a:spcAft>
              <a:buClr>
                <a:schemeClr val="lt1"/>
              </a:buClr>
              <a:buSzPts val="1400"/>
              <a:buChar char="●"/>
              <a:defRPr>
                <a:solidFill>
                  <a:schemeClr val="lt1"/>
                </a:solidFill>
              </a:defRPr>
            </a:lvl7pPr>
            <a:lvl8pPr marL="3657600" lvl="7" indent="-317500">
              <a:spcBef>
                <a:spcPts val="0"/>
              </a:spcBef>
              <a:spcAft>
                <a:spcPts val="0"/>
              </a:spcAft>
              <a:buClr>
                <a:schemeClr val="lt1"/>
              </a:buClr>
              <a:buSzPts val="1400"/>
              <a:buChar char="○"/>
              <a:defRPr>
                <a:solidFill>
                  <a:schemeClr val="lt1"/>
                </a:solidFill>
              </a:defRPr>
            </a:lvl8pPr>
            <a:lvl9pPr marL="4114800" lvl="8" indent="-317500">
              <a:spcBef>
                <a:spcPts val="0"/>
              </a:spcBef>
              <a:spcAft>
                <a:spcPts val="0"/>
              </a:spcAft>
              <a:buClr>
                <a:schemeClr val="lt1"/>
              </a:buClr>
              <a:buSzPts val="1400"/>
              <a:buChar char="■"/>
              <a:defRPr>
                <a:solidFill>
                  <a:schemeClr val="lt1"/>
                </a:solidFill>
              </a:defRPr>
            </a:lvl9pPr>
          </a:lstStyle>
          <a:p>
            <a:endParaRPr/>
          </a:p>
        </p:txBody>
      </p:sp>
      <p:sp>
        <p:nvSpPr>
          <p:cNvPr id="47" name="Google Shape;47;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8"/>
        <p:cNvGrpSpPr/>
        <p:nvPr/>
      </p:nvGrpSpPr>
      <p:grpSpPr>
        <a:xfrm>
          <a:off x="0" y="0"/>
          <a:ext cx="0" cy="0"/>
          <a:chOff x="0" y="0"/>
          <a:chExt cx="0" cy="0"/>
        </a:xfrm>
      </p:grpSpPr>
      <p:sp>
        <p:nvSpPr>
          <p:cNvPr id="49" name="Google Shape;49;p10"/>
          <p:cNvSpPr txBox="1">
            <a:spLocks noGrp="1"/>
          </p:cNvSpPr>
          <p:nvPr>
            <p:ph type="body" idx="1"/>
          </p:nvPr>
        </p:nvSpPr>
        <p:spPr>
          <a:xfrm>
            <a:off x="319500" y="4218925"/>
            <a:ext cx="5998800" cy="5988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2400"/>
              <a:buFont typeface="Economica"/>
              <a:buNone/>
              <a:defRPr sz="2400">
                <a:latin typeface="Economica"/>
                <a:ea typeface="Economica"/>
                <a:cs typeface="Economica"/>
                <a:sym typeface="Economica"/>
              </a:defRPr>
            </a:lvl1pPr>
          </a:lstStyle>
          <a:p>
            <a:endParaRPr/>
          </a:p>
        </p:txBody>
      </p:sp>
      <p:sp>
        <p:nvSpPr>
          <p:cNvPr id="50" name="Google Shape;50;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1"/>
        <p:cNvGrpSpPr/>
        <p:nvPr/>
      </p:nvGrpSpPr>
      <p:grpSpPr>
        <a:xfrm>
          <a:off x="0" y="0"/>
          <a:ext cx="0" cy="0"/>
          <a:chOff x="0" y="0"/>
          <a:chExt cx="0" cy="0"/>
        </a:xfrm>
      </p:grpSpPr>
      <p:sp>
        <p:nvSpPr>
          <p:cNvPr id="52" name="Google Shape;52;p11"/>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11"/>
          <p:cNvSpPr txBox="1">
            <a:spLocks noGrp="1"/>
          </p:cNvSpPr>
          <p:nvPr>
            <p:ph type="title" hasCustomPrompt="1"/>
          </p:nvPr>
        </p:nvSpPr>
        <p:spPr>
          <a:xfrm>
            <a:off x="311700" y="957125"/>
            <a:ext cx="8520600" cy="2128800"/>
          </a:xfrm>
          <a:prstGeom prst="rect">
            <a:avLst/>
          </a:prstGeom>
        </p:spPr>
        <p:txBody>
          <a:bodyPr spcFirstLastPara="1" wrap="square" lIns="91425" tIns="91425" rIns="91425" bIns="91425" anchor="ctr" anchorCtr="0">
            <a:normAutofit/>
          </a:bodyPr>
          <a:lstStyle>
            <a:lvl1pPr lvl="0" algn="ctr">
              <a:spcBef>
                <a:spcPts val="0"/>
              </a:spcBef>
              <a:spcAft>
                <a:spcPts val="0"/>
              </a:spcAft>
              <a:buClr>
                <a:schemeClr val="lt2"/>
              </a:buClr>
              <a:buSzPts val="16000"/>
              <a:buNone/>
              <a:defRPr sz="16000">
                <a:solidFill>
                  <a:schemeClr val="lt2"/>
                </a:solidFill>
              </a:defRPr>
            </a:lvl1pPr>
            <a:lvl2pPr lvl="1" algn="ctr">
              <a:spcBef>
                <a:spcPts val="0"/>
              </a:spcBef>
              <a:spcAft>
                <a:spcPts val="0"/>
              </a:spcAft>
              <a:buClr>
                <a:schemeClr val="lt2"/>
              </a:buClr>
              <a:buSzPts val="16000"/>
              <a:buNone/>
              <a:defRPr sz="16000">
                <a:solidFill>
                  <a:schemeClr val="lt2"/>
                </a:solidFill>
              </a:defRPr>
            </a:lvl2pPr>
            <a:lvl3pPr lvl="2" algn="ctr">
              <a:spcBef>
                <a:spcPts val="0"/>
              </a:spcBef>
              <a:spcAft>
                <a:spcPts val="0"/>
              </a:spcAft>
              <a:buClr>
                <a:schemeClr val="lt2"/>
              </a:buClr>
              <a:buSzPts val="16000"/>
              <a:buNone/>
              <a:defRPr sz="16000">
                <a:solidFill>
                  <a:schemeClr val="lt2"/>
                </a:solidFill>
              </a:defRPr>
            </a:lvl3pPr>
            <a:lvl4pPr lvl="3" algn="ctr">
              <a:spcBef>
                <a:spcPts val="0"/>
              </a:spcBef>
              <a:spcAft>
                <a:spcPts val="0"/>
              </a:spcAft>
              <a:buClr>
                <a:schemeClr val="lt2"/>
              </a:buClr>
              <a:buSzPts val="16000"/>
              <a:buNone/>
              <a:defRPr sz="16000">
                <a:solidFill>
                  <a:schemeClr val="lt2"/>
                </a:solidFill>
              </a:defRPr>
            </a:lvl4pPr>
            <a:lvl5pPr lvl="4" algn="ctr">
              <a:spcBef>
                <a:spcPts val="0"/>
              </a:spcBef>
              <a:spcAft>
                <a:spcPts val="0"/>
              </a:spcAft>
              <a:buClr>
                <a:schemeClr val="lt2"/>
              </a:buClr>
              <a:buSzPts val="16000"/>
              <a:buNone/>
              <a:defRPr sz="16000">
                <a:solidFill>
                  <a:schemeClr val="lt2"/>
                </a:solidFill>
              </a:defRPr>
            </a:lvl5pPr>
            <a:lvl6pPr lvl="5" algn="ctr">
              <a:spcBef>
                <a:spcPts val="0"/>
              </a:spcBef>
              <a:spcAft>
                <a:spcPts val="0"/>
              </a:spcAft>
              <a:buClr>
                <a:schemeClr val="lt2"/>
              </a:buClr>
              <a:buSzPts val="16000"/>
              <a:buNone/>
              <a:defRPr sz="16000">
                <a:solidFill>
                  <a:schemeClr val="lt2"/>
                </a:solidFill>
              </a:defRPr>
            </a:lvl6pPr>
            <a:lvl7pPr lvl="6" algn="ctr">
              <a:spcBef>
                <a:spcPts val="0"/>
              </a:spcBef>
              <a:spcAft>
                <a:spcPts val="0"/>
              </a:spcAft>
              <a:buClr>
                <a:schemeClr val="lt2"/>
              </a:buClr>
              <a:buSzPts val="16000"/>
              <a:buNone/>
              <a:defRPr sz="16000">
                <a:solidFill>
                  <a:schemeClr val="lt2"/>
                </a:solidFill>
              </a:defRPr>
            </a:lvl7pPr>
            <a:lvl8pPr lvl="7" algn="ctr">
              <a:spcBef>
                <a:spcPts val="0"/>
              </a:spcBef>
              <a:spcAft>
                <a:spcPts val="0"/>
              </a:spcAft>
              <a:buClr>
                <a:schemeClr val="lt2"/>
              </a:buClr>
              <a:buSzPts val="16000"/>
              <a:buNone/>
              <a:defRPr sz="16000">
                <a:solidFill>
                  <a:schemeClr val="lt2"/>
                </a:solidFill>
              </a:defRPr>
            </a:lvl8pPr>
            <a:lvl9pPr lvl="8" algn="ctr">
              <a:spcBef>
                <a:spcPts val="0"/>
              </a:spcBef>
              <a:spcAft>
                <a:spcPts val="0"/>
              </a:spcAft>
              <a:buClr>
                <a:schemeClr val="lt2"/>
              </a:buClr>
              <a:buSzPts val="16000"/>
              <a:buNone/>
              <a:defRPr sz="16000">
                <a:solidFill>
                  <a:schemeClr val="lt2"/>
                </a:solidFill>
              </a:defRPr>
            </a:lvl9pPr>
          </a:lstStyle>
          <a:p>
            <a:r>
              <a:t>xx%</a:t>
            </a:r>
          </a:p>
        </p:txBody>
      </p:sp>
      <p:sp>
        <p:nvSpPr>
          <p:cNvPr id="54" name="Google Shape;54;p11"/>
          <p:cNvSpPr txBox="1">
            <a:spLocks noGrp="1"/>
          </p:cNvSpPr>
          <p:nvPr>
            <p:ph type="body" idx="1"/>
          </p:nvPr>
        </p:nvSpPr>
        <p:spPr>
          <a:xfrm>
            <a:off x="311700" y="3162000"/>
            <a:ext cx="8520600" cy="10716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5" name="Google Shape;55;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6"/>
        <p:cNvGrpSpPr/>
        <p:nvPr/>
      </p:nvGrpSpPr>
      <p:grpSpPr>
        <a:xfrm>
          <a:off x="0" y="0"/>
          <a:ext cx="0" cy="0"/>
          <a:chOff x="0" y="0"/>
          <a:chExt cx="0" cy="0"/>
        </a:xfrm>
      </p:grpSpPr>
      <p:sp>
        <p:nvSpPr>
          <p:cNvPr id="57" name="Google Shape;57;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1" type="obj">
  <p:cSld name="OBJECT">
    <p:spTree>
      <p:nvGrpSpPr>
        <p:cNvPr id="1" name="Shape 58"/>
        <p:cNvGrpSpPr/>
        <p:nvPr/>
      </p:nvGrpSpPr>
      <p:grpSpPr>
        <a:xfrm>
          <a:off x="0" y="0"/>
          <a:ext cx="0" cy="0"/>
          <a:chOff x="0" y="0"/>
          <a:chExt cx="0" cy="0"/>
        </a:xfrm>
      </p:grpSpPr>
      <p:sp>
        <p:nvSpPr>
          <p:cNvPr id="59" name="Google Shape;59;p13"/>
          <p:cNvSpPr txBox="1">
            <a:spLocks noGrp="1"/>
          </p:cNvSpPr>
          <p:nvPr>
            <p:ph type="ftr" idx="11"/>
          </p:nvPr>
        </p:nvSpPr>
        <p:spPr>
          <a:xfrm>
            <a:off x="7229554" y="4981551"/>
            <a:ext cx="481200" cy="151800"/>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1100" b="0" i="0">
                <a:solidFill>
                  <a:schemeClr val="lt1"/>
                </a:solidFill>
                <a:latin typeface="Tahoma"/>
                <a:ea typeface="Tahoma"/>
                <a:cs typeface="Tahoma"/>
                <a:sym typeface="Tahoma"/>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13"/>
          <p:cNvSpPr txBox="1">
            <a:spLocks noGrp="1"/>
          </p:cNvSpPr>
          <p:nvPr>
            <p:ph type="dt" idx="10"/>
          </p:nvPr>
        </p:nvSpPr>
        <p:spPr>
          <a:xfrm>
            <a:off x="226205" y="4981551"/>
            <a:ext cx="2594700" cy="151800"/>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1100" b="0" i="0">
                <a:solidFill>
                  <a:schemeClr val="lt1"/>
                </a:solidFill>
                <a:latin typeface="Tahoma"/>
                <a:ea typeface="Tahoma"/>
                <a:cs typeface="Tahoma"/>
                <a:sym typeface="Tahoma"/>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1" name="Google Shape;61;p13"/>
          <p:cNvSpPr txBox="1">
            <a:spLocks noGrp="1"/>
          </p:cNvSpPr>
          <p:nvPr>
            <p:ph type="sldNum" idx="12"/>
          </p:nvPr>
        </p:nvSpPr>
        <p:spPr>
          <a:xfrm>
            <a:off x="8636676" y="4981551"/>
            <a:ext cx="394200" cy="169200"/>
          </a:xfrm>
          <a:prstGeom prst="rect">
            <a:avLst/>
          </a:prstGeom>
          <a:noFill/>
          <a:ln>
            <a:noFill/>
          </a:ln>
        </p:spPr>
        <p:txBody>
          <a:bodyPr spcFirstLastPara="1" wrap="square" lIns="0" tIns="0" rIns="0" bIns="0" anchor="t" anchorCtr="0">
            <a:spAutoFit/>
          </a:bodyPr>
          <a:lstStyle>
            <a:lvl1pPr marL="63500" lvl="0" indent="0">
              <a:lnSpc>
                <a:spcPct val="112500"/>
              </a:lnSpc>
              <a:spcBef>
                <a:spcPts val="0"/>
              </a:spcBef>
              <a:buNone/>
              <a:defRPr sz="1100" b="0" i="0">
                <a:solidFill>
                  <a:schemeClr val="lt1"/>
                </a:solidFill>
                <a:latin typeface="Tahoma"/>
                <a:ea typeface="Tahoma"/>
                <a:cs typeface="Tahoma"/>
                <a:sym typeface="Tahoma"/>
              </a:defRPr>
            </a:lvl1pPr>
            <a:lvl2pPr marL="63500" lvl="1" indent="0">
              <a:lnSpc>
                <a:spcPct val="112500"/>
              </a:lnSpc>
              <a:spcBef>
                <a:spcPts val="0"/>
              </a:spcBef>
              <a:buNone/>
              <a:defRPr sz="1100" b="0" i="0">
                <a:solidFill>
                  <a:schemeClr val="lt1"/>
                </a:solidFill>
                <a:latin typeface="Tahoma"/>
                <a:ea typeface="Tahoma"/>
                <a:cs typeface="Tahoma"/>
                <a:sym typeface="Tahoma"/>
              </a:defRPr>
            </a:lvl2pPr>
            <a:lvl3pPr marL="63500" lvl="2" indent="0">
              <a:lnSpc>
                <a:spcPct val="112500"/>
              </a:lnSpc>
              <a:spcBef>
                <a:spcPts val="0"/>
              </a:spcBef>
              <a:buNone/>
              <a:defRPr sz="1100" b="0" i="0">
                <a:solidFill>
                  <a:schemeClr val="lt1"/>
                </a:solidFill>
                <a:latin typeface="Tahoma"/>
                <a:ea typeface="Tahoma"/>
                <a:cs typeface="Tahoma"/>
                <a:sym typeface="Tahoma"/>
              </a:defRPr>
            </a:lvl3pPr>
            <a:lvl4pPr marL="63500" lvl="3" indent="0">
              <a:lnSpc>
                <a:spcPct val="112500"/>
              </a:lnSpc>
              <a:spcBef>
                <a:spcPts val="0"/>
              </a:spcBef>
              <a:buNone/>
              <a:defRPr sz="1100" b="0" i="0">
                <a:solidFill>
                  <a:schemeClr val="lt1"/>
                </a:solidFill>
                <a:latin typeface="Tahoma"/>
                <a:ea typeface="Tahoma"/>
                <a:cs typeface="Tahoma"/>
                <a:sym typeface="Tahoma"/>
              </a:defRPr>
            </a:lvl4pPr>
            <a:lvl5pPr marL="63500" lvl="4" indent="0">
              <a:lnSpc>
                <a:spcPct val="112500"/>
              </a:lnSpc>
              <a:spcBef>
                <a:spcPts val="0"/>
              </a:spcBef>
              <a:buNone/>
              <a:defRPr sz="1100" b="0" i="0">
                <a:solidFill>
                  <a:schemeClr val="lt1"/>
                </a:solidFill>
                <a:latin typeface="Tahoma"/>
                <a:ea typeface="Tahoma"/>
                <a:cs typeface="Tahoma"/>
                <a:sym typeface="Tahoma"/>
              </a:defRPr>
            </a:lvl5pPr>
            <a:lvl6pPr marL="63500" lvl="5" indent="0">
              <a:lnSpc>
                <a:spcPct val="112500"/>
              </a:lnSpc>
              <a:spcBef>
                <a:spcPts val="0"/>
              </a:spcBef>
              <a:buNone/>
              <a:defRPr sz="1100" b="0" i="0">
                <a:solidFill>
                  <a:schemeClr val="lt1"/>
                </a:solidFill>
                <a:latin typeface="Tahoma"/>
                <a:ea typeface="Tahoma"/>
                <a:cs typeface="Tahoma"/>
                <a:sym typeface="Tahoma"/>
              </a:defRPr>
            </a:lvl6pPr>
            <a:lvl7pPr marL="63500" lvl="6" indent="0">
              <a:lnSpc>
                <a:spcPct val="112500"/>
              </a:lnSpc>
              <a:spcBef>
                <a:spcPts val="0"/>
              </a:spcBef>
              <a:buNone/>
              <a:defRPr sz="1100" b="0" i="0">
                <a:solidFill>
                  <a:schemeClr val="lt1"/>
                </a:solidFill>
                <a:latin typeface="Tahoma"/>
                <a:ea typeface="Tahoma"/>
                <a:cs typeface="Tahoma"/>
                <a:sym typeface="Tahoma"/>
              </a:defRPr>
            </a:lvl7pPr>
            <a:lvl8pPr marL="63500" lvl="7" indent="0">
              <a:lnSpc>
                <a:spcPct val="112500"/>
              </a:lnSpc>
              <a:spcBef>
                <a:spcPts val="0"/>
              </a:spcBef>
              <a:buNone/>
              <a:defRPr sz="1100" b="0" i="0">
                <a:solidFill>
                  <a:schemeClr val="lt1"/>
                </a:solidFill>
                <a:latin typeface="Tahoma"/>
                <a:ea typeface="Tahoma"/>
                <a:cs typeface="Tahoma"/>
                <a:sym typeface="Tahoma"/>
              </a:defRPr>
            </a:lvl8pPr>
            <a:lvl9pPr marL="63500" lvl="8" indent="0">
              <a:lnSpc>
                <a:spcPct val="112500"/>
              </a:lnSpc>
              <a:spcBef>
                <a:spcPts val="0"/>
              </a:spcBef>
              <a:buNone/>
              <a:defRPr sz="1100" b="0" i="0">
                <a:solidFill>
                  <a:schemeClr val="lt1"/>
                </a:solidFill>
                <a:latin typeface="Tahoma"/>
                <a:ea typeface="Tahoma"/>
                <a:cs typeface="Tahoma"/>
                <a:sym typeface="Tahoma"/>
              </a:defRPr>
            </a:lvl9pPr>
          </a:lstStyle>
          <a:p>
            <a:pPr marL="63500" lvl="0" indent="0" algn="r" rtl="0">
              <a:spcBef>
                <a:spcPts val="0"/>
              </a:spcBef>
              <a:spcAft>
                <a:spcPts val="0"/>
              </a:spcAft>
              <a:buNone/>
            </a:pPr>
            <a:fld id="{00000000-1234-1234-1234-123412341234}" type="slidenum">
              <a:rPr lang="en"/>
              <a:t>‹#›</a:t>
            </a:fld>
            <a:r>
              <a:rPr lang="en"/>
              <a:t> / 5</a:t>
            </a:r>
            <a:endParaRPr sz="1000">
              <a:solidFill>
                <a:schemeClr val="dk1"/>
              </a:solidFill>
              <a:latin typeface="Economica"/>
              <a:ea typeface="Economica"/>
              <a:cs typeface="Economica"/>
              <a:sym typeface="Economica"/>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3"/>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luxe">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rmAutofit/>
          </a:bodyPr>
          <a:lstStyle>
            <a:lvl1pPr lvl="0">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1pPr>
            <a:lvl2pPr lvl="1">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2pPr>
            <a:lvl3pPr lvl="2">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3pPr>
            <a:lvl4pPr lvl="3">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4pPr>
            <a:lvl5pPr lvl="4">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5pPr>
            <a:lvl6pPr lvl="5">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6pPr>
            <a:lvl7pPr lvl="6">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7pPr>
            <a:lvl8pPr lvl="7">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8pPr>
            <a:lvl9pPr lvl="8">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9pPr>
          </a:lstStyle>
          <a:p>
            <a:endParaRPr/>
          </a:p>
        </p:txBody>
      </p:sp>
      <p:sp>
        <p:nvSpPr>
          <p:cNvPr id="7" name="Google Shape;7;p1"/>
          <p:cNvSpPr txBox="1">
            <a:spLocks noGrp="1"/>
          </p:cNvSpPr>
          <p:nvPr>
            <p:ph type="body" idx="1"/>
          </p:nvPr>
        </p:nvSpPr>
        <p:spPr>
          <a:xfrm>
            <a:off x="311700" y="1225225"/>
            <a:ext cx="8520600" cy="33540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1"/>
              </a:buClr>
              <a:buSzPts val="1800"/>
              <a:buFont typeface="Open Sans"/>
              <a:buChar char="●"/>
              <a:defRPr sz="1800">
                <a:solidFill>
                  <a:schemeClr val="dk1"/>
                </a:solidFill>
                <a:latin typeface="Open Sans"/>
                <a:ea typeface="Open Sans"/>
                <a:cs typeface="Open Sans"/>
                <a:sym typeface="Open Sans"/>
              </a:defRPr>
            </a:lvl1pPr>
            <a:lvl2pPr marL="914400" lvl="1" indent="-3175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2pPr>
            <a:lvl3pPr marL="1371600" lvl="2" indent="-3175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3pPr>
            <a:lvl4pPr marL="1828800" lvl="3" indent="-3175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4pPr>
            <a:lvl5pPr marL="2286000" lvl="4" indent="-3175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5pPr>
            <a:lvl6pPr marL="2743200" lvl="5" indent="-3175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6pPr>
            <a:lvl7pPr marL="3200400" lvl="6" indent="-3175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7pPr>
            <a:lvl8pPr marL="3657600" lvl="7" indent="-3175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8pPr>
            <a:lvl9pPr marL="4114800" lvl="8" indent="-3175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1"/>
                </a:solidFill>
                <a:latin typeface="Economica"/>
                <a:ea typeface="Economica"/>
                <a:cs typeface="Economica"/>
                <a:sym typeface="Economica"/>
              </a:defRPr>
            </a:lvl1pPr>
            <a:lvl2pPr lvl="1" algn="r">
              <a:buNone/>
              <a:defRPr sz="1000">
                <a:solidFill>
                  <a:schemeClr val="dk1"/>
                </a:solidFill>
                <a:latin typeface="Economica"/>
                <a:ea typeface="Economica"/>
                <a:cs typeface="Economica"/>
                <a:sym typeface="Economica"/>
              </a:defRPr>
            </a:lvl2pPr>
            <a:lvl3pPr lvl="2" algn="r">
              <a:buNone/>
              <a:defRPr sz="1000">
                <a:solidFill>
                  <a:schemeClr val="dk1"/>
                </a:solidFill>
                <a:latin typeface="Economica"/>
                <a:ea typeface="Economica"/>
                <a:cs typeface="Economica"/>
                <a:sym typeface="Economica"/>
              </a:defRPr>
            </a:lvl3pPr>
            <a:lvl4pPr lvl="3" algn="r">
              <a:buNone/>
              <a:defRPr sz="1000">
                <a:solidFill>
                  <a:schemeClr val="dk1"/>
                </a:solidFill>
                <a:latin typeface="Economica"/>
                <a:ea typeface="Economica"/>
                <a:cs typeface="Economica"/>
                <a:sym typeface="Economica"/>
              </a:defRPr>
            </a:lvl4pPr>
            <a:lvl5pPr lvl="4" algn="r">
              <a:buNone/>
              <a:defRPr sz="1000">
                <a:solidFill>
                  <a:schemeClr val="dk1"/>
                </a:solidFill>
                <a:latin typeface="Economica"/>
                <a:ea typeface="Economica"/>
                <a:cs typeface="Economica"/>
                <a:sym typeface="Economica"/>
              </a:defRPr>
            </a:lvl5pPr>
            <a:lvl6pPr lvl="5" algn="r">
              <a:buNone/>
              <a:defRPr sz="1000">
                <a:solidFill>
                  <a:schemeClr val="dk1"/>
                </a:solidFill>
                <a:latin typeface="Economica"/>
                <a:ea typeface="Economica"/>
                <a:cs typeface="Economica"/>
                <a:sym typeface="Economica"/>
              </a:defRPr>
            </a:lvl6pPr>
            <a:lvl7pPr lvl="6" algn="r">
              <a:buNone/>
              <a:defRPr sz="1000">
                <a:solidFill>
                  <a:schemeClr val="dk1"/>
                </a:solidFill>
                <a:latin typeface="Economica"/>
                <a:ea typeface="Economica"/>
                <a:cs typeface="Economica"/>
                <a:sym typeface="Economica"/>
              </a:defRPr>
            </a:lvl7pPr>
            <a:lvl8pPr lvl="7" algn="r">
              <a:buNone/>
              <a:defRPr sz="1000">
                <a:solidFill>
                  <a:schemeClr val="dk1"/>
                </a:solidFill>
                <a:latin typeface="Economica"/>
                <a:ea typeface="Economica"/>
                <a:cs typeface="Economica"/>
                <a:sym typeface="Economica"/>
              </a:defRPr>
            </a:lvl8pPr>
            <a:lvl9pPr lvl="8" algn="r">
              <a:buNone/>
              <a:defRPr sz="1000">
                <a:solidFill>
                  <a:schemeClr val="dk1"/>
                </a:solidFill>
                <a:latin typeface="Economica"/>
                <a:ea typeface="Economica"/>
                <a:cs typeface="Economica"/>
                <a:sym typeface="Economica"/>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62"/>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0"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comments" Target="../comments/comment1.xml"/><Relationship Id="rId2" Type="http://schemas.openxmlformats.org/officeDocument/2006/relationships/notesSlide" Target="../notesSlides/notesSlide2.xml"/><Relationship Id="rId1" Type="http://schemas.openxmlformats.org/officeDocument/2006/relationships/slideLayout" Target="../slideLayouts/slideLayout13.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3.xml"/><Relationship Id="rId5" Type="http://schemas.openxmlformats.org/officeDocument/2006/relationships/comments" Target="../comments/comment2.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3.xml"/><Relationship Id="rId4" Type="http://schemas.openxmlformats.org/officeDocument/2006/relationships/comments" Target="../comments/commen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B4D8"/>
        </a:solidFill>
        <a:effectLst/>
      </p:bgPr>
    </p:bg>
    <p:spTree>
      <p:nvGrpSpPr>
        <p:cNvPr id="1" name="Shape 67"/>
        <p:cNvGrpSpPr/>
        <p:nvPr/>
      </p:nvGrpSpPr>
      <p:grpSpPr>
        <a:xfrm>
          <a:off x="0" y="0"/>
          <a:ext cx="0" cy="0"/>
          <a:chOff x="0" y="0"/>
          <a:chExt cx="0" cy="0"/>
        </a:xfrm>
      </p:grpSpPr>
      <p:sp>
        <p:nvSpPr>
          <p:cNvPr id="68" name="Google Shape;68;p16"/>
          <p:cNvSpPr txBox="1">
            <a:spLocks noGrp="1"/>
          </p:cNvSpPr>
          <p:nvPr>
            <p:ph type="ctrTitle"/>
          </p:nvPr>
        </p:nvSpPr>
        <p:spPr>
          <a:xfrm>
            <a:off x="3044700" y="985074"/>
            <a:ext cx="3054600" cy="1635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
              <a:t>Speech-to-Text transcription</a:t>
            </a:r>
            <a:endParaRPr/>
          </a:p>
        </p:txBody>
      </p:sp>
      <p:sp>
        <p:nvSpPr>
          <p:cNvPr id="69" name="Google Shape;69;p16"/>
          <p:cNvSpPr txBox="1">
            <a:spLocks noGrp="1"/>
          </p:cNvSpPr>
          <p:nvPr>
            <p:ph type="subTitle" idx="1"/>
          </p:nvPr>
        </p:nvSpPr>
        <p:spPr>
          <a:xfrm>
            <a:off x="3044700" y="3192771"/>
            <a:ext cx="3054600" cy="1282800"/>
          </a:xfrm>
          <a:prstGeom prst="rect">
            <a:avLst/>
          </a:prstGeom>
        </p:spPr>
        <p:txBody>
          <a:bodyPr spcFirstLastPara="1" wrap="square" lIns="91425" tIns="91425" rIns="91425" bIns="91425" anchor="t" anchorCtr="0">
            <a:normAutofit/>
          </a:bodyPr>
          <a:lstStyle/>
          <a:p>
            <a:pPr marL="0" lvl="0" indent="0" algn="ctr" rtl="0">
              <a:lnSpc>
                <a:spcPct val="80000"/>
              </a:lnSpc>
              <a:spcBef>
                <a:spcPts val="0"/>
              </a:spcBef>
              <a:spcAft>
                <a:spcPts val="0"/>
              </a:spcAft>
              <a:buNone/>
            </a:pPr>
            <a:r>
              <a:rPr lang="en" sz="1500" b="1"/>
              <a:t>Group 8</a:t>
            </a:r>
            <a:endParaRPr sz="1500" b="1"/>
          </a:p>
          <a:p>
            <a:pPr marL="0" lvl="0" indent="0" algn="ctr" rtl="0">
              <a:lnSpc>
                <a:spcPct val="80000"/>
              </a:lnSpc>
              <a:spcBef>
                <a:spcPts val="0"/>
              </a:spcBef>
              <a:spcAft>
                <a:spcPts val="0"/>
              </a:spcAft>
              <a:buNone/>
            </a:pPr>
            <a:r>
              <a:rPr lang="en" sz="1500"/>
              <a:t>Anubhav Sharma</a:t>
            </a:r>
            <a:endParaRPr sz="1500"/>
          </a:p>
          <a:p>
            <a:pPr marL="0" lvl="0" indent="0" algn="ctr" rtl="0">
              <a:lnSpc>
                <a:spcPct val="80000"/>
              </a:lnSpc>
              <a:spcBef>
                <a:spcPts val="0"/>
              </a:spcBef>
              <a:spcAft>
                <a:spcPts val="0"/>
              </a:spcAft>
              <a:buNone/>
            </a:pPr>
            <a:r>
              <a:rPr lang="en" sz="1500"/>
              <a:t>Edwin Chen</a:t>
            </a:r>
            <a:endParaRPr sz="1500"/>
          </a:p>
          <a:p>
            <a:pPr marL="0" lvl="0" indent="0" algn="ctr" rtl="0">
              <a:lnSpc>
                <a:spcPct val="80000"/>
              </a:lnSpc>
              <a:spcBef>
                <a:spcPts val="0"/>
              </a:spcBef>
              <a:spcAft>
                <a:spcPts val="0"/>
              </a:spcAft>
              <a:buNone/>
            </a:pPr>
            <a:r>
              <a:rPr lang="en" sz="1500"/>
              <a:t>TrungLam Nguyen</a:t>
            </a:r>
            <a:endParaRPr sz="1500"/>
          </a:p>
        </p:txBody>
      </p:sp>
      <p:sp>
        <p:nvSpPr>
          <p:cNvPr id="70" name="Google Shape;70;p16"/>
          <p:cNvSpPr txBox="1">
            <a:spLocks noGrp="1"/>
          </p:cNvSpPr>
          <p:nvPr>
            <p:ph type="subTitle" idx="1"/>
          </p:nvPr>
        </p:nvSpPr>
        <p:spPr>
          <a:xfrm>
            <a:off x="0" y="4784100"/>
            <a:ext cx="962100" cy="359400"/>
          </a:xfrm>
          <a:prstGeom prst="rect">
            <a:avLst/>
          </a:prstGeom>
        </p:spPr>
        <p:txBody>
          <a:bodyPr spcFirstLastPara="1" wrap="square" lIns="91425" tIns="91425" rIns="91425" bIns="91425" anchor="t" anchorCtr="0">
            <a:normAutofit lnSpcReduction="10000"/>
          </a:bodyPr>
          <a:lstStyle/>
          <a:p>
            <a:pPr marL="0" lvl="0" indent="0" algn="l" rtl="0">
              <a:lnSpc>
                <a:spcPct val="80000"/>
              </a:lnSpc>
              <a:spcBef>
                <a:spcPts val="0"/>
              </a:spcBef>
              <a:spcAft>
                <a:spcPts val="0"/>
              </a:spcAft>
              <a:buNone/>
            </a:pPr>
            <a:r>
              <a:rPr lang="en" sz="1500"/>
              <a:t>April 7, 2026</a:t>
            </a:r>
            <a:endParaRPr sz="15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Shape 75"/>
        <p:cNvGrpSpPr/>
        <p:nvPr/>
      </p:nvGrpSpPr>
      <p:grpSpPr>
        <a:xfrm>
          <a:off x="0" y="0"/>
          <a:ext cx="0" cy="0"/>
          <a:chOff x="0" y="0"/>
          <a:chExt cx="0" cy="0"/>
        </a:xfrm>
      </p:grpSpPr>
      <p:sp>
        <p:nvSpPr>
          <p:cNvPr id="76" name="Google Shape;76;p17"/>
          <p:cNvSpPr/>
          <p:nvPr/>
        </p:nvSpPr>
        <p:spPr>
          <a:xfrm>
            <a:off x="0" y="0"/>
            <a:ext cx="201168" cy="5143500"/>
          </a:xfrm>
          <a:prstGeom prst="rect">
            <a:avLst/>
          </a:prstGeom>
          <a:solidFill>
            <a:srgbClr val="00B4D8"/>
          </a:solidFill>
          <a:ln w="12700" cap="flat" cmpd="sng">
            <a:solidFill>
              <a:srgbClr val="00B4D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17"/>
          <p:cNvSpPr/>
          <p:nvPr/>
        </p:nvSpPr>
        <p:spPr>
          <a:xfrm>
            <a:off x="411480" y="201168"/>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B4D8"/>
              </a:buClr>
              <a:buSzPts val="900"/>
              <a:buFont typeface="Calibri"/>
              <a:buNone/>
            </a:pPr>
            <a:r>
              <a:rPr lang="en" sz="900" b="1" i="0" u="none" strike="noStrike" cap="none">
                <a:solidFill>
                  <a:srgbClr val="00B4D8"/>
                </a:solidFill>
                <a:latin typeface="Calibri"/>
                <a:ea typeface="Calibri"/>
                <a:cs typeface="Calibri"/>
                <a:sym typeface="Calibri"/>
              </a:rPr>
              <a:t>APPLIED DEEP LEARNING — COURSE PROJECT</a:t>
            </a:r>
            <a:endParaRPr sz="900" b="0" i="0" u="none" strike="noStrike" cap="none">
              <a:solidFill>
                <a:schemeClr val="dk1"/>
              </a:solidFill>
              <a:latin typeface="Calibri"/>
              <a:ea typeface="Calibri"/>
              <a:cs typeface="Calibri"/>
              <a:sym typeface="Calibri"/>
            </a:endParaRPr>
          </a:p>
        </p:txBody>
      </p:sp>
      <p:sp>
        <p:nvSpPr>
          <p:cNvPr id="78" name="Google Shape;78;p17"/>
          <p:cNvSpPr/>
          <p:nvPr/>
        </p:nvSpPr>
        <p:spPr>
          <a:xfrm>
            <a:off x="384050" y="413450"/>
            <a:ext cx="6140100" cy="553200"/>
          </a:xfrm>
          <a:prstGeom prst="rect">
            <a:avLst/>
          </a:prstGeom>
          <a:noFill/>
          <a:ln>
            <a:noFill/>
          </a:ln>
        </p:spPr>
        <p:txBody>
          <a:bodyPr spcFirstLastPara="1" wrap="square" lIns="0" tIns="0" rIns="0" bIns="0" anchor="ctr" anchorCtr="0">
            <a:noAutofit/>
          </a:bodyPr>
          <a:lstStyle/>
          <a:p>
            <a:pPr marL="0" marR="0" lvl="0" indent="0" algn="l" rtl="0">
              <a:lnSpc>
                <a:spcPct val="115000"/>
              </a:lnSpc>
              <a:spcBef>
                <a:spcPts val="0"/>
              </a:spcBef>
              <a:spcAft>
                <a:spcPts val="0"/>
              </a:spcAft>
              <a:buClr>
                <a:srgbClr val="FFFFFF"/>
              </a:buClr>
              <a:buSzPts val="3400"/>
              <a:buFont typeface="Calibri"/>
              <a:buNone/>
            </a:pPr>
            <a:r>
              <a:rPr lang="en" sz="3400" b="1">
                <a:solidFill>
                  <a:srgbClr val="FFFFFF"/>
                </a:solidFill>
                <a:latin typeface="Calibri"/>
                <a:ea typeface="Calibri"/>
                <a:cs typeface="Calibri"/>
                <a:sym typeface="Calibri"/>
              </a:rPr>
              <a:t>Introduction</a:t>
            </a:r>
            <a:endParaRPr sz="3400" b="0" i="0" u="none" strike="noStrike" cap="none">
              <a:solidFill>
                <a:schemeClr val="dk1"/>
              </a:solidFill>
              <a:latin typeface="Calibri"/>
              <a:ea typeface="Calibri"/>
              <a:cs typeface="Calibri"/>
              <a:sym typeface="Calibri"/>
            </a:endParaRPr>
          </a:p>
        </p:txBody>
      </p:sp>
      <p:sp>
        <p:nvSpPr>
          <p:cNvPr id="79" name="Google Shape;79;p17"/>
          <p:cNvSpPr/>
          <p:nvPr/>
        </p:nvSpPr>
        <p:spPr>
          <a:xfrm>
            <a:off x="8046720" y="4754880"/>
            <a:ext cx="914400" cy="27432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8EABC4"/>
              </a:buClr>
              <a:buSzPts val="900"/>
              <a:buFont typeface="Calibri"/>
              <a:buNone/>
            </a:pPr>
            <a:r>
              <a:rPr lang="en" sz="900" b="0" i="0" u="none" strike="noStrike" cap="none">
                <a:solidFill>
                  <a:srgbClr val="8EABC4"/>
                </a:solidFill>
                <a:latin typeface="Calibri"/>
                <a:ea typeface="Calibri"/>
                <a:cs typeface="Calibri"/>
                <a:sym typeface="Calibri"/>
              </a:rPr>
              <a:t>01 / 04</a:t>
            </a:r>
            <a:endParaRPr sz="900" b="0" i="0" u="none" strike="noStrike" cap="none">
              <a:solidFill>
                <a:schemeClr val="dk1"/>
              </a:solidFill>
              <a:latin typeface="Calibri"/>
              <a:ea typeface="Calibri"/>
              <a:cs typeface="Calibri"/>
              <a:sym typeface="Calibri"/>
            </a:endParaRPr>
          </a:p>
        </p:txBody>
      </p:sp>
      <p:sp>
        <p:nvSpPr>
          <p:cNvPr id="80" name="Google Shape;80;p17"/>
          <p:cNvSpPr txBox="1"/>
          <p:nvPr/>
        </p:nvSpPr>
        <p:spPr>
          <a:xfrm>
            <a:off x="334850" y="1001150"/>
            <a:ext cx="4325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rgbClr val="48CAE4"/>
                </a:solidFill>
                <a:latin typeface="Calibri"/>
                <a:ea typeface="Calibri"/>
                <a:cs typeface="Calibri"/>
                <a:sym typeface="Calibri"/>
              </a:rPr>
              <a:t>Speech-to-Text (STT) transcription</a:t>
            </a:r>
            <a:endParaRPr sz="1700">
              <a:solidFill>
                <a:schemeClr val="lt1"/>
              </a:solidFill>
              <a:highlight>
                <a:schemeClr val="dk1"/>
              </a:highlight>
              <a:latin typeface="Calibri"/>
              <a:ea typeface="Calibri"/>
              <a:cs typeface="Calibri"/>
              <a:sym typeface="Calibri"/>
            </a:endParaRPr>
          </a:p>
        </p:txBody>
      </p:sp>
      <p:sp>
        <p:nvSpPr>
          <p:cNvPr id="81" name="Google Shape;81;p17"/>
          <p:cNvSpPr/>
          <p:nvPr/>
        </p:nvSpPr>
        <p:spPr>
          <a:xfrm>
            <a:off x="494100" y="1582350"/>
            <a:ext cx="3485400" cy="1554600"/>
          </a:xfrm>
          <a:prstGeom prst="rect">
            <a:avLst/>
          </a:prstGeom>
          <a:solidFill>
            <a:srgbClr val="12233D"/>
          </a:solidFill>
          <a:ln w="9525" cap="flat" cmpd="sng">
            <a:solidFill>
              <a:srgbClr val="1E3A5F"/>
            </a:solidFill>
            <a:prstDash val="solid"/>
            <a:round/>
            <a:headEnd type="none" w="sm" len="sm"/>
            <a:tailEnd type="none" w="sm" len="sm"/>
          </a:ln>
          <a:effectLst>
            <a:outerShdw blurRad="101600" dist="25400" dir="8100000" algn="bl" rotWithShape="0">
              <a:srgbClr val="000000">
                <a:alpha val="30199"/>
              </a:srgbClr>
            </a:outerShdw>
          </a:effectLst>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rgbClr val="48CAE4"/>
                </a:solidFill>
                <a:latin typeface="Calibri"/>
                <a:ea typeface="Calibri"/>
                <a:cs typeface="Calibri"/>
                <a:sym typeface="Calibri"/>
              </a:rPr>
              <a:t>            What is the problem?</a:t>
            </a:r>
            <a:endParaRPr sz="1600">
              <a:solidFill>
                <a:srgbClr val="48CAE4"/>
              </a:solidFill>
              <a:latin typeface="Calibri"/>
              <a:ea typeface="Calibri"/>
              <a:cs typeface="Calibri"/>
              <a:sym typeface="Calibri"/>
            </a:endParaRPr>
          </a:p>
          <a:p>
            <a:pPr marL="0" lvl="0" indent="0" algn="l" rtl="0">
              <a:spcBef>
                <a:spcPts val="0"/>
              </a:spcBef>
              <a:spcAft>
                <a:spcPts val="0"/>
              </a:spcAft>
              <a:buNone/>
            </a:pPr>
            <a:endParaRPr sz="1600">
              <a:solidFill>
                <a:srgbClr val="48CAE4"/>
              </a:solidFill>
              <a:latin typeface="Calibri"/>
              <a:ea typeface="Calibri"/>
              <a:cs typeface="Calibri"/>
              <a:sym typeface="Calibri"/>
            </a:endParaRPr>
          </a:p>
          <a:p>
            <a:pPr marL="0" lvl="0" indent="0" algn="l" rtl="0">
              <a:lnSpc>
                <a:spcPct val="120000"/>
              </a:lnSpc>
              <a:spcBef>
                <a:spcPts val="0"/>
              </a:spcBef>
              <a:spcAft>
                <a:spcPts val="0"/>
              </a:spcAft>
              <a:buNone/>
            </a:pPr>
            <a:r>
              <a:rPr lang="en" sz="1000">
                <a:solidFill>
                  <a:srgbClr val="94A3B8"/>
                </a:solidFill>
                <a:latin typeface="Calibri"/>
                <a:ea typeface="Calibri"/>
                <a:cs typeface="Calibri"/>
                <a:sym typeface="Calibri"/>
              </a:rPr>
              <a:t>Converting spoken language into text accurately and efficiently — bridging human speech with machine understanding through end-to-end deep learning.</a:t>
            </a:r>
            <a:endParaRPr sz="10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600">
              <a:solidFill>
                <a:srgbClr val="48CAE4"/>
              </a:solidFill>
              <a:latin typeface="Calibri"/>
              <a:ea typeface="Calibri"/>
              <a:cs typeface="Calibri"/>
              <a:sym typeface="Calibri"/>
            </a:endParaRPr>
          </a:p>
        </p:txBody>
      </p:sp>
      <p:sp>
        <p:nvSpPr>
          <p:cNvPr id="82" name="Google Shape;82;p17"/>
          <p:cNvSpPr/>
          <p:nvPr/>
        </p:nvSpPr>
        <p:spPr>
          <a:xfrm>
            <a:off x="4417575" y="1582350"/>
            <a:ext cx="3887700" cy="1554600"/>
          </a:xfrm>
          <a:prstGeom prst="rect">
            <a:avLst/>
          </a:prstGeom>
          <a:solidFill>
            <a:srgbClr val="12233D"/>
          </a:solidFill>
          <a:ln w="9525" cap="flat" cmpd="sng">
            <a:solidFill>
              <a:srgbClr val="1E3A5F"/>
            </a:solidFill>
            <a:prstDash val="solid"/>
            <a:round/>
            <a:headEnd type="none" w="sm" len="sm"/>
            <a:tailEnd type="none" w="sm" len="sm"/>
          </a:ln>
          <a:effectLst>
            <a:outerShdw blurRad="101600" dist="25400" dir="8100000" algn="bl" rotWithShape="0">
              <a:srgbClr val="000000">
                <a:alpha val="30199"/>
              </a:srgbClr>
            </a:outerShdw>
          </a:effectLst>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rgbClr val="48CAE4"/>
                </a:solidFill>
                <a:latin typeface="Calibri"/>
                <a:ea typeface="Calibri"/>
                <a:cs typeface="Calibri"/>
                <a:sym typeface="Calibri"/>
              </a:rPr>
              <a:t>             Existing solutions</a:t>
            </a:r>
            <a:endParaRPr sz="1600">
              <a:solidFill>
                <a:srgbClr val="48CAE4"/>
              </a:solidFill>
              <a:latin typeface="Calibri"/>
              <a:ea typeface="Calibri"/>
              <a:cs typeface="Calibri"/>
              <a:sym typeface="Calibri"/>
            </a:endParaRPr>
          </a:p>
          <a:p>
            <a:pPr marL="0" lvl="0" indent="0" algn="l" rtl="0">
              <a:lnSpc>
                <a:spcPct val="120000"/>
              </a:lnSpc>
              <a:spcBef>
                <a:spcPts val="0"/>
              </a:spcBef>
              <a:spcAft>
                <a:spcPts val="0"/>
              </a:spcAft>
              <a:buNone/>
            </a:pPr>
            <a:endParaRPr sz="1100">
              <a:solidFill>
                <a:srgbClr val="94A3B8"/>
              </a:solidFill>
              <a:latin typeface="Calibri"/>
              <a:ea typeface="Calibri"/>
              <a:cs typeface="Calibri"/>
              <a:sym typeface="Calibri"/>
            </a:endParaRPr>
          </a:p>
          <a:p>
            <a:pPr marL="0" lvl="0" indent="0" algn="l" rtl="0">
              <a:lnSpc>
                <a:spcPct val="120000"/>
              </a:lnSpc>
              <a:spcBef>
                <a:spcPts val="0"/>
              </a:spcBef>
              <a:spcAft>
                <a:spcPts val="0"/>
              </a:spcAft>
              <a:buNone/>
            </a:pPr>
            <a:r>
              <a:rPr lang="en" sz="1000">
                <a:solidFill>
                  <a:srgbClr val="94A3B8"/>
                </a:solidFill>
                <a:latin typeface="Calibri"/>
                <a:ea typeface="Calibri"/>
                <a:cs typeface="Calibri"/>
                <a:sym typeface="Calibri"/>
              </a:rPr>
              <a:t>Classical (HMM-GMM): Hand-crafted features + Hidden Markov Models for decoding.</a:t>
            </a:r>
            <a:endParaRPr sz="1000">
              <a:solidFill>
                <a:srgbClr val="94A3B8"/>
              </a:solidFill>
              <a:latin typeface="Calibri"/>
              <a:ea typeface="Calibri"/>
              <a:cs typeface="Calibri"/>
              <a:sym typeface="Calibri"/>
            </a:endParaRPr>
          </a:p>
          <a:p>
            <a:pPr marL="0" lvl="0" indent="0" algn="l" rtl="0">
              <a:lnSpc>
                <a:spcPct val="120000"/>
              </a:lnSpc>
              <a:spcBef>
                <a:spcPts val="0"/>
              </a:spcBef>
              <a:spcAft>
                <a:spcPts val="0"/>
              </a:spcAft>
              <a:buNone/>
            </a:pPr>
            <a:r>
              <a:rPr lang="en" sz="1000">
                <a:solidFill>
                  <a:srgbClr val="94A3B8"/>
                </a:solidFill>
                <a:latin typeface="Calibri"/>
                <a:ea typeface="Calibri"/>
                <a:cs typeface="Calibri"/>
                <a:sym typeface="Calibri"/>
              </a:rPr>
              <a:t>End-to-end DNN: DeepSpeech / DeepSpeech2 — CNN + RNN + CTC loss.</a:t>
            </a:r>
            <a:endParaRPr sz="1000">
              <a:solidFill>
                <a:srgbClr val="94A3B8"/>
              </a:solidFill>
              <a:latin typeface="Calibri"/>
              <a:ea typeface="Calibri"/>
              <a:cs typeface="Calibri"/>
              <a:sym typeface="Calibri"/>
            </a:endParaRPr>
          </a:p>
          <a:p>
            <a:pPr marL="0" lvl="0" indent="0" algn="l" rtl="0">
              <a:lnSpc>
                <a:spcPct val="120000"/>
              </a:lnSpc>
              <a:spcBef>
                <a:spcPts val="0"/>
              </a:spcBef>
              <a:spcAft>
                <a:spcPts val="0"/>
              </a:spcAft>
              <a:buNone/>
            </a:pPr>
            <a:r>
              <a:rPr lang="en" sz="1000">
                <a:solidFill>
                  <a:srgbClr val="94A3B8"/>
                </a:solidFill>
                <a:latin typeface="Calibri"/>
                <a:ea typeface="Calibri"/>
                <a:cs typeface="Calibri"/>
                <a:sym typeface="Calibri"/>
              </a:rPr>
              <a:t>Transformers: Wav2Vec2, Whisper — large self-supervised.</a:t>
            </a:r>
            <a:endParaRPr sz="1100">
              <a:solidFill>
                <a:srgbClr val="94A3B8"/>
              </a:solidFill>
              <a:latin typeface="Calibri"/>
              <a:ea typeface="Calibri"/>
              <a:cs typeface="Calibri"/>
              <a:sym typeface="Calibri"/>
            </a:endParaRPr>
          </a:p>
        </p:txBody>
      </p:sp>
      <p:sp>
        <p:nvSpPr>
          <p:cNvPr id="83" name="Google Shape;83;p17"/>
          <p:cNvSpPr/>
          <p:nvPr/>
        </p:nvSpPr>
        <p:spPr>
          <a:xfrm>
            <a:off x="494150" y="3287050"/>
            <a:ext cx="3485400" cy="1554600"/>
          </a:xfrm>
          <a:prstGeom prst="rect">
            <a:avLst/>
          </a:prstGeom>
          <a:solidFill>
            <a:srgbClr val="12233D"/>
          </a:solidFill>
          <a:ln w="9525" cap="flat" cmpd="sng">
            <a:solidFill>
              <a:srgbClr val="1E3A5F"/>
            </a:solidFill>
            <a:prstDash val="solid"/>
            <a:round/>
            <a:headEnd type="none" w="sm" len="sm"/>
            <a:tailEnd type="none" w="sm" len="sm"/>
          </a:ln>
          <a:effectLst>
            <a:outerShdw blurRad="101600" dist="25400" dir="8100000" algn="bl" rotWithShape="0">
              <a:srgbClr val="000000">
                <a:alpha val="30199"/>
              </a:srgbClr>
            </a:outerShdw>
          </a:effectLst>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rgbClr val="48CAE4"/>
                </a:solidFill>
                <a:latin typeface="Calibri"/>
                <a:ea typeface="Calibri"/>
                <a:cs typeface="Calibri"/>
                <a:sym typeface="Calibri"/>
              </a:rPr>
              <a:t>             Real-world applications</a:t>
            </a:r>
            <a:endParaRPr sz="1600">
              <a:solidFill>
                <a:srgbClr val="48CAE4"/>
              </a:solidFill>
              <a:latin typeface="Calibri"/>
              <a:ea typeface="Calibri"/>
              <a:cs typeface="Calibri"/>
              <a:sym typeface="Calibri"/>
            </a:endParaRPr>
          </a:p>
          <a:p>
            <a:pPr marL="0" lvl="0" indent="0" algn="l" rtl="0">
              <a:lnSpc>
                <a:spcPct val="120000"/>
              </a:lnSpc>
              <a:spcBef>
                <a:spcPts val="0"/>
              </a:spcBef>
              <a:spcAft>
                <a:spcPts val="0"/>
              </a:spcAft>
              <a:buNone/>
            </a:pPr>
            <a:endParaRPr sz="1600">
              <a:solidFill>
                <a:srgbClr val="48CAE4"/>
              </a:solidFill>
              <a:latin typeface="Calibri"/>
              <a:ea typeface="Calibri"/>
              <a:cs typeface="Calibri"/>
              <a:sym typeface="Calibri"/>
            </a:endParaRPr>
          </a:p>
          <a:p>
            <a:pPr marL="0" lvl="0" indent="0" algn="l" rtl="0">
              <a:lnSpc>
                <a:spcPct val="120000"/>
              </a:lnSpc>
              <a:spcBef>
                <a:spcPts val="0"/>
              </a:spcBef>
              <a:spcAft>
                <a:spcPts val="0"/>
              </a:spcAft>
              <a:buNone/>
            </a:pPr>
            <a:r>
              <a:rPr lang="en" sz="1000">
                <a:solidFill>
                  <a:srgbClr val="94A3B8"/>
                </a:solidFill>
                <a:latin typeface="Calibri"/>
                <a:ea typeface="Calibri"/>
                <a:cs typeface="Calibri"/>
                <a:sym typeface="Calibri"/>
              </a:rPr>
              <a:t>Automatic video and meeting transcription</a:t>
            </a:r>
            <a:endParaRPr sz="1000">
              <a:solidFill>
                <a:srgbClr val="94A3B8"/>
              </a:solidFill>
              <a:latin typeface="Calibri"/>
              <a:ea typeface="Calibri"/>
              <a:cs typeface="Calibri"/>
              <a:sym typeface="Calibri"/>
            </a:endParaRPr>
          </a:p>
          <a:p>
            <a:pPr marL="0" lvl="0" indent="0" algn="l" rtl="0">
              <a:lnSpc>
                <a:spcPct val="120000"/>
              </a:lnSpc>
              <a:spcBef>
                <a:spcPts val="0"/>
              </a:spcBef>
              <a:spcAft>
                <a:spcPts val="0"/>
              </a:spcAft>
              <a:buNone/>
            </a:pPr>
            <a:r>
              <a:rPr lang="en" sz="1000">
                <a:solidFill>
                  <a:srgbClr val="94A3B8"/>
                </a:solidFill>
                <a:latin typeface="Calibri"/>
                <a:ea typeface="Calibri"/>
                <a:cs typeface="Calibri"/>
                <a:sym typeface="Calibri"/>
              </a:rPr>
              <a:t>Automotive voice control</a:t>
            </a:r>
            <a:endParaRPr sz="1000">
              <a:solidFill>
                <a:srgbClr val="94A3B8"/>
              </a:solidFill>
              <a:latin typeface="Calibri"/>
              <a:ea typeface="Calibri"/>
              <a:cs typeface="Calibri"/>
              <a:sym typeface="Calibri"/>
            </a:endParaRPr>
          </a:p>
          <a:p>
            <a:pPr marL="0" lvl="0" indent="0" algn="l" rtl="0">
              <a:lnSpc>
                <a:spcPct val="120000"/>
              </a:lnSpc>
              <a:spcBef>
                <a:spcPts val="0"/>
              </a:spcBef>
              <a:spcAft>
                <a:spcPts val="0"/>
              </a:spcAft>
              <a:buNone/>
            </a:pPr>
            <a:r>
              <a:rPr lang="en" sz="1000">
                <a:solidFill>
                  <a:srgbClr val="94A3B8"/>
                </a:solidFill>
                <a:latin typeface="Calibri"/>
                <a:ea typeface="Calibri"/>
                <a:cs typeface="Calibri"/>
                <a:sym typeface="Calibri"/>
              </a:rPr>
              <a:t>Virtual assistant for customer services</a:t>
            </a:r>
            <a:endParaRPr sz="1000">
              <a:solidFill>
                <a:schemeClr val="dk1"/>
              </a:solidFill>
              <a:latin typeface="Calibri"/>
              <a:ea typeface="Calibri"/>
              <a:cs typeface="Calibri"/>
              <a:sym typeface="Calibri"/>
            </a:endParaRPr>
          </a:p>
          <a:p>
            <a:pPr marL="0" lvl="0" indent="0" algn="l" rtl="0">
              <a:lnSpc>
                <a:spcPct val="120000"/>
              </a:lnSpc>
              <a:spcBef>
                <a:spcPts val="0"/>
              </a:spcBef>
              <a:spcAft>
                <a:spcPts val="0"/>
              </a:spcAft>
              <a:buClr>
                <a:schemeClr val="dk1"/>
              </a:buClr>
              <a:buSzPts val="1100"/>
              <a:buFont typeface="Arial"/>
              <a:buNone/>
            </a:pPr>
            <a:endParaRPr sz="1600">
              <a:solidFill>
                <a:srgbClr val="48CAE4"/>
              </a:solidFill>
              <a:latin typeface="Calibri"/>
              <a:ea typeface="Calibri"/>
              <a:cs typeface="Calibri"/>
              <a:sym typeface="Calibri"/>
            </a:endParaRPr>
          </a:p>
        </p:txBody>
      </p:sp>
      <p:sp>
        <p:nvSpPr>
          <p:cNvPr id="84" name="Google Shape;84;p17"/>
          <p:cNvSpPr/>
          <p:nvPr/>
        </p:nvSpPr>
        <p:spPr>
          <a:xfrm>
            <a:off x="4417575" y="3287050"/>
            <a:ext cx="3887700" cy="1554600"/>
          </a:xfrm>
          <a:prstGeom prst="rect">
            <a:avLst/>
          </a:prstGeom>
          <a:solidFill>
            <a:srgbClr val="12233D"/>
          </a:solidFill>
          <a:ln w="9525" cap="flat" cmpd="sng">
            <a:solidFill>
              <a:srgbClr val="1E3A5F"/>
            </a:solidFill>
            <a:prstDash val="solid"/>
            <a:round/>
            <a:headEnd type="none" w="sm" len="sm"/>
            <a:tailEnd type="none" w="sm" len="sm"/>
          </a:ln>
          <a:effectLst>
            <a:outerShdw blurRad="101600" dist="25400" dir="8100000" algn="bl" rotWithShape="0">
              <a:srgbClr val="000000">
                <a:alpha val="30199"/>
              </a:srgbClr>
            </a:outerShdw>
          </a:effectLst>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rgbClr val="48CAE4"/>
                </a:solidFill>
                <a:latin typeface="Calibri"/>
                <a:ea typeface="Calibri"/>
                <a:cs typeface="Calibri"/>
                <a:sym typeface="Calibri"/>
              </a:rPr>
              <a:t>              Challenges</a:t>
            </a:r>
            <a:endParaRPr sz="1600">
              <a:solidFill>
                <a:srgbClr val="48CAE4"/>
              </a:solidFill>
              <a:latin typeface="Calibri"/>
              <a:ea typeface="Calibri"/>
              <a:cs typeface="Calibri"/>
              <a:sym typeface="Calibri"/>
            </a:endParaRPr>
          </a:p>
          <a:p>
            <a:pPr marL="0" lvl="0" indent="0" algn="l" rtl="0">
              <a:lnSpc>
                <a:spcPct val="120000"/>
              </a:lnSpc>
              <a:spcBef>
                <a:spcPts val="0"/>
              </a:spcBef>
              <a:spcAft>
                <a:spcPts val="0"/>
              </a:spcAft>
              <a:buNone/>
            </a:pPr>
            <a:endParaRPr sz="1600">
              <a:solidFill>
                <a:srgbClr val="48CAE4"/>
              </a:solidFill>
              <a:latin typeface="Calibri"/>
              <a:ea typeface="Calibri"/>
              <a:cs typeface="Calibri"/>
              <a:sym typeface="Calibri"/>
            </a:endParaRPr>
          </a:p>
          <a:p>
            <a:pPr marL="0" lvl="0" indent="0" algn="l" rtl="0">
              <a:lnSpc>
                <a:spcPct val="120000"/>
              </a:lnSpc>
              <a:spcBef>
                <a:spcPts val="0"/>
              </a:spcBef>
              <a:spcAft>
                <a:spcPts val="0"/>
              </a:spcAft>
              <a:buNone/>
            </a:pPr>
            <a:r>
              <a:rPr lang="en" sz="1000">
                <a:solidFill>
                  <a:srgbClr val="94A3B8"/>
                </a:solidFill>
                <a:latin typeface="Calibri"/>
                <a:ea typeface="Calibri"/>
                <a:cs typeface="Calibri"/>
                <a:sym typeface="Calibri"/>
              </a:rPr>
              <a:t>Acoustic variability: accents, speaking rates, background noise.</a:t>
            </a:r>
            <a:endParaRPr sz="1000">
              <a:solidFill>
                <a:srgbClr val="94A3B8"/>
              </a:solidFill>
              <a:latin typeface="Calibri"/>
              <a:ea typeface="Calibri"/>
              <a:cs typeface="Calibri"/>
              <a:sym typeface="Calibri"/>
            </a:endParaRPr>
          </a:p>
          <a:p>
            <a:pPr marL="0" lvl="0" indent="0" algn="l" rtl="0">
              <a:lnSpc>
                <a:spcPct val="120000"/>
              </a:lnSpc>
              <a:spcBef>
                <a:spcPts val="0"/>
              </a:spcBef>
              <a:spcAft>
                <a:spcPts val="0"/>
              </a:spcAft>
              <a:buNone/>
            </a:pPr>
            <a:r>
              <a:rPr lang="en" sz="1000">
                <a:solidFill>
                  <a:srgbClr val="94A3B8"/>
                </a:solidFill>
                <a:latin typeface="Calibri"/>
                <a:ea typeface="Calibri"/>
                <a:cs typeface="Calibri"/>
                <a:sym typeface="Calibri"/>
              </a:rPr>
              <a:t>Aligning variable-length audio frames with shorter text targets.</a:t>
            </a:r>
            <a:endParaRPr sz="1000">
              <a:solidFill>
                <a:srgbClr val="94A3B8"/>
              </a:solidFill>
              <a:latin typeface="Calibri"/>
              <a:ea typeface="Calibri"/>
              <a:cs typeface="Calibri"/>
              <a:sym typeface="Calibri"/>
            </a:endParaRPr>
          </a:p>
          <a:p>
            <a:pPr marL="0" lvl="0" indent="0" algn="l" rtl="0">
              <a:lnSpc>
                <a:spcPct val="120000"/>
              </a:lnSpc>
              <a:spcBef>
                <a:spcPts val="0"/>
              </a:spcBef>
              <a:spcAft>
                <a:spcPts val="0"/>
              </a:spcAft>
              <a:buNone/>
            </a:pPr>
            <a:r>
              <a:rPr lang="en" sz="1000">
                <a:solidFill>
                  <a:srgbClr val="94A3B8"/>
                </a:solidFill>
                <a:latin typeface="Calibri"/>
                <a:ea typeface="Calibri"/>
                <a:cs typeface="Calibri"/>
                <a:sym typeface="Calibri"/>
              </a:rPr>
              <a:t>High data and compute requirements for training from scratch.</a:t>
            </a:r>
            <a:endParaRPr sz="1000">
              <a:solidFill>
                <a:srgbClr val="94A3B8"/>
              </a:solidFill>
              <a:latin typeface="Calibri"/>
              <a:ea typeface="Calibri"/>
              <a:cs typeface="Calibri"/>
              <a:sym typeface="Calibri"/>
            </a:endParaRPr>
          </a:p>
          <a:p>
            <a:pPr marL="0" lvl="0" indent="0" algn="l" rtl="0">
              <a:lnSpc>
                <a:spcPct val="120000"/>
              </a:lnSpc>
              <a:spcBef>
                <a:spcPts val="0"/>
              </a:spcBef>
              <a:spcAft>
                <a:spcPts val="0"/>
              </a:spcAft>
              <a:buNone/>
            </a:pPr>
            <a:r>
              <a:rPr lang="en" sz="1000">
                <a:solidFill>
                  <a:srgbClr val="94A3B8"/>
                </a:solidFill>
                <a:latin typeface="Calibri"/>
                <a:ea typeface="Calibri"/>
                <a:cs typeface="Calibri"/>
                <a:sym typeface="Calibri"/>
              </a:rPr>
              <a:t>Generalisation across unseen speakers and domains.</a:t>
            </a:r>
            <a:endParaRPr sz="1000">
              <a:solidFill>
                <a:srgbClr val="94A3B8"/>
              </a:solidFill>
              <a:latin typeface="Calibri"/>
              <a:ea typeface="Calibri"/>
              <a:cs typeface="Calibri"/>
              <a:sym typeface="Calibri"/>
            </a:endParaRPr>
          </a:p>
          <a:p>
            <a:pPr marL="0" lvl="0" indent="0" algn="l" rtl="0">
              <a:lnSpc>
                <a:spcPct val="120000"/>
              </a:lnSpc>
              <a:spcBef>
                <a:spcPts val="0"/>
              </a:spcBef>
              <a:spcAft>
                <a:spcPts val="0"/>
              </a:spcAft>
              <a:buClr>
                <a:schemeClr val="dk1"/>
              </a:buClr>
              <a:buSzPts val="1100"/>
              <a:buFont typeface="Arial"/>
              <a:buNone/>
            </a:pPr>
            <a:endParaRPr sz="1100">
              <a:solidFill>
                <a:srgbClr val="94A3B8"/>
              </a:solidFill>
              <a:latin typeface="Calibri"/>
              <a:ea typeface="Calibri"/>
              <a:cs typeface="Calibri"/>
              <a:sym typeface="Calibri"/>
            </a:endParaRPr>
          </a:p>
        </p:txBody>
      </p:sp>
      <p:pic>
        <p:nvPicPr>
          <p:cNvPr id="85" name="Google Shape;85;p17" title="microphone.png"/>
          <p:cNvPicPr preferRelativeResize="0"/>
          <p:nvPr/>
        </p:nvPicPr>
        <p:blipFill>
          <a:blip r:embed="rId3">
            <a:alphaModFix/>
          </a:blip>
          <a:stretch>
            <a:fillRect/>
          </a:stretch>
        </p:blipFill>
        <p:spPr>
          <a:xfrm>
            <a:off x="599400" y="1665725"/>
            <a:ext cx="431100" cy="431100"/>
          </a:xfrm>
          <a:prstGeom prst="rect">
            <a:avLst/>
          </a:prstGeom>
          <a:solidFill>
            <a:srgbClr val="12233D"/>
          </a:solidFill>
          <a:ln>
            <a:noFill/>
          </a:ln>
          <a:effectLst>
            <a:outerShdw blurRad="101600" dist="25400" dir="8100000" algn="bl" rotWithShape="0">
              <a:srgbClr val="000000">
                <a:alpha val="30199"/>
              </a:srgbClr>
            </a:outerShdw>
          </a:effectLst>
        </p:spPr>
      </p:pic>
      <p:pic>
        <p:nvPicPr>
          <p:cNvPr id="86" name="Google Shape;86;p17" title="brain.png"/>
          <p:cNvPicPr preferRelativeResize="0"/>
          <p:nvPr/>
        </p:nvPicPr>
        <p:blipFill>
          <a:blip r:embed="rId4">
            <a:alphaModFix/>
          </a:blip>
          <a:stretch>
            <a:fillRect/>
          </a:stretch>
        </p:blipFill>
        <p:spPr>
          <a:xfrm>
            <a:off x="4516475" y="1665723"/>
            <a:ext cx="431100" cy="431100"/>
          </a:xfrm>
          <a:prstGeom prst="rect">
            <a:avLst/>
          </a:prstGeom>
          <a:noFill/>
          <a:ln>
            <a:noFill/>
          </a:ln>
        </p:spPr>
      </p:pic>
      <p:pic>
        <p:nvPicPr>
          <p:cNvPr id="87" name="Google Shape;87;p17" title="globe.png"/>
          <p:cNvPicPr preferRelativeResize="0"/>
          <p:nvPr/>
        </p:nvPicPr>
        <p:blipFill>
          <a:blip r:embed="rId5">
            <a:alphaModFix/>
          </a:blip>
          <a:stretch>
            <a:fillRect/>
          </a:stretch>
        </p:blipFill>
        <p:spPr>
          <a:xfrm>
            <a:off x="599400" y="3372150"/>
            <a:ext cx="431100" cy="431100"/>
          </a:xfrm>
          <a:prstGeom prst="rect">
            <a:avLst/>
          </a:prstGeom>
          <a:solidFill>
            <a:srgbClr val="12233D"/>
          </a:solidFill>
          <a:ln>
            <a:noFill/>
          </a:ln>
          <a:effectLst>
            <a:outerShdw blurRad="101600" dist="25400" dir="8100000" algn="bl" rotWithShape="0">
              <a:srgbClr val="000000">
                <a:alpha val="30199"/>
              </a:srgbClr>
            </a:outerShdw>
          </a:effectLst>
        </p:spPr>
      </p:pic>
      <p:pic>
        <p:nvPicPr>
          <p:cNvPr id="88" name="Google Shape;88;p17" title="warning_triangle.png"/>
          <p:cNvPicPr preferRelativeResize="0"/>
          <p:nvPr/>
        </p:nvPicPr>
        <p:blipFill>
          <a:blip r:embed="rId6">
            <a:alphaModFix/>
          </a:blip>
          <a:stretch>
            <a:fillRect/>
          </a:stretch>
        </p:blipFill>
        <p:spPr>
          <a:xfrm>
            <a:off x="4516475" y="3334350"/>
            <a:ext cx="431100" cy="431100"/>
          </a:xfrm>
          <a:prstGeom prst="rect">
            <a:avLst/>
          </a:prstGeom>
          <a:solidFill>
            <a:srgbClr val="12233D"/>
          </a:solidFill>
          <a:ln>
            <a:noFill/>
          </a:ln>
          <a:effectLst>
            <a:outerShdw blurRad="101600" dist="25400" dir="8100000" algn="bl" rotWithShape="0">
              <a:srgbClr val="000000">
                <a:alpha val="30199"/>
              </a:srgbClr>
            </a:outerShdw>
          </a:effec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Shape 93"/>
        <p:cNvGrpSpPr/>
        <p:nvPr/>
      </p:nvGrpSpPr>
      <p:grpSpPr>
        <a:xfrm>
          <a:off x="0" y="0"/>
          <a:ext cx="0" cy="0"/>
          <a:chOff x="0" y="0"/>
          <a:chExt cx="0" cy="0"/>
        </a:xfrm>
      </p:grpSpPr>
      <p:sp>
        <p:nvSpPr>
          <p:cNvPr id="94" name="Google Shape;94;p18"/>
          <p:cNvSpPr/>
          <p:nvPr/>
        </p:nvSpPr>
        <p:spPr>
          <a:xfrm>
            <a:off x="0" y="0"/>
            <a:ext cx="9144000" cy="495300"/>
          </a:xfrm>
          <a:prstGeom prst="rect">
            <a:avLst/>
          </a:prstGeom>
          <a:solidFill>
            <a:srgbClr val="0D1B2A"/>
          </a:solidFill>
          <a:ln w="12700" cap="flat" cmpd="sng">
            <a:solidFill>
              <a:srgbClr val="0D1B2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18"/>
          <p:cNvSpPr/>
          <p:nvPr/>
        </p:nvSpPr>
        <p:spPr>
          <a:xfrm>
            <a:off x="0" y="0"/>
            <a:ext cx="201300" cy="495300"/>
          </a:xfrm>
          <a:prstGeom prst="rect">
            <a:avLst/>
          </a:prstGeom>
          <a:solidFill>
            <a:srgbClr val="00B4D8"/>
          </a:solidFill>
          <a:ln w="12700" cap="flat" cmpd="sng">
            <a:solidFill>
              <a:srgbClr val="00B4D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96;p18"/>
          <p:cNvSpPr/>
          <p:nvPr/>
        </p:nvSpPr>
        <p:spPr>
          <a:xfrm>
            <a:off x="347472" y="0"/>
            <a:ext cx="7772400" cy="4953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300"/>
              <a:buFont typeface="Calibri"/>
              <a:buNone/>
            </a:pPr>
            <a:r>
              <a:rPr lang="en" sz="1300" b="1">
                <a:solidFill>
                  <a:srgbClr val="FFFFFF"/>
                </a:solidFill>
                <a:latin typeface="Calibri"/>
                <a:ea typeface="Calibri"/>
                <a:cs typeface="Calibri"/>
                <a:sym typeface="Calibri"/>
              </a:rPr>
              <a:t>SPEECH-TO-TEXT</a:t>
            </a:r>
            <a:r>
              <a:rPr lang="en" sz="1300" b="1" i="0" u="none" strike="noStrike" cap="none">
                <a:solidFill>
                  <a:srgbClr val="FFFFFF"/>
                </a:solidFill>
                <a:latin typeface="Calibri"/>
                <a:ea typeface="Calibri"/>
                <a:cs typeface="Calibri"/>
                <a:sym typeface="Calibri"/>
              </a:rPr>
              <a:t> </a:t>
            </a:r>
            <a:r>
              <a:rPr lang="en" sz="1300" b="1">
                <a:solidFill>
                  <a:srgbClr val="FFFFFF"/>
                </a:solidFill>
                <a:latin typeface="Calibri"/>
                <a:ea typeface="Calibri"/>
                <a:cs typeface="Calibri"/>
                <a:sym typeface="Calibri"/>
              </a:rPr>
              <a:t>ARCHITECTURE</a:t>
            </a:r>
            <a:endParaRPr sz="1300" b="0" i="0" u="none" strike="noStrike" cap="none">
              <a:solidFill>
                <a:schemeClr val="dk1"/>
              </a:solidFill>
              <a:latin typeface="Calibri"/>
              <a:ea typeface="Calibri"/>
              <a:cs typeface="Calibri"/>
              <a:sym typeface="Calibri"/>
            </a:endParaRPr>
          </a:p>
        </p:txBody>
      </p:sp>
      <p:sp>
        <p:nvSpPr>
          <p:cNvPr id="97" name="Google Shape;97;p18"/>
          <p:cNvSpPr/>
          <p:nvPr/>
        </p:nvSpPr>
        <p:spPr>
          <a:xfrm>
            <a:off x="8046724" y="123825"/>
            <a:ext cx="914400" cy="2409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00B4D8"/>
              </a:buClr>
              <a:buSzPts val="900"/>
              <a:buFont typeface="Calibri"/>
              <a:buNone/>
            </a:pPr>
            <a:r>
              <a:rPr lang="en" sz="900" b="0" i="0" u="none" strike="noStrike" cap="none">
                <a:solidFill>
                  <a:srgbClr val="00B4D8"/>
                </a:solidFill>
                <a:latin typeface="Calibri"/>
                <a:ea typeface="Calibri"/>
                <a:cs typeface="Calibri"/>
                <a:sym typeface="Calibri"/>
              </a:rPr>
              <a:t>02 / 04</a:t>
            </a:r>
            <a:endParaRPr sz="900" b="0" i="0" u="none" strike="noStrike" cap="none">
              <a:solidFill>
                <a:schemeClr val="dk1"/>
              </a:solidFill>
              <a:latin typeface="Calibri"/>
              <a:ea typeface="Calibri"/>
              <a:cs typeface="Calibri"/>
              <a:sym typeface="Calibri"/>
            </a:endParaRPr>
          </a:p>
        </p:txBody>
      </p:sp>
      <p:sp>
        <p:nvSpPr>
          <p:cNvPr id="98" name="Google Shape;98;p18"/>
          <p:cNvSpPr/>
          <p:nvPr/>
        </p:nvSpPr>
        <p:spPr>
          <a:xfrm>
            <a:off x="6949450" y="3062215"/>
            <a:ext cx="1920300" cy="1703100"/>
          </a:xfrm>
          <a:prstGeom prst="rect">
            <a:avLst/>
          </a:prstGeom>
          <a:solidFill>
            <a:srgbClr val="FFF4EC"/>
          </a:solidFill>
          <a:ln w="12700" cap="flat" cmpd="sng">
            <a:solidFill>
              <a:srgbClr val="F4A261"/>
            </a:solidFill>
            <a:prstDash val="solid"/>
            <a:round/>
            <a:headEnd type="none" w="sm" len="sm"/>
            <a:tailEnd type="none" w="sm" len="sm"/>
          </a:ln>
        </p:spPr>
        <p:txBody>
          <a:bodyPr spcFirstLastPara="1" wrap="square" lIns="91425" tIns="91425" rIns="91425" bIns="91425" anchor="b" anchorCtr="0">
            <a:noAutofit/>
          </a:bodyPr>
          <a:lstStyle/>
          <a:p>
            <a:pPr marL="171450" marR="0" lvl="0" indent="-177800" algn="l" rtl="0">
              <a:lnSpc>
                <a:spcPct val="100000"/>
              </a:lnSpc>
              <a:spcBef>
                <a:spcPts val="400"/>
              </a:spcBef>
              <a:spcAft>
                <a:spcPts val="0"/>
              </a:spcAft>
              <a:buClr>
                <a:srgbClr val="1E3A4C"/>
              </a:buClr>
              <a:buSzPts val="1000"/>
              <a:buFont typeface="Calibri"/>
              <a:buChar char="•"/>
            </a:pPr>
            <a:r>
              <a:rPr lang="en" sz="1000">
                <a:solidFill>
                  <a:srgbClr val="1E3A4C"/>
                </a:solidFill>
                <a:latin typeface="Calibri"/>
                <a:ea typeface="Calibri"/>
                <a:cs typeface="Calibri"/>
                <a:sym typeface="Calibri"/>
              </a:rPr>
              <a:t>Sequence-to-sequence alignment</a:t>
            </a:r>
            <a:endParaRPr sz="1000">
              <a:solidFill>
                <a:srgbClr val="1E3A4C"/>
              </a:solidFill>
              <a:latin typeface="Calibri"/>
              <a:ea typeface="Calibri"/>
              <a:cs typeface="Calibri"/>
              <a:sym typeface="Calibri"/>
            </a:endParaRPr>
          </a:p>
          <a:p>
            <a:pPr marL="171450" marR="0" lvl="0" indent="-177800" algn="l" rtl="0">
              <a:lnSpc>
                <a:spcPct val="100000"/>
              </a:lnSpc>
              <a:spcBef>
                <a:spcPts val="400"/>
              </a:spcBef>
              <a:spcAft>
                <a:spcPts val="0"/>
              </a:spcAft>
              <a:buClr>
                <a:srgbClr val="1E3A4C"/>
              </a:buClr>
              <a:buSzPts val="1000"/>
              <a:buFont typeface="Calibri"/>
              <a:buChar char="•"/>
            </a:pPr>
            <a:r>
              <a:rPr lang="en" sz="1000">
                <a:solidFill>
                  <a:srgbClr val="1E3A4C"/>
                </a:solidFill>
                <a:latin typeface="Calibri"/>
                <a:ea typeface="Calibri"/>
                <a:cs typeface="Calibri"/>
                <a:sym typeface="Calibri"/>
              </a:rPr>
              <a:t>Complex task requires large models for decent generalisation</a:t>
            </a:r>
            <a:endParaRPr sz="1000">
              <a:solidFill>
                <a:srgbClr val="1E3A4C"/>
              </a:solidFill>
              <a:latin typeface="Calibri"/>
              <a:ea typeface="Calibri"/>
              <a:cs typeface="Calibri"/>
              <a:sym typeface="Calibri"/>
            </a:endParaRPr>
          </a:p>
          <a:p>
            <a:pPr marL="171450" marR="0" lvl="0" indent="-177800" algn="l" rtl="0">
              <a:lnSpc>
                <a:spcPct val="100000"/>
              </a:lnSpc>
              <a:spcBef>
                <a:spcPts val="400"/>
              </a:spcBef>
              <a:spcAft>
                <a:spcPts val="0"/>
              </a:spcAft>
              <a:buClr>
                <a:srgbClr val="1E3A4C"/>
              </a:buClr>
              <a:buSzPts val="1000"/>
              <a:buFont typeface="Calibri"/>
              <a:buChar char="•"/>
            </a:pPr>
            <a:r>
              <a:rPr lang="en" sz="1000">
                <a:solidFill>
                  <a:srgbClr val="1E3A4C"/>
                </a:solidFill>
                <a:latin typeface="Calibri"/>
                <a:ea typeface="Calibri"/>
                <a:cs typeface="Calibri"/>
                <a:sym typeface="Calibri"/>
              </a:rPr>
              <a:t>Limited compute for training general STT models</a:t>
            </a:r>
            <a:endParaRPr sz="1000">
              <a:solidFill>
                <a:schemeClr val="dk1"/>
              </a:solidFill>
              <a:latin typeface="Calibri"/>
              <a:ea typeface="Calibri"/>
              <a:cs typeface="Calibri"/>
              <a:sym typeface="Calibri"/>
            </a:endParaRPr>
          </a:p>
        </p:txBody>
      </p:sp>
      <p:sp>
        <p:nvSpPr>
          <p:cNvPr id="99" name="Google Shape;99;p18"/>
          <p:cNvSpPr/>
          <p:nvPr/>
        </p:nvSpPr>
        <p:spPr>
          <a:xfrm>
            <a:off x="7018010" y="3125058"/>
            <a:ext cx="1783200" cy="347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4A261"/>
              </a:buClr>
              <a:buSzPts val="1050"/>
              <a:buFont typeface="Calibri"/>
              <a:buNone/>
            </a:pPr>
            <a:r>
              <a:rPr lang="en" sz="1050" b="1" i="0" u="none" strike="noStrike" cap="none">
                <a:solidFill>
                  <a:srgbClr val="F4A261"/>
                </a:solidFill>
                <a:latin typeface="Calibri"/>
                <a:ea typeface="Calibri"/>
                <a:cs typeface="Calibri"/>
                <a:sym typeface="Calibri"/>
              </a:rPr>
              <a:t>⚠ Known Challenges</a:t>
            </a:r>
            <a:endParaRPr sz="1050" b="0" i="0" u="none" strike="noStrike" cap="none">
              <a:solidFill>
                <a:schemeClr val="dk1"/>
              </a:solidFill>
              <a:latin typeface="Calibri"/>
              <a:ea typeface="Calibri"/>
              <a:cs typeface="Calibri"/>
              <a:sym typeface="Calibri"/>
            </a:endParaRPr>
          </a:p>
        </p:txBody>
      </p:sp>
      <p:sp>
        <p:nvSpPr>
          <p:cNvPr id="100" name="Google Shape;100;p18"/>
          <p:cNvSpPr/>
          <p:nvPr/>
        </p:nvSpPr>
        <p:spPr>
          <a:xfrm>
            <a:off x="6949450" y="1200787"/>
            <a:ext cx="1920300" cy="1703100"/>
          </a:xfrm>
          <a:prstGeom prst="rect">
            <a:avLst/>
          </a:prstGeom>
          <a:solidFill>
            <a:srgbClr val="CFE2F3"/>
          </a:solidFill>
          <a:ln w="12700" cap="flat" cmpd="sng">
            <a:solidFill>
              <a:srgbClr val="0077A8"/>
            </a:solidFill>
            <a:prstDash val="solid"/>
            <a:round/>
            <a:headEnd type="none" w="sm" len="sm"/>
            <a:tailEnd type="none" w="sm" len="sm"/>
          </a:ln>
        </p:spPr>
        <p:txBody>
          <a:bodyPr spcFirstLastPara="1" wrap="square" lIns="91425" tIns="91425" rIns="91425" bIns="91425" anchor="b" anchorCtr="0">
            <a:noAutofit/>
          </a:bodyPr>
          <a:lstStyle/>
          <a:p>
            <a:pPr marL="171450" marR="0" lvl="0" indent="-177800" algn="l" rtl="0">
              <a:lnSpc>
                <a:spcPct val="100000"/>
              </a:lnSpc>
              <a:spcBef>
                <a:spcPts val="400"/>
              </a:spcBef>
              <a:spcAft>
                <a:spcPts val="0"/>
              </a:spcAft>
              <a:buClr>
                <a:srgbClr val="1E3A4C"/>
              </a:buClr>
              <a:buSzPts val="1000"/>
              <a:buFont typeface="Calibri"/>
              <a:buChar char="•"/>
            </a:pPr>
            <a:r>
              <a:rPr lang="en" sz="1000">
                <a:solidFill>
                  <a:srgbClr val="1E3A4C"/>
                </a:solidFill>
                <a:latin typeface="Calibri"/>
                <a:ea typeface="Calibri"/>
                <a:cs typeface="Calibri"/>
                <a:sym typeface="Calibri"/>
              </a:rPr>
              <a:t>Reduced dataset and model size to work with limited compute</a:t>
            </a:r>
            <a:endParaRPr sz="1000">
              <a:solidFill>
                <a:srgbClr val="1E3A4C"/>
              </a:solidFill>
              <a:latin typeface="Calibri"/>
              <a:ea typeface="Calibri"/>
              <a:cs typeface="Calibri"/>
              <a:sym typeface="Calibri"/>
            </a:endParaRPr>
          </a:p>
          <a:p>
            <a:pPr marL="171450" marR="0" lvl="0" indent="-177800" algn="l" rtl="0">
              <a:lnSpc>
                <a:spcPct val="100000"/>
              </a:lnSpc>
              <a:spcBef>
                <a:spcPts val="400"/>
              </a:spcBef>
              <a:spcAft>
                <a:spcPts val="0"/>
              </a:spcAft>
              <a:buClr>
                <a:srgbClr val="1E3A4C"/>
              </a:buClr>
              <a:buSzPts val="1000"/>
              <a:buFont typeface="Calibri"/>
              <a:buChar char="•"/>
            </a:pPr>
            <a:r>
              <a:rPr lang="en" sz="1000">
                <a:solidFill>
                  <a:srgbClr val="1E3A4C"/>
                </a:solidFill>
                <a:latin typeface="Calibri"/>
                <a:ea typeface="Calibri"/>
                <a:cs typeface="Calibri"/>
                <a:sym typeface="Calibri"/>
              </a:rPr>
              <a:t>Custom preprocessing: mel-spectrogram</a:t>
            </a:r>
            <a:endParaRPr sz="1000">
              <a:solidFill>
                <a:srgbClr val="1E3A4C"/>
              </a:solidFill>
              <a:latin typeface="Calibri"/>
              <a:ea typeface="Calibri"/>
              <a:cs typeface="Calibri"/>
              <a:sym typeface="Calibri"/>
            </a:endParaRPr>
          </a:p>
          <a:p>
            <a:pPr marL="171450" marR="0" lvl="0" indent="-177800" algn="l" rtl="0">
              <a:lnSpc>
                <a:spcPct val="100000"/>
              </a:lnSpc>
              <a:spcBef>
                <a:spcPts val="400"/>
              </a:spcBef>
              <a:spcAft>
                <a:spcPts val="0"/>
              </a:spcAft>
              <a:buClr>
                <a:srgbClr val="1E3A4C"/>
              </a:buClr>
              <a:buSzPts val="1000"/>
              <a:buFont typeface="Calibri"/>
              <a:buChar char="•"/>
            </a:pPr>
            <a:r>
              <a:rPr lang="en" sz="1000">
                <a:solidFill>
                  <a:srgbClr val="1E3A4C"/>
                </a:solidFill>
                <a:latin typeface="Calibri"/>
                <a:ea typeface="Calibri"/>
                <a:cs typeface="Calibri"/>
                <a:sym typeface="Calibri"/>
              </a:rPr>
              <a:t>Experimentation with other temporal models</a:t>
            </a:r>
            <a:endParaRPr sz="1100">
              <a:solidFill>
                <a:schemeClr val="dk1"/>
              </a:solidFill>
              <a:latin typeface="Calibri"/>
              <a:ea typeface="Calibri"/>
              <a:cs typeface="Calibri"/>
              <a:sym typeface="Calibri"/>
            </a:endParaRPr>
          </a:p>
        </p:txBody>
      </p:sp>
      <p:sp>
        <p:nvSpPr>
          <p:cNvPr id="109" name="Google Shape;109;p18"/>
          <p:cNvSpPr/>
          <p:nvPr/>
        </p:nvSpPr>
        <p:spPr>
          <a:xfrm>
            <a:off x="7086560" y="1240705"/>
            <a:ext cx="1783200" cy="347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Clr>
                <a:srgbClr val="F4A261"/>
              </a:buClr>
              <a:buSzPts val="1050"/>
              <a:buFont typeface="Calibri"/>
              <a:buNone/>
            </a:pPr>
            <a:r>
              <a:rPr lang="en" sz="1050" b="1">
                <a:solidFill>
                  <a:srgbClr val="F4A261"/>
                </a:solidFill>
                <a:latin typeface="Calibri"/>
                <a:ea typeface="Calibri"/>
                <a:cs typeface="Calibri"/>
                <a:sym typeface="Calibri"/>
              </a:rPr>
              <a:t>    Key Changes</a:t>
            </a:r>
            <a:endParaRPr sz="1050" b="0" i="0" u="none" strike="noStrike" cap="none">
              <a:solidFill>
                <a:schemeClr val="dk1"/>
              </a:solidFill>
              <a:latin typeface="Calibri"/>
              <a:ea typeface="Calibri"/>
              <a:cs typeface="Calibri"/>
              <a:sym typeface="Calibri"/>
            </a:endParaRPr>
          </a:p>
        </p:txBody>
      </p:sp>
      <p:sp>
        <p:nvSpPr>
          <p:cNvPr id="110" name="Google Shape;110;p18"/>
          <p:cNvSpPr/>
          <p:nvPr/>
        </p:nvSpPr>
        <p:spPr>
          <a:xfrm>
            <a:off x="7018000" y="1352895"/>
            <a:ext cx="128700" cy="133500"/>
          </a:xfrm>
          <a:prstGeom prst="curvedLeft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7" name="Group 6">
            <a:extLst>
              <a:ext uri="{FF2B5EF4-FFF2-40B4-BE49-F238E27FC236}">
                <a16:creationId xmlns:a16="http://schemas.microsoft.com/office/drawing/2014/main" id="{E6011A58-B230-B628-77CA-CBDC07C3230C}"/>
              </a:ext>
            </a:extLst>
          </p:cNvPr>
          <p:cNvGrpSpPr/>
          <p:nvPr/>
        </p:nvGrpSpPr>
        <p:grpSpPr>
          <a:xfrm>
            <a:off x="201175" y="805850"/>
            <a:ext cx="6528425" cy="4177800"/>
            <a:chOff x="201175" y="805850"/>
            <a:chExt cx="6528425" cy="4177800"/>
          </a:xfrm>
        </p:grpSpPr>
        <p:sp>
          <p:nvSpPr>
            <p:cNvPr id="101" name="Google Shape;101;p18"/>
            <p:cNvSpPr/>
            <p:nvPr/>
          </p:nvSpPr>
          <p:spPr>
            <a:xfrm>
              <a:off x="274325" y="2088390"/>
              <a:ext cx="6400800" cy="276900"/>
            </a:xfrm>
            <a:prstGeom prst="rect">
              <a:avLst/>
            </a:prstGeom>
            <a:solidFill>
              <a:srgbClr val="1E3A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b="1">
                  <a:solidFill>
                    <a:srgbClr val="FFFFFF"/>
                  </a:solidFill>
                  <a:latin typeface="Calibri"/>
                  <a:ea typeface="Calibri"/>
                  <a:cs typeface="Calibri"/>
                  <a:sym typeface="Calibri"/>
                </a:rPr>
                <a:t>Prediction Head (FC Layer + Log-Softmax)</a:t>
              </a:r>
              <a:endParaRPr sz="1100"/>
            </a:p>
          </p:txBody>
        </p:sp>
        <p:sp>
          <p:nvSpPr>
            <p:cNvPr id="102" name="Google Shape;102;p18"/>
            <p:cNvSpPr/>
            <p:nvPr/>
          </p:nvSpPr>
          <p:spPr>
            <a:xfrm>
              <a:off x="274325" y="3259612"/>
              <a:ext cx="6400800" cy="276900"/>
            </a:xfrm>
            <a:prstGeom prst="rect">
              <a:avLst/>
            </a:prstGeom>
            <a:solidFill>
              <a:srgbClr val="0D6A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b="1">
                  <a:solidFill>
                    <a:srgbClr val="FFFFFF"/>
                  </a:solidFill>
                  <a:latin typeface="Calibri"/>
                  <a:ea typeface="Calibri"/>
                  <a:cs typeface="Calibri"/>
                  <a:sym typeface="Calibri"/>
                </a:rPr>
                <a:t>Feature Extractor (CNN)</a:t>
              </a:r>
              <a:endParaRPr sz="1100"/>
            </a:p>
          </p:txBody>
        </p:sp>
        <p:sp>
          <p:nvSpPr>
            <p:cNvPr id="108" name="Google Shape;108;p18"/>
            <p:cNvSpPr/>
            <p:nvPr/>
          </p:nvSpPr>
          <p:spPr>
            <a:xfrm>
              <a:off x="274325" y="1193168"/>
              <a:ext cx="6400800" cy="276900"/>
            </a:xfrm>
            <a:prstGeom prst="rect">
              <a:avLst/>
            </a:prstGeom>
            <a:solidFill>
              <a:srgbClr val="F4A2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b="1">
                  <a:solidFill>
                    <a:srgbClr val="FFFFFF"/>
                  </a:solidFill>
                  <a:latin typeface="Calibri"/>
                  <a:ea typeface="Calibri"/>
                  <a:cs typeface="Calibri"/>
                  <a:sym typeface="Calibri"/>
                </a:rPr>
                <a:t>Text Output</a:t>
              </a:r>
              <a:endParaRPr sz="1100"/>
            </a:p>
          </p:txBody>
        </p:sp>
        <p:grpSp>
          <p:nvGrpSpPr>
            <p:cNvPr id="6" name="Group 5">
              <a:extLst>
                <a:ext uri="{FF2B5EF4-FFF2-40B4-BE49-F238E27FC236}">
                  <a16:creationId xmlns:a16="http://schemas.microsoft.com/office/drawing/2014/main" id="{B026A51E-8111-0CCC-FEE3-64186D25659D}"/>
                </a:ext>
              </a:extLst>
            </p:cNvPr>
            <p:cNvGrpSpPr/>
            <p:nvPr/>
          </p:nvGrpSpPr>
          <p:grpSpPr>
            <a:xfrm>
              <a:off x="274325" y="4281281"/>
              <a:ext cx="6400800" cy="654043"/>
              <a:chOff x="274325" y="4281281"/>
              <a:chExt cx="6400800" cy="654043"/>
            </a:xfrm>
          </p:grpSpPr>
          <p:sp>
            <p:nvSpPr>
              <p:cNvPr id="113" name="Google Shape;113;p18"/>
              <p:cNvSpPr/>
              <p:nvPr/>
            </p:nvSpPr>
            <p:spPr>
              <a:xfrm>
                <a:off x="274325" y="4442927"/>
                <a:ext cx="6400800" cy="347400"/>
              </a:xfrm>
              <a:prstGeom prst="rect">
                <a:avLst/>
              </a:prstGeom>
              <a:solidFill>
                <a:srgbClr val="00B4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b="1">
                    <a:solidFill>
                      <a:srgbClr val="FFFFFF"/>
                    </a:solidFill>
                    <a:latin typeface="Calibri"/>
                    <a:ea typeface="Calibri"/>
                    <a:cs typeface="Calibri"/>
                    <a:sym typeface="Calibri"/>
                  </a:rPr>
                  <a:t>Audio (LibriSpeech)</a:t>
                </a:r>
                <a:endParaRPr sz="1100"/>
              </a:p>
            </p:txBody>
          </p:sp>
          <p:sp>
            <p:nvSpPr>
              <p:cNvPr id="114" name="Google Shape;114;p18"/>
              <p:cNvSpPr/>
              <p:nvPr/>
            </p:nvSpPr>
            <p:spPr>
              <a:xfrm>
                <a:off x="2981815" y="4480647"/>
                <a:ext cx="1547195" cy="276900"/>
              </a:xfrm>
              <a:prstGeom prst="rect">
                <a:avLst/>
              </a:prstGeom>
              <a:noFill/>
              <a:ln w="1270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b="1">
                    <a:solidFill>
                      <a:srgbClr val="FFFFFF"/>
                    </a:solidFill>
                    <a:latin typeface="Calibri"/>
                    <a:ea typeface="Calibri"/>
                    <a:cs typeface="Calibri"/>
                    <a:sym typeface="Calibri"/>
                  </a:rPr>
                  <a:t>LJ Speech</a:t>
                </a:r>
                <a:endParaRPr sz="1100"/>
              </a:p>
            </p:txBody>
          </p:sp>
          <p:pic>
            <p:nvPicPr>
              <p:cNvPr id="115" name="Google Shape;115;p18"/>
              <p:cNvPicPr preferRelativeResize="0"/>
              <p:nvPr/>
            </p:nvPicPr>
            <p:blipFill>
              <a:blip r:embed="rId3">
                <a:alphaModFix/>
              </a:blip>
              <a:stretch>
                <a:fillRect/>
              </a:stretch>
            </p:blipFill>
            <p:spPr>
              <a:xfrm>
                <a:off x="4754850" y="4281281"/>
                <a:ext cx="1694491" cy="654043"/>
              </a:xfrm>
              <a:prstGeom prst="rect">
                <a:avLst/>
              </a:prstGeom>
              <a:noFill/>
              <a:ln>
                <a:noFill/>
              </a:ln>
            </p:spPr>
          </p:pic>
        </p:grpSp>
        <p:grpSp>
          <p:nvGrpSpPr>
            <p:cNvPr id="5" name="Group 4">
              <a:extLst>
                <a:ext uri="{FF2B5EF4-FFF2-40B4-BE49-F238E27FC236}">
                  <a16:creationId xmlns:a16="http://schemas.microsoft.com/office/drawing/2014/main" id="{ACB5ECCC-0EB2-6B5B-B216-3CE761713F98}"/>
                </a:ext>
              </a:extLst>
            </p:cNvPr>
            <p:cNvGrpSpPr/>
            <p:nvPr/>
          </p:nvGrpSpPr>
          <p:grpSpPr>
            <a:xfrm>
              <a:off x="274325" y="3581888"/>
              <a:ext cx="6400800" cy="654050"/>
              <a:chOff x="274325" y="3581888"/>
              <a:chExt cx="6400800" cy="654050"/>
            </a:xfrm>
          </p:grpSpPr>
          <p:sp>
            <p:nvSpPr>
              <p:cNvPr id="118" name="Google Shape;118;p18"/>
              <p:cNvSpPr/>
              <p:nvPr/>
            </p:nvSpPr>
            <p:spPr>
              <a:xfrm>
                <a:off x="274325" y="3735214"/>
                <a:ext cx="6400800" cy="347400"/>
              </a:xfrm>
              <a:prstGeom prst="rect">
                <a:avLst/>
              </a:prstGeom>
              <a:solidFill>
                <a:srgbClr val="007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b="1">
                    <a:solidFill>
                      <a:schemeClr val="lt1"/>
                    </a:solidFill>
                    <a:latin typeface="Calibri"/>
                    <a:ea typeface="Calibri"/>
                    <a:cs typeface="Calibri"/>
                    <a:sym typeface="Calibri"/>
                  </a:rPr>
                  <a:t>Preprocessing (</a:t>
                </a:r>
                <a:r>
                  <a:rPr lang="en" sz="1100" b="1">
                    <a:solidFill>
                      <a:srgbClr val="FFFFFF"/>
                    </a:solidFill>
                    <a:latin typeface="Calibri"/>
                    <a:ea typeface="Calibri"/>
                    <a:cs typeface="Calibri"/>
                    <a:sym typeface="Calibri"/>
                  </a:rPr>
                  <a:t>Spectrogram)</a:t>
                </a:r>
                <a:endParaRPr sz="1100"/>
              </a:p>
            </p:txBody>
          </p:sp>
          <p:sp>
            <p:nvSpPr>
              <p:cNvPr id="119" name="Google Shape;119;p18"/>
              <p:cNvSpPr/>
              <p:nvPr/>
            </p:nvSpPr>
            <p:spPr>
              <a:xfrm>
                <a:off x="2995075" y="3770450"/>
                <a:ext cx="1534013" cy="276900"/>
              </a:xfrm>
              <a:prstGeom prst="rect">
                <a:avLst/>
              </a:prstGeom>
              <a:noFill/>
              <a:ln w="1270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b="1" dirty="0">
                    <a:solidFill>
                      <a:srgbClr val="FFFFFF"/>
                    </a:solidFill>
                    <a:latin typeface="Calibri"/>
                    <a:ea typeface="Calibri"/>
                    <a:cs typeface="Calibri"/>
                    <a:sym typeface="Calibri"/>
                  </a:rPr>
                  <a:t>Mel-Spectrogram</a:t>
                </a:r>
                <a:endParaRPr sz="1100" dirty="0"/>
              </a:p>
            </p:txBody>
          </p:sp>
          <p:pic>
            <p:nvPicPr>
              <p:cNvPr id="120" name="Google Shape;120;p18"/>
              <p:cNvPicPr preferRelativeResize="0"/>
              <p:nvPr/>
            </p:nvPicPr>
            <p:blipFill>
              <a:blip r:embed="rId4">
                <a:alphaModFix/>
              </a:blip>
              <a:stretch>
                <a:fillRect/>
              </a:stretch>
            </p:blipFill>
            <p:spPr>
              <a:xfrm>
                <a:off x="5154851" y="3581888"/>
                <a:ext cx="894511" cy="654050"/>
              </a:xfrm>
              <a:prstGeom prst="rect">
                <a:avLst/>
              </a:prstGeom>
              <a:noFill/>
              <a:ln>
                <a:noFill/>
              </a:ln>
            </p:spPr>
          </p:pic>
        </p:grpSp>
        <p:grpSp>
          <p:nvGrpSpPr>
            <p:cNvPr id="121" name="Google Shape;121;p18"/>
            <p:cNvGrpSpPr/>
            <p:nvPr/>
          </p:nvGrpSpPr>
          <p:grpSpPr>
            <a:xfrm>
              <a:off x="274325" y="1572979"/>
              <a:ext cx="6400800" cy="412500"/>
              <a:chOff x="274325" y="1541913"/>
              <a:chExt cx="6400800" cy="412500"/>
            </a:xfrm>
          </p:grpSpPr>
          <p:sp>
            <p:nvSpPr>
              <p:cNvPr id="122" name="Google Shape;122;p18"/>
              <p:cNvSpPr/>
              <p:nvPr/>
            </p:nvSpPr>
            <p:spPr>
              <a:xfrm>
                <a:off x="274325" y="1541913"/>
                <a:ext cx="6400800" cy="412500"/>
              </a:xfrm>
              <a:prstGeom prst="rect">
                <a:avLst/>
              </a:prstGeom>
              <a:solidFill>
                <a:srgbClr val="C47A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b="1">
                    <a:solidFill>
                      <a:srgbClr val="FFFFFF"/>
                    </a:solidFill>
                    <a:latin typeface="Calibri"/>
                    <a:ea typeface="Calibri"/>
                    <a:cs typeface="Calibri"/>
                    <a:sym typeface="Calibri"/>
                  </a:rPr>
                  <a:t>CTC Decoder</a:t>
                </a:r>
                <a:endParaRPr sz="1100"/>
              </a:p>
            </p:txBody>
          </p:sp>
          <p:sp>
            <p:nvSpPr>
              <p:cNvPr id="123" name="Google Shape;123;p18"/>
              <p:cNvSpPr/>
              <p:nvPr/>
            </p:nvSpPr>
            <p:spPr>
              <a:xfrm>
                <a:off x="1226932" y="1615873"/>
                <a:ext cx="1442700" cy="276900"/>
              </a:xfrm>
              <a:prstGeom prst="rect">
                <a:avLst/>
              </a:prstGeom>
              <a:noFill/>
              <a:ln w="1270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b="1">
                    <a:solidFill>
                      <a:srgbClr val="FFFFFF"/>
                    </a:solidFill>
                    <a:latin typeface="Calibri"/>
                    <a:ea typeface="Calibri"/>
                    <a:cs typeface="Calibri"/>
                    <a:sym typeface="Calibri"/>
                  </a:rPr>
                  <a:t>Greedy/Beam+LM</a:t>
                </a:r>
                <a:endParaRPr sz="1100"/>
              </a:p>
            </p:txBody>
          </p:sp>
        </p:grpSp>
        <p:grpSp>
          <p:nvGrpSpPr>
            <p:cNvPr id="4" name="Group 3">
              <a:extLst>
                <a:ext uri="{FF2B5EF4-FFF2-40B4-BE49-F238E27FC236}">
                  <a16:creationId xmlns:a16="http://schemas.microsoft.com/office/drawing/2014/main" id="{DE144C22-56C5-694C-3330-13F79C4717D4}"/>
                </a:ext>
              </a:extLst>
            </p:cNvPr>
            <p:cNvGrpSpPr/>
            <p:nvPr/>
          </p:nvGrpSpPr>
          <p:grpSpPr>
            <a:xfrm>
              <a:off x="274325" y="2468201"/>
              <a:ext cx="6400800" cy="688500"/>
              <a:chOff x="274325" y="2468201"/>
              <a:chExt cx="6400800" cy="688500"/>
            </a:xfrm>
          </p:grpSpPr>
          <p:sp>
            <p:nvSpPr>
              <p:cNvPr id="104" name="Google Shape;104;p18"/>
              <p:cNvSpPr/>
              <p:nvPr/>
            </p:nvSpPr>
            <p:spPr>
              <a:xfrm>
                <a:off x="274325" y="2468201"/>
                <a:ext cx="6400800" cy="688500"/>
              </a:xfrm>
              <a:prstGeom prst="rect">
                <a:avLst/>
              </a:prstGeom>
              <a:solidFill>
                <a:srgbClr val="0B4F6C"/>
              </a:solid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b="1">
                    <a:solidFill>
                      <a:srgbClr val="FFFFFF"/>
                    </a:solidFill>
                    <a:latin typeface="Calibri"/>
                    <a:ea typeface="Calibri"/>
                    <a:cs typeface="Calibri"/>
                    <a:sym typeface="Calibri"/>
                  </a:rPr>
                  <a:t>Temporal Model</a:t>
                </a:r>
                <a:endParaRPr sz="1100"/>
              </a:p>
            </p:txBody>
          </p:sp>
          <p:sp>
            <p:nvSpPr>
              <p:cNvPr id="105" name="Google Shape;105;p18"/>
              <p:cNvSpPr/>
              <p:nvPr/>
            </p:nvSpPr>
            <p:spPr>
              <a:xfrm>
                <a:off x="373425" y="2816756"/>
                <a:ext cx="2041500" cy="276900"/>
              </a:xfrm>
              <a:prstGeom prst="rect">
                <a:avLst/>
              </a:prstGeom>
              <a:noFill/>
              <a:ln w="1270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b="1">
                    <a:solidFill>
                      <a:srgbClr val="FFFFFF"/>
                    </a:solidFill>
                    <a:latin typeface="Calibri"/>
                    <a:ea typeface="Calibri"/>
                    <a:cs typeface="Calibri"/>
                    <a:sym typeface="Calibri"/>
                  </a:rPr>
                  <a:t>GRU + Look Ahead Conv/BiGRU</a:t>
                </a:r>
                <a:endParaRPr sz="1100"/>
              </a:p>
            </p:txBody>
          </p:sp>
          <p:sp>
            <p:nvSpPr>
              <p:cNvPr id="106" name="Google Shape;106;p18"/>
              <p:cNvSpPr/>
              <p:nvPr/>
            </p:nvSpPr>
            <p:spPr>
              <a:xfrm>
                <a:off x="2997526" y="2811074"/>
                <a:ext cx="1531168" cy="276900"/>
              </a:xfrm>
              <a:prstGeom prst="rect">
                <a:avLst/>
              </a:prstGeom>
              <a:noFill/>
              <a:ln w="1270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b="1" dirty="0">
                    <a:solidFill>
                      <a:srgbClr val="FFFFFF"/>
                    </a:solidFill>
                    <a:latin typeface="Calibri"/>
                    <a:ea typeface="Calibri"/>
                    <a:cs typeface="Calibri"/>
                    <a:sym typeface="Calibri"/>
                  </a:rPr>
                  <a:t>LSTM</a:t>
                </a:r>
                <a:endParaRPr sz="1100" dirty="0"/>
              </a:p>
            </p:txBody>
          </p:sp>
          <p:sp>
            <p:nvSpPr>
              <p:cNvPr id="107" name="Google Shape;107;p18"/>
              <p:cNvSpPr/>
              <p:nvPr/>
            </p:nvSpPr>
            <p:spPr>
              <a:xfrm>
                <a:off x="4950761" y="2811074"/>
                <a:ext cx="1534086" cy="276900"/>
              </a:xfrm>
              <a:prstGeom prst="rect">
                <a:avLst/>
              </a:prstGeom>
              <a:noFill/>
              <a:ln w="1270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b="1">
                    <a:solidFill>
                      <a:srgbClr val="FFFFFF"/>
                    </a:solidFill>
                    <a:latin typeface="Calibri"/>
                    <a:ea typeface="Calibri"/>
                    <a:cs typeface="Calibri"/>
                    <a:sym typeface="Calibri"/>
                  </a:rPr>
                  <a:t>Conformer</a:t>
                </a:r>
                <a:endParaRPr sz="1100"/>
              </a:p>
            </p:txBody>
          </p:sp>
          <p:sp>
            <p:nvSpPr>
              <p:cNvPr id="2" name="TextBox 1">
                <a:extLst>
                  <a:ext uri="{FF2B5EF4-FFF2-40B4-BE49-F238E27FC236}">
                    <a16:creationId xmlns:a16="http://schemas.microsoft.com/office/drawing/2014/main" id="{0C3E7DEC-EEFE-3ACE-A25F-A1E71603C741}"/>
                  </a:ext>
                </a:extLst>
              </p:cNvPr>
              <p:cNvSpPr txBox="1"/>
              <p:nvPr/>
            </p:nvSpPr>
            <p:spPr>
              <a:xfrm>
                <a:off x="2511138" y="2785129"/>
                <a:ext cx="343364" cy="307777"/>
              </a:xfrm>
              <a:prstGeom prst="rect">
                <a:avLst/>
              </a:prstGeom>
              <a:noFill/>
            </p:spPr>
            <p:txBody>
              <a:bodyPr wrap="none" rtlCol="0">
                <a:spAutoFit/>
              </a:bodyPr>
              <a:lstStyle/>
              <a:p>
                <a:r>
                  <a:rPr lang="en-SG" b="1" dirty="0">
                    <a:solidFill>
                      <a:schemeClr val="bg1"/>
                    </a:solidFill>
                    <a:latin typeface="Calibri" panose="020F0502020204030204" pitchFamily="34" charset="0"/>
                    <a:ea typeface="Calibri" panose="020F0502020204030204" pitchFamily="34" charset="0"/>
                    <a:cs typeface="Calibri" panose="020F0502020204030204" pitchFamily="34" charset="0"/>
                  </a:rPr>
                  <a:t>or</a:t>
                </a:r>
              </a:p>
            </p:txBody>
          </p:sp>
          <p:sp>
            <p:nvSpPr>
              <p:cNvPr id="3" name="TextBox 2">
                <a:extLst>
                  <a:ext uri="{FF2B5EF4-FFF2-40B4-BE49-F238E27FC236}">
                    <a16:creationId xmlns:a16="http://schemas.microsoft.com/office/drawing/2014/main" id="{1673552B-1012-FC82-62B9-52A3FE3A3696}"/>
                  </a:ext>
                </a:extLst>
              </p:cNvPr>
              <p:cNvSpPr txBox="1"/>
              <p:nvPr/>
            </p:nvSpPr>
            <p:spPr>
              <a:xfrm>
                <a:off x="4577795" y="2785130"/>
                <a:ext cx="343364" cy="307777"/>
              </a:xfrm>
              <a:prstGeom prst="rect">
                <a:avLst/>
              </a:prstGeom>
              <a:noFill/>
            </p:spPr>
            <p:txBody>
              <a:bodyPr wrap="none" rtlCol="0">
                <a:spAutoFit/>
              </a:bodyPr>
              <a:lstStyle/>
              <a:p>
                <a:r>
                  <a:rPr lang="en-SG" b="1" dirty="0">
                    <a:solidFill>
                      <a:schemeClr val="bg1"/>
                    </a:solidFill>
                    <a:latin typeface="Calibri" panose="020F0502020204030204" pitchFamily="34" charset="0"/>
                    <a:ea typeface="Calibri" panose="020F0502020204030204" pitchFamily="34" charset="0"/>
                    <a:cs typeface="Calibri" panose="020F0502020204030204" pitchFamily="34" charset="0"/>
                  </a:rPr>
                  <a:t>or</a:t>
                </a:r>
              </a:p>
            </p:txBody>
          </p:sp>
        </p:grpSp>
        <p:sp>
          <p:nvSpPr>
            <p:cNvPr id="124" name="Google Shape;124;p18"/>
            <p:cNvSpPr/>
            <p:nvPr/>
          </p:nvSpPr>
          <p:spPr>
            <a:xfrm>
              <a:off x="2855400" y="805850"/>
              <a:ext cx="3874200" cy="4177800"/>
            </a:xfrm>
            <a:prstGeom prst="rect">
              <a:avLst/>
            </a:prstGeom>
            <a:noFill/>
            <a:ln w="28575" cap="flat" cmpd="sng">
              <a:solidFill>
                <a:srgbClr val="741B47"/>
              </a:solidFill>
              <a:prstDash val="dash"/>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741B47"/>
                  </a:solidFill>
                  <a:latin typeface="Calibri"/>
                  <a:ea typeface="Calibri"/>
                  <a:cs typeface="Calibri"/>
                  <a:sym typeface="Calibri"/>
                </a:rPr>
                <a:t>Our Adaptations</a:t>
              </a:r>
              <a:endParaRPr b="1">
                <a:solidFill>
                  <a:srgbClr val="741B47"/>
                </a:solidFill>
                <a:latin typeface="Calibri"/>
                <a:ea typeface="Calibri"/>
                <a:cs typeface="Calibri"/>
                <a:sym typeface="Calibri"/>
              </a:endParaRPr>
            </a:p>
          </p:txBody>
        </p:sp>
        <p:sp>
          <p:nvSpPr>
            <p:cNvPr id="125" name="Google Shape;125;p18"/>
            <p:cNvSpPr/>
            <p:nvPr/>
          </p:nvSpPr>
          <p:spPr>
            <a:xfrm>
              <a:off x="201175" y="805850"/>
              <a:ext cx="2591400" cy="4177800"/>
            </a:xfrm>
            <a:prstGeom prst="rect">
              <a:avLst/>
            </a:prstGeom>
            <a:noFill/>
            <a:ln w="12700" cap="flat" cmpd="sng">
              <a:solidFill>
                <a:srgbClr val="0D1B2A"/>
              </a:solidFill>
              <a:prstDash val="dash"/>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r>
                <a:rPr lang="en" b="1">
                  <a:latin typeface="Calibri"/>
                  <a:ea typeface="Calibri"/>
                  <a:cs typeface="Calibri"/>
                  <a:sym typeface="Calibri"/>
                </a:rPr>
                <a:t>DeepSpeech2</a:t>
              </a:r>
              <a:endParaRPr b="1">
                <a:latin typeface="Calibri"/>
                <a:ea typeface="Calibri"/>
                <a:cs typeface="Calibri"/>
                <a:sym typeface="Calibri"/>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Shape 130"/>
        <p:cNvGrpSpPr/>
        <p:nvPr/>
      </p:nvGrpSpPr>
      <p:grpSpPr>
        <a:xfrm>
          <a:off x="0" y="0"/>
          <a:ext cx="0" cy="0"/>
          <a:chOff x="0" y="0"/>
          <a:chExt cx="0" cy="0"/>
        </a:xfrm>
      </p:grpSpPr>
      <p:sp>
        <p:nvSpPr>
          <p:cNvPr id="131" name="Google Shape;131;p19"/>
          <p:cNvSpPr/>
          <p:nvPr/>
        </p:nvSpPr>
        <p:spPr>
          <a:xfrm>
            <a:off x="0" y="0"/>
            <a:ext cx="9144000" cy="484500"/>
          </a:xfrm>
          <a:prstGeom prst="rect">
            <a:avLst/>
          </a:prstGeom>
          <a:solidFill>
            <a:srgbClr val="0D1B2A"/>
          </a:solidFill>
          <a:ln w="12700" cap="flat" cmpd="sng">
            <a:solidFill>
              <a:srgbClr val="0D1B2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19"/>
          <p:cNvSpPr/>
          <p:nvPr/>
        </p:nvSpPr>
        <p:spPr>
          <a:xfrm>
            <a:off x="0" y="0"/>
            <a:ext cx="201300" cy="484500"/>
          </a:xfrm>
          <a:prstGeom prst="rect">
            <a:avLst/>
          </a:prstGeom>
          <a:solidFill>
            <a:srgbClr val="00B4D8"/>
          </a:solidFill>
          <a:ln w="12700" cap="flat" cmpd="sng">
            <a:solidFill>
              <a:srgbClr val="00B4D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19"/>
          <p:cNvSpPr/>
          <p:nvPr/>
        </p:nvSpPr>
        <p:spPr>
          <a:xfrm>
            <a:off x="347472" y="0"/>
            <a:ext cx="7772400" cy="484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300"/>
              <a:buFont typeface="Calibri"/>
              <a:buNone/>
            </a:pPr>
            <a:r>
              <a:rPr lang="en" sz="1300" b="1" i="0" u="none" strike="noStrike" cap="none">
                <a:solidFill>
                  <a:srgbClr val="FFFFFF"/>
                </a:solidFill>
                <a:latin typeface="Calibri"/>
                <a:ea typeface="Calibri"/>
                <a:cs typeface="Calibri"/>
                <a:sym typeface="Calibri"/>
              </a:rPr>
              <a:t>ANALYSIS — DATASET, TRAINING &amp; PERFORMANCE</a:t>
            </a:r>
            <a:endParaRPr sz="1300" b="0" i="0" u="none" strike="noStrike" cap="none">
              <a:solidFill>
                <a:schemeClr val="dk1"/>
              </a:solidFill>
              <a:latin typeface="Calibri"/>
              <a:ea typeface="Calibri"/>
              <a:cs typeface="Calibri"/>
              <a:sym typeface="Calibri"/>
            </a:endParaRPr>
          </a:p>
        </p:txBody>
      </p:sp>
      <p:sp>
        <p:nvSpPr>
          <p:cNvPr id="134" name="Google Shape;134;p19"/>
          <p:cNvSpPr/>
          <p:nvPr/>
        </p:nvSpPr>
        <p:spPr>
          <a:xfrm>
            <a:off x="8056220" y="82230"/>
            <a:ext cx="914400" cy="3201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00B4D8"/>
              </a:buClr>
              <a:buSzPts val="900"/>
              <a:buFont typeface="Calibri"/>
              <a:buNone/>
            </a:pPr>
            <a:r>
              <a:rPr lang="en" sz="900" b="0" i="0" u="none" strike="noStrike" cap="none">
                <a:solidFill>
                  <a:srgbClr val="00B4D8"/>
                </a:solidFill>
                <a:latin typeface="Calibri"/>
                <a:ea typeface="Calibri"/>
                <a:cs typeface="Calibri"/>
                <a:sym typeface="Calibri"/>
              </a:rPr>
              <a:t>03 / 04</a:t>
            </a:r>
            <a:endParaRPr sz="900" b="0" i="0" u="none" strike="noStrike" cap="none">
              <a:solidFill>
                <a:schemeClr val="dk1"/>
              </a:solidFill>
              <a:latin typeface="Calibri"/>
              <a:ea typeface="Calibri"/>
              <a:cs typeface="Calibri"/>
              <a:sym typeface="Calibri"/>
            </a:endParaRPr>
          </a:p>
        </p:txBody>
      </p:sp>
      <p:sp>
        <p:nvSpPr>
          <p:cNvPr id="135" name="Google Shape;135;p19"/>
          <p:cNvSpPr/>
          <p:nvPr/>
        </p:nvSpPr>
        <p:spPr>
          <a:xfrm>
            <a:off x="274325" y="804675"/>
            <a:ext cx="2387700" cy="1285500"/>
          </a:xfrm>
          <a:prstGeom prst="rect">
            <a:avLst/>
          </a:prstGeom>
          <a:solidFill>
            <a:srgbClr val="EBF4FA"/>
          </a:solidFill>
          <a:ln w="12700" cap="flat" cmpd="sng">
            <a:solidFill>
              <a:srgbClr val="0077A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136;p19"/>
          <p:cNvSpPr/>
          <p:nvPr/>
        </p:nvSpPr>
        <p:spPr>
          <a:xfrm>
            <a:off x="957424" y="841300"/>
            <a:ext cx="10215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B4D8"/>
              </a:buClr>
              <a:buSzPts val="1100"/>
              <a:buFont typeface="Calibri"/>
              <a:buNone/>
            </a:pPr>
            <a:r>
              <a:rPr lang="en" sz="1100" b="1">
                <a:solidFill>
                  <a:srgbClr val="0077A8"/>
                </a:solidFill>
                <a:latin typeface="Calibri"/>
                <a:ea typeface="Calibri"/>
                <a:cs typeface="Calibri"/>
                <a:sym typeface="Calibri"/>
              </a:rPr>
              <a:t>Dataset &amp; Split</a:t>
            </a:r>
            <a:endParaRPr sz="1100" b="0" i="0" u="none" strike="noStrike" cap="none">
              <a:solidFill>
                <a:schemeClr val="dk1"/>
              </a:solidFill>
              <a:latin typeface="Calibri"/>
              <a:ea typeface="Calibri"/>
              <a:cs typeface="Calibri"/>
              <a:sym typeface="Calibri"/>
            </a:endParaRPr>
          </a:p>
        </p:txBody>
      </p:sp>
      <p:sp>
        <p:nvSpPr>
          <p:cNvPr id="137" name="Google Shape;137;p19"/>
          <p:cNvSpPr/>
          <p:nvPr/>
        </p:nvSpPr>
        <p:spPr>
          <a:xfrm>
            <a:off x="384050" y="1143000"/>
            <a:ext cx="2194200" cy="777300"/>
          </a:xfrm>
          <a:prstGeom prst="rect">
            <a:avLst/>
          </a:prstGeom>
          <a:noFill/>
          <a:ln>
            <a:noFill/>
          </a:ln>
        </p:spPr>
        <p:txBody>
          <a:bodyPr spcFirstLastPara="1" wrap="square" lIns="0" tIns="0" rIns="0" bIns="0" anchor="t" anchorCtr="0">
            <a:noAutofit/>
          </a:bodyPr>
          <a:lstStyle/>
          <a:p>
            <a:pPr marL="114300" marR="0" lvl="0" indent="-123825" algn="l" rtl="0">
              <a:spcBef>
                <a:spcPts val="0"/>
              </a:spcBef>
              <a:spcAft>
                <a:spcPts val="0"/>
              </a:spcAft>
              <a:buClr>
                <a:schemeClr val="dk1"/>
              </a:buClr>
              <a:buSzPts val="1050"/>
              <a:buFont typeface="Calibri"/>
              <a:buChar char="•"/>
            </a:pPr>
            <a:r>
              <a:rPr lang="en" sz="1050">
                <a:solidFill>
                  <a:schemeClr val="dk1"/>
                </a:solidFill>
                <a:latin typeface="Calibri"/>
                <a:ea typeface="Calibri"/>
                <a:cs typeface="Calibri"/>
                <a:sym typeface="Calibri"/>
              </a:rPr>
              <a:t>LJ Speech 24h single speaker</a:t>
            </a:r>
            <a:r>
              <a:rPr lang="en" sz="1050" b="0" i="0" u="none" strike="noStrike" cap="none">
                <a:solidFill>
                  <a:schemeClr val="dk1"/>
                </a:solidFill>
                <a:latin typeface="Calibri"/>
                <a:ea typeface="Calibri"/>
                <a:cs typeface="Calibri"/>
                <a:sym typeface="Calibri"/>
              </a:rPr>
              <a:t> subset</a:t>
            </a:r>
            <a:endParaRPr sz="1050" b="0" i="0" u="none" strike="noStrike" cap="none">
              <a:solidFill>
                <a:schemeClr val="dk1"/>
              </a:solidFill>
              <a:latin typeface="Calibri"/>
              <a:ea typeface="Calibri"/>
              <a:cs typeface="Calibri"/>
              <a:sym typeface="Calibri"/>
            </a:endParaRPr>
          </a:p>
          <a:p>
            <a:pPr marL="114300" marR="0" lvl="0" indent="-123825" algn="l" rtl="0">
              <a:spcBef>
                <a:spcPts val="300"/>
              </a:spcBef>
              <a:spcAft>
                <a:spcPts val="0"/>
              </a:spcAft>
              <a:buClr>
                <a:schemeClr val="dk1"/>
              </a:buClr>
              <a:buSzPts val="1050"/>
              <a:buFont typeface="Calibri"/>
              <a:buChar char="•"/>
            </a:pPr>
            <a:r>
              <a:rPr lang="en" sz="1050" b="0" i="0" u="none" strike="noStrike" cap="none">
                <a:solidFill>
                  <a:schemeClr val="dk1"/>
                </a:solidFill>
                <a:latin typeface="Calibri"/>
                <a:ea typeface="Calibri"/>
                <a:cs typeface="Calibri"/>
                <a:sym typeface="Calibri"/>
              </a:rPr>
              <a:t>80 / 10 / 10  train / val / test</a:t>
            </a:r>
            <a:endParaRPr sz="1050" b="0" i="0" u="none" strike="noStrike" cap="none">
              <a:solidFill>
                <a:schemeClr val="dk1"/>
              </a:solidFill>
              <a:latin typeface="Calibri"/>
              <a:ea typeface="Calibri"/>
              <a:cs typeface="Calibri"/>
              <a:sym typeface="Calibri"/>
            </a:endParaRPr>
          </a:p>
          <a:p>
            <a:pPr marL="114300" marR="0" lvl="0" indent="-123825" algn="l" rtl="0">
              <a:spcBef>
                <a:spcPts val="300"/>
              </a:spcBef>
              <a:spcAft>
                <a:spcPts val="0"/>
              </a:spcAft>
              <a:buClr>
                <a:schemeClr val="dk1"/>
              </a:buClr>
              <a:buSzPts val="1050"/>
              <a:buFont typeface="Calibri"/>
              <a:buChar char="•"/>
            </a:pPr>
            <a:r>
              <a:rPr lang="en" sz="1050">
                <a:solidFill>
                  <a:schemeClr val="dk1"/>
                </a:solidFill>
                <a:latin typeface="Calibri"/>
                <a:ea typeface="Calibri"/>
                <a:cs typeface="Calibri"/>
                <a:sym typeface="Calibri"/>
              </a:rPr>
              <a:t>22.5 </a:t>
            </a:r>
            <a:r>
              <a:rPr lang="en" sz="1050" b="0" i="0" u="none" strike="noStrike" cap="none">
                <a:solidFill>
                  <a:schemeClr val="dk1"/>
                </a:solidFill>
                <a:latin typeface="Calibri"/>
                <a:ea typeface="Calibri"/>
                <a:cs typeface="Calibri"/>
                <a:sym typeface="Calibri"/>
              </a:rPr>
              <a:t>kHz mono WAV, normalized</a:t>
            </a:r>
            <a:endParaRPr sz="1050" b="0" i="0" u="none" strike="noStrike" cap="none">
              <a:solidFill>
                <a:schemeClr val="dk1"/>
              </a:solidFill>
              <a:latin typeface="Calibri"/>
              <a:ea typeface="Calibri"/>
              <a:cs typeface="Calibri"/>
              <a:sym typeface="Calibri"/>
            </a:endParaRPr>
          </a:p>
          <a:p>
            <a:pPr marL="114300" marR="0" lvl="0" indent="-123825" algn="l" rtl="0">
              <a:spcBef>
                <a:spcPts val="300"/>
              </a:spcBef>
              <a:spcAft>
                <a:spcPts val="0"/>
              </a:spcAft>
              <a:buClr>
                <a:schemeClr val="dk1"/>
              </a:buClr>
              <a:buSzPts val="1050"/>
              <a:buFont typeface="Calibri"/>
              <a:buChar char="•"/>
            </a:pPr>
            <a:r>
              <a:rPr lang="en" sz="1050">
                <a:solidFill>
                  <a:schemeClr val="dk1"/>
                </a:solidFill>
                <a:latin typeface="Calibri"/>
                <a:ea typeface="Calibri"/>
                <a:cs typeface="Calibri"/>
                <a:sym typeface="Calibri"/>
              </a:rPr>
              <a:t>80-bin </a:t>
            </a:r>
            <a:r>
              <a:rPr lang="en" sz="1050" b="0" i="0" u="none" strike="noStrike" cap="none">
                <a:solidFill>
                  <a:schemeClr val="dk1"/>
                </a:solidFill>
                <a:latin typeface="Calibri"/>
                <a:ea typeface="Calibri"/>
                <a:cs typeface="Calibri"/>
                <a:sym typeface="Calibri"/>
              </a:rPr>
              <a:t>Log-mel spectrogram features</a:t>
            </a:r>
            <a:endParaRPr sz="1050" b="0" i="0" u="none" strike="noStrike" cap="none">
              <a:solidFill>
                <a:schemeClr val="dk1"/>
              </a:solidFill>
              <a:latin typeface="Calibri"/>
              <a:ea typeface="Calibri"/>
              <a:cs typeface="Calibri"/>
              <a:sym typeface="Calibri"/>
            </a:endParaRPr>
          </a:p>
        </p:txBody>
      </p:sp>
      <p:sp>
        <p:nvSpPr>
          <p:cNvPr id="138" name="Google Shape;138;p19"/>
          <p:cNvSpPr/>
          <p:nvPr/>
        </p:nvSpPr>
        <p:spPr>
          <a:xfrm>
            <a:off x="2839275" y="811525"/>
            <a:ext cx="2964900" cy="1285500"/>
          </a:xfrm>
          <a:prstGeom prst="rect">
            <a:avLst/>
          </a:prstGeom>
          <a:solidFill>
            <a:srgbClr val="EBF4FA"/>
          </a:solidFill>
          <a:ln w="12700" cap="flat" cmpd="sng">
            <a:solidFill>
              <a:srgbClr val="0077A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19"/>
          <p:cNvSpPr/>
          <p:nvPr/>
        </p:nvSpPr>
        <p:spPr>
          <a:xfrm>
            <a:off x="3810974" y="841300"/>
            <a:ext cx="10215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77A8"/>
              </a:buClr>
              <a:buSzPts val="1100"/>
              <a:buFont typeface="Calibri"/>
              <a:buNone/>
            </a:pPr>
            <a:r>
              <a:rPr lang="en" sz="1100" b="1" i="0" u="none" strike="noStrike" cap="none">
                <a:solidFill>
                  <a:srgbClr val="0077A8"/>
                </a:solidFill>
                <a:latin typeface="Calibri"/>
                <a:ea typeface="Calibri"/>
                <a:cs typeface="Calibri"/>
                <a:sym typeface="Calibri"/>
              </a:rPr>
              <a:t>Training Process</a:t>
            </a:r>
            <a:endParaRPr sz="1100" b="0" i="0" u="none" strike="noStrike" cap="none">
              <a:solidFill>
                <a:schemeClr val="dk1"/>
              </a:solidFill>
              <a:latin typeface="Calibri"/>
              <a:ea typeface="Calibri"/>
              <a:cs typeface="Calibri"/>
              <a:sym typeface="Calibri"/>
            </a:endParaRPr>
          </a:p>
        </p:txBody>
      </p:sp>
      <p:sp>
        <p:nvSpPr>
          <p:cNvPr id="140" name="Google Shape;140;p19"/>
          <p:cNvSpPr/>
          <p:nvPr/>
        </p:nvSpPr>
        <p:spPr>
          <a:xfrm>
            <a:off x="2868175" y="1453920"/>
            <a:ext cx="1374600" cy="543900"/>
          </a:xfrm>
          <a:prstGeom prst="rect">
            <a:avLst/>
          </a:prstGeom>
          <a:noFill/>
          <a:ln>
            <a:noFill/>
          </a:ln>
        </p:spPr>
        <p:txBody>
          <a:bodyPr spcFirstLastPara="1" wrap="square" lIns="0" tIns="0" rIns="0" bIns="0" anchor="t" anchorCtr="0">
            <a:noAutofit/>
          </a:bodyPr>
          <a:lstStyle/>
          <a:p>
            <a:pPr marL="114300" marR="0" lvl="0" indent="-123825" algn="l" rtl="0">
              <a:spcBef>
                <a:spcPts val="0"/>
              </a:spcBef>
              <a:spcAft>
                <a:spcPts val="0"/>
              </a:spcAft>
              <a:buClr>
                <a:srgbClr val="1E3A4C"/>
              </a:buClr>
              <a:buSzPts val="1050"/>
              <a:buFont typeface="Calibri"/>
              <a:buChar char="•"/>
            </a:pPr>
            <a:r>
              <a:rPr lang="en" sz="1050" b="1">
                <a:solidFill>
                  <a:srgbClr val="1E3A4C"/>
                </a:solidFill>
                <a:latin typeface="Calibri"/>
                <a:ea typeface="Calibri"/>
                <a:cs typeface="Calibri"/>
                <a:sym typeface="Calibri"/>
              </a:rPr>
              <a:t>Optimizer:</a:t>
            </a:r>
            <a:r>
              <a:rPr lang="en" sz="1050">
                <a:solidFill>
                  <a:srgbClr val="1E3A4C"/>
                </a:solidFill>
                <a:latin typeface="Calibri"/>
                <a:ea typeface="Calibri"/>
                <a:cs typeface="Calibri"/>
                <a:sym typeface="Calibri"/>
              </a:rPr>
              <a:t> Adam</a:t>
            </a:r>
            <a:endParaRPr sz="1050">
              <a:solidFill>
                <a:srgbClr val="1E3A4C"/>
              </a:solidFill>
              <a:latin typeface="Calibri"/>
              <a:ea typeface="Calibri"/>
              <a:cs typeface="Calibri"/>
              <a:sym typeface="Calibri"/>
            </a:endParaRPr>
          </a:p>
          <a:p>
            <a:pPr marL="114300" marR="0" lvl="0" indent="-123825" algn="l" rtl="0">
              <a:spcBef>
                <a:spcPts val="0"/>
              </a:spcBef>
              <a:spcAft>
                <a:spcPts val="0"/>
              </a:spcAft>
              <a:buClr>
                <a:srgbClr val="1E3A4C"/>
              </a:buClr>
              <a:buSzPts val="1050"/>
              <a:buFont typeface="Calibri"/>
              <a:buChar char="•"/>
            </a:pPr>
            <a:r>
              <a:rPr lang="en" sz="1050" b="1">
                <a:solidFill>
                  <a:srgbClr val="1E3A4C"/>
                </a:solidFill>
                <a:latin typeface="Calibri"/>
                <a:ea typeface="Calibri"/>
                <a:cs typeface="Calibri"/>
                <a:sym typeface="Calibri"/>
              </a:rPr>
              <a:t>Scheduler:</a:t>
            </a:r>
            <a:r>
              <a:rPr lang="en" sz="1050" b="0" i="0" u="none" strike="noStrike" cap="none">
                <a:solidFill>
                  <a:srgbClr val="1E3A4C"/>
                </a:solidFill>
                <a:latin typeface="Calibri"/>
                <a:ea typeface="Calibri"/>
                <a:cs typeface="Calibri"/>
                <a:sym typeface="Calibri"/>
              </a:rPr>
              <a:t> </a:t>
            </a:r>
            <a:r>
              <a:rPr lang="en" sz="1050">
                <a:solidFill>
                  <a:srgbClr val="1E3A4C"/>
                </a:solidFill>
                <a:latin typeface="Calibri"/>
                <a:ea typeface="Calibri"/>
                <a:cs typeface="Calibri"/>
                <a:sym typeface="Calibri"/>
              </a:rPr>
              <a:t>OneCycleLR</a:t>
            </a:r>
            <a:endParaRPr sz="1050">
              <a:solidFill>
                <a:srgbClr val="1E3A4C"/>
              </a:solidFill>
              <a:latin typeface="Calibri"/>
              <a:ea typeface="Calibri"/>
              <a:cs typeface="Calibri"/>
              <a:sym typeface="Calibri"/>
            </a:endParaRPr>
          </a:p>
          <a:p>
            <a:pPr marL="114300" marR="0" lvl="0" indent="-123825" algn="l" rtl="0">
              <a:spcBef>
                <a:spcPts val="0"/>
              </a:spcBef>
              <a:spcAft>
                <a:spcPts val="0"/>
              </a:spcAft>
              <a:buClr>
                <a:srgbClr val="1E3A4C"/>
              </a:buClr>
              <a:buSzPts val="1050"/>
              <a:buFont typeface="Calibri"/>
              <a:buChar char="•"/>
            </a:pPr>
            <a:r>
              <a:rPr lang="en" sz="1050" b="1">
                <a:solidFill>
                  <a:srgbClr val="1E3A4C"/>
                </a:solidFill>
                <a:latin typeface="Calibri"/>
                <a:ea typeface="Calibri"/>
                <a:cs typeface="Calibri"/>
                <a:sym typeface="Calibri"/>
              </a:rPr>
              <a:t>Loss:</a:t>
            </a:r>
            <a:r>
              <a:rPr lang="en" sz="1050">
                <a:solidFill>
                  <a:srgbClr val="1E3A4C"/>
                </a:solidFill>
                <a:latin typeface="Calibri"/>
                <a:ea typeface="Calibri"/>
                <a:cs typeface="Calibri"/>
                <a:sym typeface="Calibri"/>
              </a:rPr>
              <a:t> CTCLoss</a:t>
            </a:r>
            <a:endParaRPr sz="1050" b="0" i="0" u="none" strike="noStrike" cap="none">
              <a:solidFill>
                <a:schemeClr val="dk1"/>
              </a:solidFill>
              <a:latin typeface="Calibri"/>
              <a:ea typeface="Calibri"/>
              <a:cs typeface="Calibri"/>
              <a:sym typeface="Calibri"/>
            </a:endParaRPr>
          </a:p>
        </p:txBody>
      </p:sp>
      <p:sp>
        <p:nvSpPr>
          <p:cNvPr id="141" name="Google Shape;141;p19"/>
          <p:cNvSpPr/>
          <p:nvPr/>
        </p:nvSpPr>
        <p:spPr>
          <a:xfrm>
            <a:off x="4242777" y="2251118"/>
            <a:ext cx="7761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3A4C"/>
              </a:buClr>
              <a:buSzPts val="1100"/>
              <a:buFont typeface="Calibri"/>
              <a:buNone/>
            </a:pPr>
            <a:r>
              <a:rPr lang="en" sz="1100" b="1">
                <a:solidFill>
                  <a:srgbClr val="1E3A4C"/>
                </a:solidFill>
                <a:latin typeface="Calibri"/>
                <a:ea typeface="Calibri"/>
                <a:cs typeface="Calibri"/>
                <a:sym typeface="Calibri"/>
              </a:rPr>
              <a:t>Performance</a:t>
            </a:r>
            <a:endParaRPr sz="1100" b="0" i="0" u="none" strike="noStrike" cap="none">
              <a:solidFill>
                <a:schemeClr val="dk1"/>
              </a:solidFill>
              <a:latin typeface="Calibri"/>
              <a:ea typeface="Calibri"/>
              <a:cs typeface="Calibri"/>
              <a:sym typeface="Calibri"/>
            </a:endParaRPr>
          </a:p>
        </p:txBody>
      </p:sp>
      <p:graphicFrame>
        <p:nvGraphicFramePr>
          <p:cNvPr id="142" name="Google Shape;142;p19"/>
          <p:cNvGraphicFramePr/>
          <p:nvPr/>
        </p:nvGraphicFramePr>
        <p:xfrm>
          <a:off x="4242776" y="2571751"/>
          <a:ext cx="3000000" cy="3000000"/>
        </p:xfrm>
        <a:graphic>
          <a:graphicData uri="http://schemas.openxmlformats.org/drawingml/2006/table">
            <a:tbl>
              <a:tblPr>
                <a:noFill/>
                <a:tableStyleId>{6EC3C7F0-2309-4531-97DA-3BB09D230519}</a:tableStyleId>
              </a:tblPr>
              <a:tblGrid>
                <a:gridCol w="2145475">
                  <a:extLst>
                    <a:ext uri="{9D8B030D-6E8A-4147-A177-3AD203B41FA5}">
                      <a16:colId xmlns:a16="http://schemas.microsoft.com/office/drawing/2014/main" val="20000"/>
                    </a:ext>
                  </a:extLst>
                </a:gridCol>
                <a:gridCol w="601175">
                  <a:extLst>
                    <a:ext uri="{9D8B030D-6E8A-4147-A177-3AD203B41FA5}">
                      <a16:colId xmlns:a16="http://schemas.microsoft.com/office/drawing/2014/main" val="20001"/>
                    </a:ext>
                  </a:extLst>
                </a:gridCol>
                <a:gridCol w="562975">
                  <a:extLst>
                    <a:ext uri="{9D8B030D-6E8A-4147-A177-3AD203B41FA5}">
                      <a16:colId xmlns:a16="http://schemas.microsoft.com/office/drawing/2014/main" val="20002"/>
                    </a:ext>
                  </a:extLst>
                </a:gridCol>
                <a:gridCol w="556325">
                  <a:extLst>
                    <a:ext uri="{9D8B030D-6E8A-4147-A177-3AD203B41FA5}">
                      <a16:colId xmlns:a16="http://schemas.microsoft.com/office/drawing/2014/main" val="20003"/>
                    </a:ext>
                  </a:extLst>
                </a:gridCol>
                <a:gridCol w="634650">
                  <a:extLst>
                    <a:ext uri="{9D8B030D-6E8A-4147-A177-3AD203B41FA5}">
                      <a16:colId xmlns:a16="http://schemas.microsoft.com/office/drawing/2014/main" val="20004"/>
                    </a:ext>
                  </a:extLst>
                </a:gridCol>
              </a:tblGrid>
              <a:tr h="339875">
                <a:tc>
                  <a:txBody>
                    <a:bodyPr/>
                    <a:lstStyle/>
                    <a:p>
                      <a:pPr marL="0" marR="0" lvl="0" indent="0" algn="l" rtl="0">
                        <a:spcBef>
                          <a:spcPts val="0"/>
                        </a:spcBef>
                        <a:spcAft>
                          <a:spcPts val="0"/>
                        </a:spcAft>
                        <a:buClr>
                          <a:srgbClr val="FFFFFF"/>
                        </a:buClr>
                        <a:buSzPts val="1000"/>
                        <a:buFont typeface="Calibri"/>
                        <a:buNone/>
                      </a:pPr>
                      <a:r>
                        <a:rPr lang="en" sz="800" b="1">
                          <a:solidFill>
                            <a:srgbClr val="FFFFFF"/>
                          </a:solidFill>
                        </a:rPr>
                        <a:t>Architecture</a:t>
                      </a:r>
                      <a:endParaRPr sz="800" u="none" strike="noStrike" cap="none"/>
                    </a:p>
                  </a:txBody>
                  <a:tcPr marL="91450" marR="91450" marT="45725" marB="457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0D1B2A"/>
                    </a:solidFill>
                  </a:tcPr>
                </a:tc>
                <a:tc>
                  <a:txBody>
                    <a:bodyPr/>
                    <a:lstStyle/>
                    <a:p>
                      <a:pPr marL="0" marR="0" lvl="0" indent="0" algn="ctr" rtl="0">
                        <a:spcBef>
                          <a:spcPts val="0"/>
                        </a:spcBef>
                        <a:spcAft>
                          <a:spcPts val="0"/>
                        </a:spcAft>
                        <a:buClr>
                          <a:srgbClr val="FFFFFF"/>
                        </a:buClr>
                        <a:buSzPts val="1000"/>
                        <a:buFont typeface="Calibri"/>
                        <a:buNone/>
                      </a:pPr>
                      <a:r>
                        <a:rPr lang="en" sz="800" b="1">
                          <a:solidFill>
                            <a:schemeClr val="dk1"/>
                          </a:solidFill>
                        </a:rPr>
                        <a:t>Loss</a:t>
                      </a:r>
                      <a:endParaRPr sz="800" u="none" strike="noStrike" cap="none">
                        <a:solidFill>
                          <a:schemeClr val="dk1"/>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EAD1DC"/>
                    </a:solidFill>
                  </a:tcPr>
                </a:tc>
                <a:tc>
                  <a:txBody>
                    <a:bodyPr/>
                    <a:lstStyle/>
                    <a:p>
                      <a:pPr marL="0" marR="0" lvl="0" indent="0" algn="ctr" rtl="0">
                        <a:spcBef>
                          <a:spcPts val="0"/>
                        </a:spcBef>
                        <a:spcAft>
                          <a:spcPts val="0"/>
                        </a:spcAft>
                        <a:buClr>
                          <a:srgbClr val="FFFFFF"/>
                        </a:buClr>
                        <a:buSzPts val="1000"/>
                        <a:buFont typeface="Calibri"/>
                        <a:buNone/>
                      </a:pPr>
                      <a:r>
                        <a:rPr lang="en" sz="800" b="1">
                          <a:solidFill>
                            <a:schemeClr val="dk1"/>
                          </a:solidFill>
                        </a:rPr>
                        <a:t>CER</a:t>
                      </a:r>
                      <a:endParaRPr sz="800" b="1">
                        <a:solidFill>
                          <a:schemeClr val="dk1"/>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tc>
                  <a:txBody>
                    <a:bodyPr/>
                    <a:lstStyle/>
                    <a:p>
                      <a:pPr marL="0" marR="0" lvl="0" indent="0" algn="ctr" rtl="0">
                        <a:spcBef>
                          <a:spcPts val="0"/>
                        </a:spcBef>
                        <a:spcAft>
                          <a:spcPts val="0"/>
                        </a:spcAft>
                        <a:buNone/>
                      </a:pPr>
                      <a:r>
                        <a:rPr lang="en" sz="800" b="1">
                          <a:solidFill>
                            <a:schemeClr val="dk1"/>
                          </a:solidFill>
                        </a:rPr>
                        <a:t>WER (no LM)</a:t>
                      </a:r>
                      <a:endParaRPr sz="800" b="1">
                        <a:solidFill>
                          <a:schemeClr val="dk1"/>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tc>
                  <a:txBody>
                    <a:bodyPr/>
                    <a:lstStyle/>
                    <a:p>
                      <a:pPr marL="0" marR="0" lvl="0" indent="0" algn="ctr" rtl="0">
                        <a:spcBef>
                          <a:spcPts val="0"/>
                        </a:spcBef>
                        <a:spcAft>
                          <a:spcPts val="0"/>
                        </a:spcAft>
                        <a:buNone/>
                      </a:pPr>
                      <a:r>
                        <a:rPr lang="en" sz="800" b="1">
                          <a:solidFill>
                            <a:schemeClr val="dk1"/>
                          </a:solidFill>
                        </a:rPr>
                        <a:t>WER (with LM)</a:t>
                      </a:r>
                      <a:endParaRPr sz="800" b="1">
                        <a:solidFill>
                          <a:schemeClr val="dk1"/>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extLst>
                  <a:ext uri="{0D108BD9-81ED-4DB2-BD59-A6C34878D82A}">
                    <a16:rowId xmlns:a16="http://schemas.microsoft.com/office/drawing/2014/main" val="10000"/>
                  </a:ext>
                </a:extLst>
              </a:tr>
              <a:tr h="339875">
                <a:tc>
                  <a:txBody>
                    <a:bodyPr/>
                    <a:lstStyle/>
                    <a:p>
                      <a:pPr marL="0" marR="0" lvl="0" indent="0" algn="l" rtl="0">
                        <a:spcBef>
                          <a:spcPts val="0"/>
                        </a:spcBef>
                        <a:spcAft>
                          <a:spcPts val="0"/>
                        </a:spcAft>
                        <a:buClr>
                          <a:srgbClr val="1E3A4C"/>
                        </a:buClr>
                        <a:buSzPts val="1000"/>
                        <a:buFont typeface="Calibri"/>
                        <a:buNone/>
                      </a:pPr>
                      <a:r>
                        <a:rPr lang="en" sz="800"/>
                        <a:t>GRU (3 hidden layers, unidirectional)</a:t>
                      </a:r>
                      <a:endParaRPr sz="800" u="none" strike="noStrike" cap="none"/>
                    </a:p>
                  </a:txBody>
                  <a:tcPr marL="91450" marR="91450" marT="45725" marB="457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FF"/>
                    </a:solidFill>
                  </a:tcPr>
                </a:tc>
                <a:tc>
                  <a:txBody>
                    <a:bodyPr/>
                    <a:lstStyle/>
                    <a:p>
                      <a:pPr marL="0" marR="0" lvl="0" indent="0" algn="ctr" rtl="0">
                        <a:spcBef>
                          <a:spcPts val="0"/>
                        </a:spcBef>
                        <a:spcAft>
                          <a:spcPts val="0"/>
                        </a:spcAft>
                        <a:buClr>
                          <a:srgbClr val="1E3A4C"/>
                        </a:buClr>
                        <a:buSzPts val="1000"/>
                        <a:buFont typeface="Calibri"/>
                        <a:buNone/>
                      </a:pPr>
                      <a:r>
                        <a:rPr lang="en" sz="900"/>
                        <a:t>0.32</a:t>
                      </a:r>
                      <a:endParaRPr sz="900" u="none" strike="noStrike" cap="none"/>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EAD1DC"/>
                    </a:solidFill>
                  </a:tcPr>
                </a:tc>
                <a:tc>
                  <a:txBody>
                    <a:bodyPr/>
                    <a:lstStyle/>
                    <a:p>
                      <a:pPr marL="0" marR="0" lvl="0" indent="0" algn="ctr" rtl="0">
                        <a:spcBef>
                          <a:spcPts val="0"/>
                        </a:spcBef>
                        <a:spcAft>
                          <a:spcPts val="0"/>
                        </a:spcAft>
                        <a:buClr>
                          <a:srgbClr val="1E3A4C"/>
                        </a:buClr>
                        <a:buSzPts val="1000"/>
                        <a:buFont typeface="Calibri"/>
                        <a:buNone/>
                      </a:pPr>
                      <a:r>
                        <a:rPr lang="en" sz="900">
                          <a:solidFill>
                            <a:srgbClr val="1E3A4C"/>
                          </a:solidFill>
                        </a:rPr>
                        <a:t>1.11%</a:t>
                      </a:r>
                      <a:endParaRPr sz="900" u="none" strike="noStrike" cap="none"/>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tc>
                  <a:txBody>
                    <a:bodyPr/>
                    <a:lstStyle/>
                    <a:p>
                      <a:pPr marL="0" marR="0" lvl="0" indent="0" algn="ctr" rtl="0">
                        <a:spcBef>
                          <a:spcPts val="0"/>
                        </a:spcBef>
                        <a:spcAft>
                          <a:spcPts val="0"/>
                        </a:spcAft>
                        <a:buNone/>
                      </a:pPr>
                      <a:r>
                        <a:rPr lang="en" sz="900">
                          <a:solidFill>
                            <a:srgbClr val="1E3A4C"/>
                          </a:solidFill>
                        </a:rPr>
                        <a:t>35.2%</a:t>
                      </a:r>
                      <a:endParaRPr sz="900" u="none" strike="noStrike" cap="none">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tc>
                  <a:txBody>
                    <a:bodyPr/>
                    <a:lstStyle/>
                    <a:p>
                      <a:pPr marL="0" marR="0" lvl="0" indent="0" algn="ctr" rtl="0">
                        <a:spcBef>
                          <a:spcPts val="0"/>
                        </a:spcBef>
                        <a:spcAft>
                          <a:spcPts val="0"/>
                        </a:spcAft>
                        <a:buNone/>
                      </a:pPr>
                      <a:r>
                        <a:rPr lang="en" sz="900">
                          <a:solidFill>
                            <a:srgbClr val="1E3A4C"/>
                          </a:solidFill>
                        </a:rPr>
                        <a:t>29.8%</a:t>
                      </a:r>
                      <a:endParaRPr sz="900">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extLst>
                  <a:ext uri="{0D108BD9-81ED-4DB2-BD59-A6C34878D82A}">
                    <a16:rowId xmlns:a16="http://schemas.microsoft.com/office/drawing/2014/main" val="10001"/>
                  </a:ext>
                </a:extLst>
              </a:tr>
              <a:tr h="339875">
                <a:tc>
                  <a:txBody>
                    <a:bodyPr/>
                    <a:lstStyle/>
                    <a:p>
                      <a:pPr marL="0" lvl="0" indent="0" algn="l" rtl="0">
                        <a:spcBef>
                          <a:spcPts val="0"/>
                        </a:spcBef>
                        <a:spcAft>
                          <a:spcPts val="0"/>
                        </a:spcAft>
                        <a:buNone/>
                      </a:pPr>
                      <a:r>
                        <a:rPr lang="en" sz="800">
                          <a:solidFill>
                            <a:schemeClr val="dk1"/>
                          </a:solidFill>
                        </a:rPr>
                        <a:t>GRU (5 hidden layers, unidirectional)</a:t>
                      </a:r>
                      <a:endParaRPr sz="800"/>
                    </a:p>
                  </a:txBody>
                  <a:tcPr marL="91450" marR="91450" marT="45725" marB="457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FF"/>
                    </a:solidFill>
                  </a:tcPr>
                </a:tc>
                <a:tc>
                  <a:txBody>
                    <a:bodyPr/>
                    <a:lstStyle/>
                    <a:p>
                      <a:pPr marL="0" marR="0" lvl="0" indent="0" algn="ctr" rtl="0">
                        <a:spcBef>
                          <a:spcPts val="0"/>
                        </a:spcBef>
                        <a:spcAft>
                          <a:spcPts val="0"/>
                        </a:spcAft>
                        <a:buNone/>
                      </a:pPr>
                      <a:r>
                        <a:rPr lang="en" sz="900">
                          <a:solidFill>
                            <a:srgbClr val="1E3A4C"/>
                          </a:solidFill>
                        </a:rPr>
                        <a:t>0.27</a:t>
                      </a:r>
                      <a:endParaRPr sz="900" u="none" strike="noStrike" cap="none">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EAD1DC"/>
                    </a:solidFill>
                  </a:tcPr>
                </a:tc>
                <a:tc>
                  <a:txBody>
                    <a:bodyPr/>
                    <a:lstStyle/>
                    <a:p>
                      <a:pPr marL="0" marR="0" lvl="0" indent="0" algn="ctr" rtl="0">
                        <a:spcBef>
                          <a:spcPts val="0"/>
                        </a:spcBef>
                        <a:spcAft>
                          <a:spcPts val="0"/>
                        </a:spcAft>
                        <a:buNone/>
                      </a:pPr>
                      <a:r>
                        <a:rPr lang="en" sz="900">
                          <a:solidFill>
                            <a:srgbClr val="1E3A4C"/>
                          </a:solidFill>
                        </a:rPr>
                        <a:t>9.9%</a:t>
                      </a:r>
                      <a:endParaRPr sz="900" u="none" strike="noStrike" cap="none">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tc>
                  <a:txBody>
                    <a:bodyPr/>
                    <a:lstStyle/>
                    <a:p>
                      <a:pPr marL="0" marR="0" lvl="0" indent="0" algn="ctr" rtl="0">
                        <a:spcBef>
                          <a:spcPts val="0"/>
                        </a:spcBef>
                        <a:spcAft>
                          <a:spcPts val="0"/>
                        </a:spcAft>
                        <a:buNone/>
                      </a:pPr>
                      <a:r>
                        <a:rPr lang="en" sz="900">
                          <a:solidFill>
                            <a:srgbClr val="1E3A4C"/>
                          </a:solidFill>
                        </a:rPr>
                        <a:t>29.9%</a:t>
                      </a:r>
                      <a:endParaRPr sz="900">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tc>
                  <a:txBody>
                    <a:bodyPr/>
                    <a:lstStyle/>
                    <a:p>
                      <a:pPr marL="0" marR="0" lvl="0" indent="0" algn="ctr" rtl="0">
                        <a:spcBef>
                          <a:spcPts val="0"/>
                        </a:spcBef>
                        <a:spcAft>
                          <a:spcPts val="0"/>
                        </a:spcAft>
                        <a:buNone/>
                      </a:pPr>
                      <a:r>
                        <a:rPr lang="en" sz="900">
                          <a:solidFill>
                            <a:srgbClr val="1E3A4C"/>
                          </a:solidFill>
                        </a:rPr>
                        <a:t>28.2%</a:t>
                      </a:r>
                      <a:endParaRPr sz="900">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extLst>
                  <a:ext uri="{0D108BD9-81ED-4DB2-BD59-A6C34878D82A}">
                    <a16:rowId xmlns:a16="http://schemas.microsoft.com/office/drawing/2014/main" val="10002"/>
                  </a:ext>
                </a:extLst>
              </a:tr>
              <a:tr h="339875">
                <a:tc>
                  <a:txBody>
                    <a:bodyPr/>
                    <a:lstStyle/>
                    <a:p>
                      <a:pPr marL="0" marR="0" lvl="0" indent="0" algn="l" rtl="0">
                        <a:spcBef>
                          <a:spcPts val="0"/>
                        </a:spcBef>
                        <a:spcAft>
                          <a:spcPts val="0"/>
                        </a:spcAft>
                        <a:buNone/>
                      </a:pPr>
                      <a:r>
                        <a:rPr lang="en" sz="800"/>
                        <a:t>GRU (3 hidden layers, lookahead convolution)</a:t>
                      </a:r>
                      <a:endParaRPr sz="800" u="none" strike="noStrike" cap="none"/>
                    </a:p>
                  </a:txBody>
                  <a:tcPr marL="91450" marR="91450" marT="45725" marB="457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FF"/>
                    </a:solidFill>
                  </a:tcPr>
                </a:tc>
                <a:tc>
                  <a:txBody>
                    <a:bodyPr/>
                    <a:lstStyle/>
                    <a:p>
                      <a:pPr marL="0" marR="0" lvl="0" indent="0" algn="ctr" rtl="0">
                        <a:spcBef>
                          <a:spcPts val="0"/>
                        </a:spcBef>
                        <a:spcAft>
                          <a:spcPts val="0"/>
                        </a:spcAft>
                        <a:buNone/>
                      </a:pPr>
                      <a:r>
                        <a:rPr lang="en" sz="900">
                          <a:solidFill>
                            <a:srgbClr val="1E3A4C"/>
                          </a:solidFill>
                        </a:rPr>
                        <a:t>0.31</a:t>
                      </a:r>
                      <a:endParaRPr sz="900" u="none" strike="noStrike" cap="none">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EAD1DC"/>
                    </a:solidFill>
                  </a:tcPr>
                </a:tc>
                <a:tc>
                  <a:txBody>
                    <a:bodyPr/>
                    <a:lstStyle/>
                    <a:p>
                      <a:pPr marL="0" marR="0" lvl="0" indent="0" algn="ctr" rtl="0">
                        <a:spcBef>
                          <a:spcPts val="0"/>
                        </a:spcBef>
                        <a:spcAft>
                          <a:spcPts val="0"/>
                        </a:spcAft>
                        <a:buNone/>
                      </a:pPr>
                      <a:r>
                        <a:rPr lang="en" sz="900">
                          <a:solidFill>
                            <a:srgbClr val="1E3A4C"/>
                          </a:solidFill>
                        </a:rPr>
                        <a:t>10.7%</a:t>
                      </a:r>
                      <a:endParaRPr sz="900" u="none" strike="noStrike" cap="none">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tc>
                  <a:txBody>
                    <a:bodyPr/>
                    <a:lstStyle/>
                    <a:p>
                      <a:pPr marL="0" marR="0" lvl="0" indent="0" algn="ctr" rtl="0">
                        <a:spcBef>
                          <a:spcPts val="0"/>
                        </a:spcBef>
                        <a:spcAft>
                          <a:spcPts val="0"/>
                        </a:spcAft>
                        <a:buNone/>
                      </a:pPr>
                      <a:r>
                        <a:rPr lang="en" sz="900">
                          <a:solidFill>
                            <a:srgbClr val="1E3A4C"/>
                          </a:solidFill>
                        </a:rPr>
                        <a:t>33.2%</a:t>
                      </a:r>
                      <a:endParaRPr sz="900">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tc>
                  <a:txBody>
                    <a:bodyPr/>
                    <a:lstStyle/>
                    <a:p>
                      <a:pPr marL="0" marR="0" lvl="0" indent="0" algn="ctr" rtl="0">
                        <a:spcBef>
                          <a:spcPts val="0"/>
                        </a:spcBef>
                        <a:spcAft>
                          <a:spcPts val="0"/>
                        </a:spcAft>
                        <a:buNone/>
                      </a:pPr>
                      <a:r>
                        <a:rPr lang="en" sz="900">
                          <a:solidFill>
                            <a:srgbClr val="1E3A4C"/>
                          </a:solidFill>
                        </a:rPr>
                        <a:t>29.5%</a:t>
                      </a:r>
                      <a:endParaRPr sz="900">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extLst>
                  <a:ext uri="{0D108BD9-81ED-4DB2-BD59-A6C34878D82A}">
                    <a16:rowId xmlns:a16="http://schemas.microsoft.com/office/drawing/2014/main" val="10003"/>
                  </a:ext>
                </a:extLst>
              </a:tr>
              <a:tr h="339875">
                <a:tc>
                  <a:txBody>
                    <a:bodyPr/>
                    <a:lstStyle/>
                    <a:p>
                      <a:pPr marL="0" lvl="0" indent="0" algn="l" rtl="0">
                        <a:spcBef>
                          <a:spcPts val="0"/>
                        </a:spcBef>
                        <a:spcAft>
                          <a:spcPts val="0"/>
                        </a:spcAft>
                        <a:buClr>
                          <a:schemeClr val="dk1"/>
                        </a:buClr>
                        <a:buSzPts val="1100"/>
                        <a:buFont typeface="Arial"/>
                        <a:buNone/>
                      </a:pPr>
                      <a:r>
                        <a:rPr lang="en" sz="800">
                          <a:solidFill>
                            <a:schemeClr val="dk1"/>
                          </a:solidFill>
                        </a:rPr>
                        <a:t>GRU (3 hidden layers, bidirectional)</a:t>
                      </a:r>
                      <a:endParaRPr sz="800"/>
                    </a:p>
                  </a:txBody>
                  <a:tcPr marL="91450" marR="91450" marT="45725" marB="457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FF"/>
                    </a:solidFill>
                  </a:tcPr>
                </a:tc>
                <a:tc>
                  <a:txBody>
                    <a:bodyPr/>
                    <a:lstStyle/>
                    <a:p>
                      <a:pPr marL="0" marR="0" lvl="0" indent="0" algn="ctr" rtl="0">
                        <a:spcBef>
                          <a:spcPts val="0"/>
                        </a:spcBef>
                        <a:spcAft>
                          <a:spcPts val="0"/>
                        </a:spcAft>
                        <a:buNone/>
                      </a:pPr>
                      <a:r>
                        <a:rPr lang="en" sz="900">
                          <a:solidFill>
                            <a:srgbClr val="1E3A4C"/>
                          </a:solidFill>
                        </a:rPr>
                        <a:t>0.31</a:t>
                      </a:r>
                      <a:endParaRPr sz="900">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EAD1DC"/>
                    </a:solidFill>
                  </a:tcPr>
                </a:tc>
                <a:tc>
                  <a:txBody>
                    <a:bodyPr/>
                    <a:lstStyle/>
                    <a:p>
                      <a:pPr marL="0" marR="0" lvl="0" indent="0" algn="ctr" rtl="0">
                        <a:spcBef>
                          <a:spcPts val="0"/>
                        </a:spcBef>
                        <a:spcAft>
                          <a:spcPts val="0"/>
                        </a:spcAft>
                        <a:buNone/>
                      </a:pPr>
                      <a:r>
                        <a:rPr lang="en" sz="900">
                          <a:solidFill>
                            <a:srgbClr val="1E3A4C"/>
                          </a:solidFill>
                        </a:rPr>
                        <a:t>11.0%</a:t>
                      </a:r>
                      <a:endParaRPr sz="900">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tc>
                  <a:txBody>
                    <a:bodyPr/>
                    <a:lstStyle/>
                    <a:p>
                      <a:pPr marL="0" marR="0" lvl="0" indent="0" algn="ctr" rtl="0">
                        <a:spcBef>
                          <a:spcPts val="0"/>
                        </a:spcBef>
                        <a:spcAft>
                          <a:spcPts val="0"/>
                        </a:spcAft>
                        <a:buNone/>
                      </a:pPr>
                      <a:r>
                        <a:rPr lang="en" sz="900">
                          <a:solidFill>
                            <a:srgbClr val="1E3A4C"/>
                          </a:solidFill>
                        </a:rPr>
                        <a:t>33.7%</a:t>
                      </a:r>
                      <a:endParaRPr sz="900">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tc>
                  <a:txBody>
                    <a:bodyPr/>
                    <a:lstStyle/>
                    <a:p>
                      <a:pPr marL="0" marR="0" lvl="0" indent="0" algn="ctr" rtl="0">
                        <a:spcBef>
                          <a:spcPts val="0"/>
                        </a:spcBef>
                        <a:spcAft>
                          <a:spcPts val="0"/>
                        </a:spcAft>
                        <a:buNone/>
                      </a:pPr>
                      <a:r>
                        <a:rPr lang="en" sz="900">
                          <a:solidFill>
                            <a:srgbClr val="1E3A4C"/>
                          </a:solidFill>
                        </a:rPr>
                        <a:t>29.2%</a:t>
                      </a:r>
                      <a:endParaRPr sz="900">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extLst>
                  <a:ext uri="{0D108BD9-81ED-4DB2-BD59-A6C34878D82A}">
                    <a16:rowId xmlns:a16="http://schemas.microsoft.com/office/drawing/2014/main" val="10004"/>
                  </a:ext>
                </a:extLst>
              </a:tr>
              <a:tr h="231725">
                <a:tc>
                  <a:txBody>
                    <a:bodyPr/>
                    <a:lstStyle/>
                    <a:p>
                      <a:pPr marL="0" marR="0" lvl="0" indent="0" algn="l" rtl="0">
                        <a:spcBef>
                          <a:spcPts val="0"/>
                        </a:spcBef>
                        <a:spcAft>
                          <a:spcPts val="0"/>
                        </a:spcAft>
                        <a:buNone/>
                      </a:pPr>
                      <a:r>
                        <a:rPr lang="en" sz="800" b="1">
                          <a:solidFill>
                            <a:schemeClr val="dk1"/>
                          </a:solidFill>
                        </a:rPr>
                        <a:t>LSTM (3 hidden layers)</a:t>
                      </a:r>
                      <a:endParaRPr sz="900" b="1" u="none" strike="noStrike" cap="none"/>
                    </a:p>
                  </a:txBody>
                  <a:tcPr marL="91450" marR="91450" marT="45725" marB="457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FF"/>
                    </a:solidFill>
                  </a:tcPr>
                </a:tc>
                <a:tc>
                  <a:txBody>
                    <a:bodyPr/>
                    <a:lstStyle/>
                    <a:p>
                      <a:pPr marL="0" marR="0" lvl="0" indent="0" algn="ctr" rtl="0">
                        <a:spcBef>
                          <a:spcPts val="0"/>
                        </a:spcBef>
                        <a:spcAft>
                          <a:spcPts val="0"/>
                        </a:spcAft>
                        <a:buNone/>
                      </a:pPr>
                      <a:r>
                        <a:rPr lang="en" sz="900" b="1">
                          <a:solidFill>
                            <a:srgbClr val="1E3A4C"/>
                          </a:solidFill>
                        </a:rPr>
                        <a:t>0.26</a:t>
                      </a:r>
                      <a:endParaRPr sz="900" b="1" u="none" strike="noStrike" cap="none">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EAD1DC"/>
                    </a:solidFill>
                  </a:tcPr>
                </a:tc>
                <a:tc>
                  <a:txBody>
                    <a:bodyPr/>
                    <a:lstStyle/>
                    <a:p>
                      <a:pPr marL="0" marR="0" lvl="0" indent="0" algn="ctr" rtl="0">
                        <a:spcBef>
                          <a:spcPts val="0"/>
                        </a:spcBef>
                        <a:spcAft>
                          <a:spcPts val="0"/>
                        </a:spcAft>
                        <a:buNone/>
                      </a:pPr>
                      <a:r>
                        <a:rPr lang="en" sz="900" b="1">
                          <a:solidFill>
                            <a:srgbClr val="1E3A4C"/>
                          </a:solidFill>
                        </a:rPr>
                        <a:t>9.2%</a:t>
                      </a:r>
                      <a:endParaRPr sz="900" b="1" u="none" strike="noStrike" cap="none">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tc>
                  <a:txBody>
                    <a:bodyPr/>
                    <a:lstStyle/>
                    <a:p>
                      <a:pPr marL="0" marR="0" lvl="0" indent="0" algn="ctr" rtl="0">
                        <a:spcBef>
                          <a:spcPts val="0"/>
                        </a:spcBef>
                        <a:spcAft>
                          <a:spcPts val="0"/>
                        </a:spcAft>
                        <a:buNone/>
                      </a:pPr>
                      <a:r>
                        <a:rPr lang="en" sz="900" b="1">
                          <a:solidFill>
                            <a:srgbClr val="1E3A4C"/>
                          </a:solidFill>
                        </a:rPr>
                        <a:t>27.7%</a:t>
                      </a:r>
                      <a:endParaRPr sz="900" b="1">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tc>
                  <a:txBody>
                    <a:bodyPr/>
                    <a:lstStyle/>
                    <a:p>
                      <a:pPr marL="0" marR="0" lvl="0" indent="0" algn="ctr" rtl="0">
                        <a:spcBef>
                          <a:spcPts val="0"/>
                        </a:spcBef>
                        <a:spcAft>
                          <a:spcPts val="0"/>
                        </a:spcAft>
                        <a:buNone/>
                      </a:pPr>
                      <a:r>
                        <a:rPr lang="en" sz="900" b="1">
                          <a:solidFill>
                            <a:srgbClr val="1E3A4C"/>
                          </a:solidFill>
                        </a:rPr>
                        <a:t>27.8%</a:t>
                      </a:r>
                      <a:endParaRPr sz="900" b="1">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extLst>
                  <a:ext uri="{0D108BD9-81ED-4DB2-BD59-A6C34878D82A}">
                    <a16:rowId xmlns:a16="http://schemas.microsoft.com/office/drawing/2014/main" val="10005"/>
                  </a:ext>
                </a:extLst>
              </a:tr>
              <a:tr h="231725">
                <a:tc>
                  <a:txBody>
                    <a:bodyPr/>
                    <a:lstStyle/>
                    <a:p>
                      <a:pPr marL="0" marR="0" lvl="0" indent="0" algn="l" rtl="0">
                        <a:spcBef>
                          <a:spcPts val="0"/>
                        </a:spcBef>
                        <a:spcAft>
                          <a:spcPts val="0"/>
                        </a:spcAft>
                        <a:buNone/>
                      </a:pPr>
                      <a:r>
                        <a:rPr lang="en" sz="800">
                          <a:solidFill>
                            <a:schemeClr val="dk1"/>
                          </a:solidFill>
                        </a:rPr>
                        <a:t>Conformer (5M)</a:t>
                      </a:r>
                      <a:endParaRPr sz="800">
                        <a:solidFill>
                          <a:schemeClr val="dk1"/>
                        </a:solidFill>
                      </a:endParaRPr>
                    </a:p>
                  </a:txBody>
                  <a:tcPr marL="91450" marR="91450" marT="45725" marB="457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FF"/>
                    </a:solidFill>
                  </a:tcPr>
                </a:tc>
                <a:tc>
                  <a:txBody>
                    <a:bodyPr/>
                    <a:lstStyle/>
                    <a:p>
                      <a:pPr marL="0" marR="0" lvl="0" indent="0" algn="ctr" rtl="0">
                        <a:spcBef>
                          <a:spcPts val="0"/>
                        </a:spcBef>
                        <a:spcAft>
                          <a:spcPts val="0"/>
                        </a:spcAft>
                        <a:buNone/>
                      </a:pPr>
                      <a:r>
                        <a:rPr lang="en" sz="900">
                          <a:solidFill>
                            <a:srgbClr val="1E3A4C"/>
                          </a:solidFill>
                        </a:rPr>
                        <a:t>0.34</a:t>
                      </a:r>
                      <a:endParaRPr sz="900">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EAD1DC"/>
                    </a:solidFill>
                  </a:tcPr>
                </a:tc>
                <a:tc>
                  <a:txBody>
                    <a:bodyPr/>
                    <a:lstStyle/>
                    <a:p>
                      <a:pPr marL="0" marR="0" lvl="0" indent="0" algn="ctr" rtl="0">
                        <a:spcBef>
                          <a:spcPts val="0"/>
                        </a:spcBef>
                        <a:spcAft>
                          <a:spcPts val="0"/>
                        </a:spcAft>
                        <a:buNone/>
                      </a:pPr>
                      <a:r>
                        <a:rPr lang="en" sz="900">
                          <a:solidFill>
                            <a:srgbClr val="1E3A4C"/>
                          </a:solidFill>
                        </a:rPr>
                        <a:t>11.2%</a:t>
                      </a:r>
                      <a:endParaRPr sz="900">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tc>
                  <a:txBody>
                    <a:bodyPr/>
                    <a:lstStyle/>
                    <a:p>
                      <a:pPr marL="0" marR="0" lvl="0" indent="0" algn="ctr" rtl="0">
                        <a:spcBef>
                          <a:spcPts val="0"/>
                        </a:spcBef>
                        <a:spcAft>
                          <a:spcPts val="0"/>
                        </a:spcAft>
                        <a:buNone/>
                      </a:pPr>
                      <a:r>
                        <a:rPr lang="en" sz="900">
                          <a:solidFill>
                            <a:srgbClr val="1E3A4C"/>
                          </a:solidFill>
                        </a:rPr>
                        <a:t>34.6%</a:t>
                      </a:r>
                      <a:endParaRPr sz="900">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tc>
                  <a:txBody>
                    <a:bodyPr/>
                    <a:lstStyle/>
                    <a:p>
                      <a:pPr marL="0" marR="0" lvl="0" indent="0" algn="ctr" rtl="0">
                        <a:spcBef>
                          <a:spcPts val="0"/>
                        </a:spcBef>
                        <a:spcAft>
                          <a:spcPts val="0"/>
                        </a:spcAft>
                        <a:buNone/>
                      </a:pPr>
                      <a:r>
                        <a:rPr lang="en" sz="900">
                          <a:solidFill>
                            <a:srgbClr val="1E3A4C"/>
                          </a:solidFill>
                        </a:rPr>
                        <a:t>29.7%</a:t>
                      </a:r>
                      <a:endParaRPr sz="900">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extLst>
                  <a:ext uri="{0D108BD9-81ED-4DB2-BD59-A6C34878D82A}">
                    <a16:rowId xmlns:a16="http://schemas.microsoft.com/office/drawing/2014/main" val="10006"/>
                  </a:ext>
                </a:extLst>
              </a:tr>
              <a:tr h="248000">
                <a:tc>
                  <a:txBody>
                    <a:bodyPr/>
                    <a:lstStyle/>
                    <a:p>
                      <a:pPr marL="0" lvl="0" indent="0" algn="l" rtl="0">
                        <a:spcBef>
                          <a:spcPts val="0"/>
                        </a:spcBef>
                        <a:spcAft>
                          <a:spcPts val="0"/>
                        </a:spcAft>
                        <a:buNone/>
                      </a:pPr>
                      <a:r>
                        <a:rPr lang="en" sz="800" b="1">
                          <a:solidFill>
                            <a:schemeClr val="dk1"/>
                          </a:solidFill>
                        </a:rPr>
                        <a:t>Conformer (18M)</a:t>
                      </a:r>
                      <a:endParaRPr sz="800" b="1">
                        <a:solidFill>
                          <a:schemeClr val="dk1"/>
                        </a:solidFill>
                      </a:endParaRPr>
                    </a:p>
                  </a:txBody>
                  <a:tcPr marL="91450" marR="91450" marT="45725" marB="457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FF"/>
                    </a:solidFill>
                  </a:tcPr>
                </a:tc>
                <a:tc>
                  <a:txBody>
                    <a:bodyPr/>
                    <a:lstStyle/>
                    <a:p>
                      <a:pPr marL="0" marR="0" lvl="0" indent="0" algn="ctr" rtl="0">
                        <a:spcBef>
                          <a:spcPts val="0"/>
                        </a:spcBef>
                        <a:spcAft>
                          <a:spcPts val="0"/>
                        </a:spcAft>
                        <a:buNone/>
                      </a:pPr>
                      <a:r>
                        <a:rPr lang="en" sz="900" b="1">
                          <a:solidFill>
                            <a:srgbClr val="1E3A4C"/>
                          </a:solidFill>
                        </a:rPr>
                        <a:t>0.29</a:t>
                      </a:r>
                      <a:endParaRPr sz="900" b="1">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EAD1DC"/>
                    </a:solidFill>
                  </a:tcPr>
                </a:tc>
                <a:tc>
                  <a:txBody>
                    <a:bodyPr/>
                    <a:lstStyle/>
                    <a:p>
                      <a:pPr marL="0" marR="0" lvl="0" indent="0" algn="ctr" rtl="0">
                        <a:spcBef>
                          <a:spcPts val="0"/>
                        </a:spcBef>
                        <a:spcAft>
                          <a:spcPts val="0"/>
                        </a:spcAft>
                        <a:buNone/>
                      </a:pPr>
                      <a:r>
                        <a:rPr lang="en" sz="900" b="1">
                          <a:solidFill>
                            <a:srgbClr val="1E3A4C"/>
                          </a:solidFill>
                        </a:rPr>
                        <a:t>8.63%</a:t>
                      </a:r>
                      <a:endParaRPr sz="900" b="1">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tc>
                  <a:txBody>
                    <a:bodyPr/>
                    <a:lstStyle/>
                    <a:p>
                      <a:pPr marL="0" marR="0" lvl="0" indent="0" algn="ctr" rtl="0">
                        <a:spcBef>
                          <a:spcPts val="0"/>
                        </a:spcBef>
                        <a:spcAft>
                          <a:spcPts val="0"/>
                        </a:spcAft>
                        <a:buNone/>
                      </a:pPr>
                      <a:r>
                        <a:rPr lang="en" sz="900" b="1">
                          <a:solidFill>
                            <a:srgbClr val="1E3A4C"/>
                          </a:solidFill>
                        </a:rPr>
                        <a:t>25.2%</a:t>
                      </a:r>
                      <a:endParaRPr sz="900" b="1">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tc>
                  <a:txBody>
                    <a:bodyPr/>
                    <a:lstStyle/>
                    <a:p>
                      <a:pPr marL="0" marR="0" lvl="0" indent="0" algn="ctr" rtl="0">
                        <a:spcBef>
                          <a:spcPts val="0"/>
                        </a:spcBef>
                        <a:spcAft>
                          <a:spcPts val="0"/>
                        </a:spcAft>
                        <a:buNone/>
                      </a:pPr>
                      <a:r>
                        <a:rPr lang="en" sz="900" b="1">
                          <a:solidFill>
                            <a:srgbClr val="1E3A4C"/>
                          </a:solidFill>
                        </a:rPr>
                        <a:t>28.5%</a:t>
                      </a:r>
                      <a:endParaRPr sz="900" b="1">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extLst>
                  <a:ext uri="{0D108BD9-81ED-4DB2-BD59-A6C34878D82A}">
                    <a16:rowId xmlns:a16="http://schemas.microsoft.com/office/drawing/2014/main" val="10007"/>
                  </a:ext>
                </a:extLst>
              </a:tr>
            </a:tbl>
          </a:graphicData>
        </a:graphic>
      </p:graphicFrame>
      <p:sp>
        <p:nvSpPr>
          <p:cNvPr id="143" name="Google Shape;143;p19"/>
          <p:cNvSpPr txBox="1"/>
          <p:nvPr/>
        </p:nvSpPr>
        <p:spPr>
          <a:xfrm>
            <a:off x="3084825" y="1115564"/>
            <a:ext cx="1021500" cy="274200"/>
          </a:xfrm>
          <a:prstGeom prst="rect">
            <a:avLst/>
          </a:prstGeom>
          <a:solidFill>
            <a:srgbClr val="B6D7A8"/>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50" b="1">
                <a:solidFill>
                  <a:srgbClr val="1E3A4C"/>
                </a:solidFill>
                <a:latin typeface="Calibri"/>
                <a:ea typeface="Calibri"/>
                <a:cs typeface="Calibri"/>
                <a:sym typeface="Calibri"/>
              </a:rPr>
              <a:t>Params</a:t>
            </a:r>
            <a:endParaRPr b="1"/>
          </a:p>
        </p:txBody>
      </p:sp>
      <p:sp>
        <p:nvSpPr>
          <p:cNvPr id="144" name="Google Shape;144;p19"/>
          <p:cNvSpPr txBox="1"/>
          <p:nvPr/>
        </p:nvSpPr>
        <p:spPr>
          <a:xfrm>
            <a:off x="4529150" y="1115575"/>
            <a:ext cx="1021500" cy="274200"/>
          </a:xfrm>
          <a:prstGeom prst="rect">
            <a:avLst/>
          </a:prstGeom>
          <a:solidFill>
            <a:srgbClr val="EAD1D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50" b="1">
                <a:solidFill>
                  <a:srgbClr val="1E3A4C"/>
                </a:solidFill>
                <a:latin typeface="Calibri"/>
                <a:ea typeface="Calibri"/>
                <a:cs typeface="Calibri"/>
                <a:sym typeface="Calibri"/>
              </a:rPr>
              <a:t>Hyperparams</a:t>
            </a:r>
            <a:endParaRPr b="1"/>
          </a:p>
        </p:txBody>
      </p:sp>
      <p:sp>
        <p:nvSpPr>
          <p:cNvPr id="145" name="Google Shape;145;p19"/>
          <p:cNvSpPr/>
          <p:nvPr/>
        </p:nvSpPr>
        <p:spPr>
          <a:xfrm>
            <a:off x="4496302" y="1453922"/>
            <a:ext cx="1239600" cy="543900"/>
          </a:xfrm>
          <a:prstGeom prst="rect">
            <a:avLst/>
          </a:prstGeom>
          <a:noFill/>
          <a:ln>
            <a:noFill/>
          </a:ln>
        </p:spPr>
        <p:txBody>
          <a:bodyPr spcFirstLastPara="1" wrap="square" lIns="0" tIns="0" rIns="0" bIns="0" anchor="t" anchorCtr="0">
            <a:noAutofit/>
          </a:bodyPr>
          <a:lstStyle/>
          <a:p>
            <a:pPr marL="114300" marR="0" lvl="0" indent="-123825" algn="l" rtl="0">
              <a:spcBef>
                <a:spcPts val="0"/>
              </a:spcBef>
              <a:spcAft>
                <a:spcPts val="0"/>
              </a:spcAft>
              <a:buClr>
                <a:srgbClr val="1E3A4C"/>
              </a:buClr>
              <a:buSzPts val="1050"/>
              <a:buFont typeface="Calibri"/>
              <a:buChar char="•"/>
            </a:pPr>
            <a:r>
              <a:rPr lang="en" sz="1050" b="1">
                <a:solidFill>
                  <a:srgbClr val="1E3A4C"/>
                </a:solidFill>
                <a:latin typeface="Calibri"/>
                <a:ea typeface="Calibri"/>
                <a:cs typeface="Calibri"/>
                <a:sym typeface="Calibri"/>
              </a:rPr>
              <a:t>Epochs:</a:t>
            </a:r>
            <a:r>
              <a:rPr lang="en" sz="1050">
                <a:solidFill>
                  <a:srgbClr val="1E3A4C"/>
                </a:solidFill>
                <a:latin typeface="Calibri"/>
                <a:ea typeface="Calibri"/>
                <a:cs typeface="Calibri"/>
                <a:sym typeface="Calibri"/>
              </a:rPr>
              <a:t> 20</a:t>
            </a:r>
            <a:endParaRPr sz="1050">
              <a:solidFill>
                <a:srgbClr val="1E3A4C"/>
              </a:solidFill>
              <a:latin typeface="Calibri"/>
              <a:ea typeface="Calibri"/>
              <a:cs typeface="Calibri"/>
              <a:sym typeface="Calibri"/>
            </a:endParaRPr>
          </a:p>
          <a:p>
            <a:pPr marL="114300" marR="0" lvl="0" indent="-123825" algn="l" rtl="0">
              <a:spcBef>
                <a:spcPts val="0"/>
              </a:spcBef>
              <a:spcAft>
                <a:spcPts val="0"/>
              </a:spcAft>
              <a:buClr>
                <a:srgbClr val="1E3A4C"/>
              </a:buClr>
              <a:buSzPts val="1050"/>
              <a:buFont typeface="Calibri"/>
              <a:buChar char="•"/>
            </a:pPr>
            <a:r>
              <a:rPr lang="en" sz="1050" b="1">
                <a:solidFill>
                  <a:srgbClr val="1E3A4C"/>
                </a:solidFill>
                <a:latin typeface="Calibri"/>
                <a:ea typeface="Calibri"/>
                <a:cs typeface="Calibri"/>
                <a:sym typeface="Calibri"/>
              </a:rPr>
              <a:t>Batch Size:</a:t>
            </a:r>
            <a:r>
              <a:rPr lang="en" sz="1050">
                <a:solidFill>
                  <a:srgbClr val="1E3A4C"/>
                </a:solidFill>
                <a:latin typeface="Calibri"/>
                <a:ea typeface="Calibri"/>
                <a:cs typeface="Calibri"/>
                <a:sym typeface="Calibri"/>
              </a:rPr>
              <a:t> 32</a:t>
            </a:r>
            <a:endParaRPr sz="1050">
              <a:solidFill>
                <a:srgbClr val="1E3A4C"/>
              </a:solidFill>
              <a:latin typeface="Calibri"/>
              <a:ea typeface="Calibri"/>
              <a:cs typeface="Calibri"/>
              <a:sym typeface="Calibri"/>
            </a:endParaRPr>
          </a:p>
          <a:p>
            <a:pPr marL="114300" marR="0" lvl="0" indent="-123825" algn="l" rtl="0">
              <a:spcBef>
                <a:spcPts val="0"/>
              </a:spcBef>
              <a:spcAft>
                <a:spcPts val="0"/>
              </a:spcAft>
              <a:buClr>
                <a:srgbClr val="1E3A4C"/>
              </a:buClr>
              <a:buSzPts val="1050"/>
              <a:buFont typeface="Calibri"/>
              <a:buChar char="•"/>
            </a:pPr>
            <a:r>
              <a:rPr lang="en" sz="1050" b="1">
                <a:solidFill>
                  <a:srgbClr val="1E3A4C"/>
                </a:solidFill>
                <a:latin typeface="Calibri"/>
                <a:ea typeface="Calibri"/>
                <a:cs typeface="Calibri"/>
                <a:sym typeface="Calibri"/>
              </a:rPr>
              <a:t>Hidden layers: [3, 5]</a:t>
            </a:r>
            <a:endParaRPr sz="1050" b="0" i="0" u="none" strike="noStrike" cap="none">
              <a:solidFill>
                <a:schemeClr val="dk1"/>
              </a:solidFill>
              <a:latin typeface="Calibri"/>
              <a:ea typeface="Calibri"/>
              <a:cs typeface="Calibri"/>
              <a:sym typeface="Calibri"/>
            </a:endParaRPr>
          </a:p>
        </p:txBody>
      </p:sp>
      <p:cxnSp>
        <p:nvCxnSpPr>
          <p:cNvPr id="146" name="Google Shape;146;p19"/>
          <p:cNvCxnSpPr/>
          <p:nvPr/>
        </p:nvCxnSpPr>
        <p:spPr>
          <a:xfrm>
            <a:off x="4321724" y="1191700"/>
            <a:ext cx="9000" cy="775200"/>
          </a:xfrm>
          <a:prstGeom prst="straightConnector1">
            <a:avLst/>
          </a:prstGeom>
          <a:noFill/>
          <a:ln w="9525" cap="flat" cmpd="sng">
            <a:solidFill>
              <a:schemeClr val="dk2"/>
            </a:solidFill>
            <a:prstDash val="solid"/>
            <a:round/>
            <a:headEnd type="none" w="med" len="med"/>
            <a:tailEnd type="none" w="med" len="med"/>
          </a:ln>
        </p:spPr>
      </p:cxnSp>
      <p:sp>
        <p:nvSpPr>
          <p:cNvPr id="147" name="Google Shape;147;p19"/>
          <p:cNvSpPr/>
          <p:nvPr/>
        </p:nvSpPr>
        <p:spPr>
          <a:xfrm>
            <a:off x="5901475" y="824760"/>
            <a:ext cx="3069300" cy="1285500"/>
          </a:xfrm>
          <a:prstGeom prst="rect">
            <a:avLst/>
          </a:prstGeom>
          <a:solidFill>
            <a:srgbClr val="EBF4FA"/>
          </a:solidFill>
          <a:ln w="12700" cap="flat" cmpd="sng">
            <a:solidFill>
              <a:srgbClr val="0077A8"/>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8" name="Google Shape;148;p19"/>
          <p:cNvSpPr/>
          <p:nvPr/>
        </p:nvSpPr>
        <p:spPr>
          <a:xfrm>
            <a:off x="258475" y="2292275"/>
            <a:ext cx="3847800" cy="2690700"/>
          </a:xfrm>
          <a:prstGeom prst="rect">
            <a:avLst/>
          </a:prstGeom>
          <a:solidFill>
            <a:srgbClr val="EBF4FA"/>
          </a:solidFill>
          <a:ln w="12700" cap="flat" cmpd="sng">
            <a:solidFill>
              <a:srgbClr val="0077A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  = </a:t>
            </a:r>
            <a:r>
              <a:rPr lang="en" sz="1300">
                <a:solidFill>
                  <a:schemeClr val="dk1"/>
                </a:solidFill>
              </a:rPr>
              <a:t> S + D + I</a:t>
            </a:r>
            <a:endParaRPr sz="1300">
              <a:solidFill>
                <a:schemeClr val="dk1"/>
              </a:solidFill>
            </a:endParaRPr>
          </a:p>
          <a:p>
            <a:pPr marL="0" lvl="0" indent="457200" algn="l" rtl="0">
              <a:spcBef>
                <a:spcPts val="0"/>
              </a:spcBef>
              <a:spcAft>
                <a:spcPts val="0"/>
              </a:spcAft>
              <a:buClr>
                <a:schemeClr val="dk1"/>
              </a:buClr>
              <a:buSzPts val="1100"/>
              <a:buFont typeface="Arial"/>
              <a:buNone/>
            </a:pPr>
            <a:r>
              <a:rPr lang="en" sz="1200">
                <a:solidFill>
                  <a:schemeClr val="dk1"/>
                </a:solidFill>
              </a:rPr>
              <a:t>   N</a:t>
            </a:r>
            <a:endParaRPr/>
          </a:p>
          <a:p>
            <a:pPr marL="0" lvl="0" indent="0" algn="l" rtl="0">
              <a:spcBef>
                <a:spcPts val="0"/>
              </a:spcBef>
              <a:spcAft>
                <a:spcPts val="0"/>
              </a:spcAft>
              <a:buNone/>
            </a:pPr>
            <a:r>
              <a:rPr lang="en"/>
              <a:t>		</a:t>
            </a:r>
            <a:endParaRPr sz="1200"/>
          </a:p>
        </p:txBody>
      </p:sp>
      <p:sp>
        <p:nvSpPr>
          <p:cNvPr id="149" name="Google Shape;149;p19"/>
          <p:cNvSpPr/>
          <p:nvPr/>
        </p:nvSpPr>
        <p:spPr>
          <a:xfrm>
            <a:off x="1562574" y="2339100"/>
            <a:ext cx="12396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77A8"/>
              </a:buClr>
              <a:buSzPts val="1100"/>
              <a:buFont typeface="Calibri"/>
              <a:buNone/>
            </a:pPr>
            <a:r>
              <a:rPr lang="en" sz="1100" b="1">
                <a:solidFill>
                  <a:srgbClr val="0077A8"/>
                </a:solidFill>
                <a:latin typeface="Calibri"/>
                <a:ea typeface="Calibri"/>
                <a:cs typeface="Calibri"/>
                <a:sym typeface="Calibri"/>
              </a:rPr>
              <a:t>Performance Metrics</a:t>
            </a:r>
            <a:endParaRPr sz="1100" b="0" i="0" u="none" strike="noStrike" cap="none">
              <a:solidFill>
                <a:schemeClr val="dk1"/>
              </a:solidFill>
              <a:latin typeface="Calibri"/>
              <a:ea typeface="Calibri"/>
              <a:cs typeface="Calibri"/>
              <a:sym typeface="Calibri"/>
            </a:endParaRPr>
          </a:p>
        </p:txBody>
      </p:sp>
      <p:sp>
        <p:nvSpPr>
          <p:cNvPr id="150" name="Google Shape;150;p19"/>
          <p:cNvSpPr txBox="1"/>
          <p:nvPr/>
        </p:nvSpPr>
        <p:spPr>
          <a:xfrm>
            <a:off x="446525" y="2929727"/>
            <a:ext cx="1021500" cy="274200"/>
          </a:xfrm>
          <a:prstGeom prst="rect">
            <a:avLst/>
          </a:prstGeom>
          <a:solidFill>
            <a:srgbClr val="B6D7A8"/>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750" b="1">
                <a:solidFill>
                  <a:srgbClr val="1E3A4C"/>
                </a:solidFill>
                <a:latin typeface="Calibri"/>
                <a:ea typeface="Calibri"/>
                <a:cs typeface="Calibri"/>
                <a:sym typeface="Calibri"/>
              </a:rPr>
              <a:t>Character Error Rate</a:t>
            </a:r>
            <a:endParaRPr sz="1100" b="1"/>
          </a:p>
        </p:txBody>
      </p:sp>
      <p:sp>
        <p:nvSpPr>
          <p:cNvPr id="151" name="Google Shape;151;p19"/>
          <p:cNvSpPr txBox="1"/>
          <p:nvPr/>
        </p:nvSpPr>
        <p:spPr>
          <a:xfrm>
            <a:off x="446525" y="3283964"/>
            <a:ext cx="1021500" cy="274200"/>
          </a:xfrm>
          <a:prstGeom prst="rect">
            <a:avLst/>
          </a:prstGeom>
          <a:solidFill>
            <a:srgbClr val="B6D7A8"/>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750" b="1">
                <a:solidFill>
                  <a:srgbClr val="1E3A4C"/>
                </a:solidFill>
                <a:latin typeface="Calibri"/>
                <a:ea typeface="Calibri"/>
                <a:cs typeface="Calibri"/>
                <a:sym typeface="Calibri"/>
              </a:rPr>
              <a:t>Word Error Rate</a:t>
            </a:r>
            <a:endParaRPr sz="750" b="1"/>
          </a:p>
        </p:txBody>
      </p:sp>
      <p:cxnSp>
        <p:nvCxnSpPr>
          <p:cNvPr id="152" name="Google Shape;152;p19"/>
          <p:cNvCxnSpPr/>
          <p:nvPr/>
        </p:nvCxnSpPr>
        <p:spPr>
          <a:xfrm rot="10800000" flipH="1">
            <a:off x="596651" y="3863612"/>
            <a:ext cx="776100" cy="3900"/>
          </a:xfrm>
          <a:prstGeom prst="straightConnector1">
            <a:avLst/>
          </a:prstGeom>
          <a:noFill/>
          <a:ln w="9525" cap="flat" cmpd="sng">
            <a:solidFill>
              <a:schemeClr val="dk2"/>
            </a:solidFill>
            <a:prstDash val="solid"/>
            <a:round/>
            <a:headEnd type="none" w="med" len="med"/>
            <a:tailEnd type="none" w="med" len="med"/>
          </a:ln>
        </p:spPr>
      </p:cxnSp>
      <p:sp>
        <p:nvSpPr>
          <p:cNvPr id="153" name="Google Shape;153;p19"/>
          <p:cNvSpPr txBox="1"/>
          <p:nvPr/>
        </p:nvSpPr>
        <p:spPr>
          <a:xfrm>
            <a:off x="347475" y="4095375"/>
            <a:ext cx="1327800" cy="6075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650" b="1" i="1">
                <a:solidFill>
                  <a:srgbClr val="1E3A4C"/>
                </a:solidFill>
                <a:latin typeface="Calibri"/>
                <a:ea typeface="Calibri"/>
                <a:cs typeface="Calibri"/>
                <a:sym typeface="Calibri"/>
              </a:rPr>
              <a:t>S = substitutions,</a:t>
            </a:r>
            <a:endParaRPr sz="650" b="1" i="1">
              <a:solidFill>
                <a:srgbClr val="1E3A4C"/>
              </a:solidFill>
              <a:latin typeface="Calibri"/>
              <a:ea typeface="Calibri"/>
              <a:cs typeface="Calibri"/>
              <a:sym typeface="Calibri"/>
            </a:endParaRPr>
          </a:p>
          <a:p>
            <a:pPr marL="0" lvl="0" indent="0" algn="l" rtl="0">
              <a:spcBef>
                <a:spcPts val="0"/>
              </a:spcBef>
              <a:spcAft>
                <a:spcPts val="0"/>
              </a:spcAft>
              <a:buNone/>
            </a:pPr>
            <a:r>
              <a:rPr lang="en" sz="650" b="1" i="1">
                <a:solidFill>
                  <a:srgbClr val="1E3A4C"/>
                </a:solidFill>
                <a:latin typeface="Calibri"/>
                <a:ea typeface="Calibri"/>
                <a:cs typeface="Calibri"/>
                <a:sym typeface="Calibri"/>
              </a:rPr>
              <a:t>D = Deletions,</a:t>
            </a:r>
            <a:endParaRPr sz="650" b="1" i="1">
              <a:solidFill>
                <a:srgbClr val="1E3A4C"/>
              </a:solidFill>
              <a:latin typeface="Calibri"/>
              <a:ea typeface="Calibri"/>
              <a:cs typeface="Calibri"/>
              <a:sym typeface="Calibri"/>
            </a:endParaRPr>
          </a:p>
          <a:p>
            <a:pPr marL="0" lvl="0" indent="0" algn="l" rtl="0">
              <a:spcBef>
                <a:spcPts val="0"/>
              </a:spcBef>
              <a:spcAft>
                <a:spcPts val="0"/>
              </a:spcAft>
              <a:buNone/>
            </a:pPr>
            <a:r>
              <a:rPr lang="en" sz="650" b="1" i="1">
                <a:solidFill>
                  <a:srgbClr val="1E3A4C"/>
                </a:solidFill>
                <a:latin typeface="Calibri"/>
                <a:ea typeface="Calibri"/>
                <a:cs typeface="Calibri"/>
                <a:sym typeface="Calibri"/>
              </a:rPr>
              <a:t>I = Insertions,</a:t>
            </a:r>
            <a:endParaRPr sz="650" b="1" i="1">
              <a:solidFill>
                <a:srgbClr val="1E3A4C"/>
              </a:solidFill>
              <a:latin typeface="Calibri"/>
              <a:ea typeface="Calibri"/>
              <a:cs typeface="Calibri"/>
              <a:sym typeface="Calibri"/>
            </a:endParaRPr>
          </a:p>
          <a:p>
            <a:pPr marL="0" lvl="0" indent="0" algn="l" rtl="0">
              <a:spcBef>
                <a:spcPts val="0"/>
              </a:spcBef>
              <a:spcAft>
                <a:spcPts val="0"/>
              </a:spcAft>
              <a:buNone/>
            </a:pPr>
            <a:r>
              <a:rPr lang="en" sz="650" b="1" i="1">
                <a:solidFill>
                  <a:srgbClr val="1E3A4C"/>
                </a:solidFill>
                <a:latin typeface="Calibri"/>
                <a:ea typeface="Calibri"/>
                <a:cs typeface="Calibri"/>
                <a:sym typeface="Calibri"/>
              </a:rPr>
              <a:t>N = Total reference objects</a:t>
            </a:r>
            <a:endParaRPr sz="1000" b="1" i="1"/>
          </a:p>
        </p:txBody>
      </p:sp>
      <p:sp>
        <p:nvSpPr>
          <p:cNvPr id="154" name="Google Shape;154;p19"/>
          <p:cNvSpPr txBox="1"/>
          <p:nvPr/>
        </p:nvSpPr>
        <p:spPr>
          <a:xfrm>
            <a:off x="6123250" y="1111221"/>
            <a:ext cx="914400" cy="320100"/>
          </a:xfrm>
          <a:prstGeom prst="rect">
            <a:avLst/>
          </a:prstGeom>
          <a:solidFill>
            <a:srgbClr val="FCE5CD"/>
          </a:solidFill>
          <a:ln>
            <a:noFill/>
          </a:ln>
        </p:spPr>
        <p:txBody>
          <a:bodyPr spcFirstLastPara="1" wrap="square" lIns="75275" tIns="75275" rIns="75275" bIns="75275" anchor="ctr" anchorCtr="0">
            <a:noAutofit/>
          </a:bodyPr>
          <a:lstStyle/>
          <a:p>
            <a:pPr marL="0" lvl="0" indent="0" algn="ctr" rtl="0">
              <a:spcBef>
                <a:spcPts val="0"/>
              </a:spcBef>
              <a:spcAft>
                <a:spcPts val="0"/>
              </a:spcAft>
              <a:buNone/>
            </a:pPr>
            <a:r>
              <a:rPr lang="en" sz="1050" b="1">
                <a:solidFill>
                  <a:srgbClr val="1E3A4C"/>
                </a:solidFill>
                <a:latin typeface="Calibri"/>
                <a:ea typeface="Calibri"/>
                <a:cs typeface="Calibri"/>
                <a:sym typeface="Calibri"/>
              </a:rPr>
              <a:t>Greedy decoding</a:t>
            </a:r>
            <a:endParaRPr sz="1050" b="1"/>
          </a:p>
        </p:txBody>
      </p:sp>
      <p:cxnSp>
        <p:nvCxnSpPr>
          <p:cNvPr id="155" name="Google Shape;155;p19"/>
          <p:cNvCxnSpPr>
            <a:stCxn id="154" idx="3"/>
            <a:endCxn id="156" idx="1"/>
          </p:cNvCxnSpPr>
          <p:nvPr/>
        </p:nvCxnSpPr>
        <p:spPr>
          <a:xfrm rot="10800000" flipH="1">
            <a:off x="7037650" y="1268871"/>
            <a:ext cx="357300" cy="2400"/>
          </a:xfrm>
          <a:prstGeom prst="straightConnector1">
            <a:avLst/>
          </a:prstGeom>
          <a:noFill/>
          <a:ln w="7850" cap="flat" cmpd="sng">
            <a:solidFill>
              <a:schemeClr val="dk2"/>
            </a:solidFill>
            <a:prstDash val="solid"/>
            <a:round/>
            <a:headEnd type="none" w="med" len="med"/>
            <a:tailEnd type="triangle" w="med" len="med"/>
          </a:ln>
        </p:spPr>
      </p:cxnSp>
      <p:sp>
        <p:nvSpPr>
          <p:cNvPr id="156" name="Google Shape;156;p19"/>
          <p:cNvSpPr txBox="1"/>
          <p:nvPr/>
        </p:nvSpPr>
        <p:spPr>
          <a:xfrm>
            <a:off x="7394900" y="1108810"/>
            <a:ext cx="1348500" cy="320100"/>
          </a:xfrm>
          <a:prstGeom prst="rect">
            <a:avLst/>
          </a:prstGeom>
          <a:solidFill>
            <a:srgbClr val="C9DAF8"/>
          </a:solidFill>
          <a:ln>
            <a:noFill/>
          </a:ln>
        </p:spPr>
        <p:txBody>
          <a:bodyPr spcFirstLastPara="1" wrap="square" lIns="75275" tIns="75275" rIns="75275" bIns="75275" anchor="ctr" anchorCtr="0">
            <a:noAutofit/>
          </a:bodyPr>
          <a:lstStyle/>
          <a:p>
            <a:pPr marL="0" lvl="0" indent="0" algn="ctr" rtl="0">
              <a:spcBef>
                <a:spcPts val="0"/>
              </a:spcBef>
              <a:spcAft>
                <a:spcPts val="0"/>
              </a:spcAft>
              <a:buNone/>
            </a:pPr>
            <a:r>
              <a:rPr lang="en" sz="1065" b="1">
                <a:solidFill>
                  <a:srgbClr val="1E3A4C"/>
                </a:solidFill>
                <a:latin typeface="Calibri"/>
                <a:ea typeface="Calibri"/>
                <a:cs typeface="Calibri"/>
                <a:sym typeface="Calibri"/>
              </a:rPr>
              <a:t>Beam Search + KenLM</a:t>
            </a:r>
            <a:endParaRPr sz="1065" b="1"/>
          </a:p>
        </p:txBody>
      </p:sp>
      <p:sp>
        <p:nvSpPr>
          <p:cNvPr id="157" name="Google Shape;157;p19"/>
          <p:cNvSpPr/>
          <p:nvPr/>
        </p:nvSpPr>
        <p:spPr>
          <a:xfrm>
            <a:off x="6315560" y="1528382"/>
            <a:ext cx="722100" cy="399000"/>
          </a:xfrm>
          <a:prstGeom prst="rect">
            <a:avLst/>
          </a:prstGeom>
          <a:solidFill>
            <a:srgbClr val="EBF4FA"/>
          </a:solidFill>
          <a:ln>
            <a:noFill/>
          </a:ln>
        </p:spPr>
        <p:txBody>
          <a:bodyPr spcFirstLastPara="1" wrap="square" lIns="75275" tIns="75275" rIns="75275" bIns="75275" anchor="ctr" anchorCtr="0">
            <a:noAutofit/>
          </a:bodyPr>
          <a:lstStyle/>
          <a:p>
            <a:pPr marL="0" lvl="0" indent="0" algn="ctr" rtl="0">
              <a:spcBef>
                <a:spcPts val="0"/>
              </a:spcBef>
              <a:spcAft>
                <a:spcPts val="0"/>
              </a:spcAft>
              <a:buNone/>
            </a:pPr>
            <a:r>
              <a:rPr lang="en" sz="865" i="1">
                <a:latin typeface="Calibri"/>
                <a:ea typeface="Calibri"/>
                <a:cs typeface="Calibri"/>
                <a:sym typeface="Calibri"/>
              </a:rPr>
              <a:t>Argmax at each timestep</a:t>
            </a:r>
            <a:endParaRPr sz="865" i="1">
              <a:latin typeface="Calibri"/>
              <a:ea typeface="Calibri"/>
              <a:cs typeface="Calibri"/>
              <a:sym typeface="Calibri"/>
            </a:endParaRPr>
          </a:p>
        </p:txBody>
      </p:sp>
      <p:sp>
        <p:nvSpPr>
          <p:cNvPr id="158" name="Google Shape;158;p19"/>
          <p:cNvSpPr/>
          <p:nvPr/>
        </p:nvSpPr>
        <p:spPr>
          <a:xfrm>
            <a:off x="7623751" y="1508335"/>
            <a:ext cx="1088400" cy="399000"/>
          </a:xfrm>
          <a:prstGeom prst="rect">
            <a:avLst/>
          </a:prstGeom>
          <a:solidFill>
            <a:srgbClr val="EBF4FA"/>
          </a:solidFill>
          <a:ln>
            <a:noFill/>
          </a:ln>
        </p:spPr>
        <p:txBody>
          <a:bodyPr spcFirstLastPara="1" wrap="square" lIns="75275" tIns="75275" rIns="75275" bIns="75275" anchor="ctr" anchorCtr="0">
            <a:noAutofit/>
          </a:bodyPr>
          <a:lstStyle/>
          <a:p>
            <a:pPr marL="0" lvl="0" indent="0" algn="ctr" rtl="0">
              <a:spcBef>
                <a:spcPts val="0"/>
              </a:spcBef>
              <a:spcAft>
                <a:spcPts val="0"/>
              </a:spcAft>
              <a:buNone/>
            </a:pPr>
            <a:r>
              <a:rPr lang="en" sz="865" i="1">
                <a:latin typeface="Calibri"/>
                <a:ea typeface="Calibri"/>
                <a:cs typeface="Calibri"/>
                <a:sym typeface="Calibri"/>
              </a:rPr>
              <a:t>3-gram LM trained on LibriSpeech, top-50 beam comparison</a:t>
            </a:r>
            <a:endParaRPr sz="865" i="1">
              <a:latin typeface="Calibri"/>
              <a:ea typeface="Calibri"/>
              <a:cs typeface="Calibri"/>
              <a:sym typeface="Calibri"/>
            </a:endParaRPr>
          </a:p>
        </p:txBody>
      </p:sp>
      <p:sp>
        <p:nvSpPr>
          <p:cNvPr id="159" name="Google Shape;159;p19"/>
          <p:cNvSpPr/>
          <p:nvPr/>
        </p:nvSpPr>
        <p:spPr>
          <a:xfrm>
            <a:off x="7015668" y="865598"/>
            <a:ext cx="840900" cy="2256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0B4D8"/>
              </a:buClr>
              <a:buSzPts val="906"/>
              <a:buFont typeface="Calibri"/>
              <a:buNone/>
            </a:pPr>
            <a:r>
              <a:rPr lang="en" sz="1100" b="1">
                <a:solidFill>
                  <a:srgbClr val="0077A8"/>
                </a:solidFill>
                <a:latin typeface="Calibri"/>
                <a:ea typeface="Calibri"/>
                <a:cs typeface="Calibri"/>
                <a:sym typeface="Calibri"/>
              </a:rPr>
              <a:t>Inference</a:t>
            </a:r>
            <a:endParaRPr sz="1100" b="0" i="0" u="none" strike="noStrike" cap="none">
              <a:solidFill>
                <a:schemeClr val="dk1"/>
              </a:solidFill>
              <a:latin typeface="Calibri"/>
              <a:ea typeface="Calibri"/>
              <a:cs typeface="Calibri"/>
              <a:sym typeface="Calibri"/>
            </a:endParaRPr>
          </a:p>
        </p:txBody>
      </p:sp>
      <p:sp>
        <p:nvSpPr>
          <p:cNvPr id="160" name="Google Shape;160;p19"/>
          <p:cNvSpPr/>
          <p:nvPr/>
        </p:nvSpPr>
        <p:spPr>
          <a:xfrm>
            <a:off x="6554860" y="2280357"/>
            <a:ext cx="267000" cy="274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1E3A4C"/>
              </a:buClr>
              <a:buSzPts val="1100"/>
              <a:buFont typeface="Calibri"/>
              <a:buNone/>
            </a:pPr>
            <a:r>
              <a:rPr lang="en" sz="800" b="1">
                <a:solidFill>
                  <a:srgbClr val="1E3A4C"/>
                </a:solidFill>
                <a:latin typeface="Calibri"/>
                <a:ea typeface="Calibri"/>
                <a:cs typeface="Calibri"/>
                <a:sym typeface="Calibri"/>
              </a:rPr>
              <a:t>VAL</a:t>
            </a:r>
            <a:endParaRPr sz="800" b="0" i="0" u="none" strike="noStrike" cap="none">
              <a:solidFill>
                <a:schemeClr val="dk1"/>
              </a:solidFill>
              <a:latin typeface="Calibri"/>
              <a:ea typeface="Calibri"/>
              <a:cs typeface="Calibri"/>
              <a:sym typeface="Calibri"/>
            </a:endParaRPr>
          </a:p>
        </p:txBody>
      </p:sp>
      <p:sp>
        <p:nvSpPr>
          <p:cNvPr id="161" name="Google Shape;161;p19"/>
          <p:cNvSpPr/>
          <p:nvPr/>
        </p:nvSpPr>
        <p:spPr>
          <a:xfrm>
            <a:off x="7665002" y="2280339"/>
            <a:ext cx="320700" cy="274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1E3A4C"/>
              </a:buClr>
              <a:buSzPts val="1100"/>
              <a:buFont typeface="Calibri"/>
              <a:buNone/>
            </a:pPr>
            <a:r>
              <a:rPr lang="en" sz="800" b="1">
                <a:solidFill>
                  <a:srgbClr val="1E3A4C"/>
                </a:solidFill>
                <a:latin typeface="Calibri"/>
                <a:ea typeface="Calibri"/>
                <a:cs typeface="Calibri"/>
                <a:sym typeface="Calibri"/>
              </a:rPr>
              <a:t>TEST</a:t>
            </a:r>
            <a:endParaRPr sz="800" b="0" i="0" u="none" strike="noStrike" cap="none">
              <a:solidFill>
                <a:schemeClr val="dk1"/>
              </a:solidFill>
              <a:latin typeface="Calibri"/>
              <a:ea typeface="Calibri"/>
              <a:cs typeface="Calibri"/>
              <a:sym typeface="Calibri"/>
            </a:endParaRPr>
          </a:p>
        </p:txBody>
      </p:sp>
      <p:pic>
        <p:nvPicPr>
          <p:cNvPr id="162" name="Google Shape;162;p19" title="val_wer.png"/>
          <p:cNvPicPr preferRelativeResize="0"/>
          <p:nvPr/>
        </p:nvPicPr>
        <p:blipFill>
          <a:blip r:embed="rId3">
            <a:alphaModFix/>
          </a:blip>
          <a:stretch>
            <a:fillRect/>
          </a:stretch>
        </p:blipFill>
        <p:spPr>
          <a:xfrm>
            <a:off x="1727507" y="2949278"/>
            <a:ext cx="2342837" cy="1757122"/>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Shape 167"/>
        <p:cNvGrpSpPr/>
        <p:nvPr/>
      </p:nvGrpSpPr>
      <p:grpSpPr>
        <a:xfrm>
          <a:off x="0" y="0"/>
          <a:ext cx="0" cy="0"/>
          <a:chOff x="0" y="0"/>
          <a:chExt cx="0" cy="0"/>
        </a:xfrm>
      </p:grpSpPr>
      <p:sp>
        <p:nvSpPr>
          <p:cNvPr id="168" name="Google Shape;168;p20"/>
          <p:cNvSpPr/>
          <p:nvPr/>
        </p:nvSpPr>
        <p:spPr>
          <a:xfrm>
            <a:off x="0" y="0"/>
            <a:ext cx="9144000" cy="458700"/>
          </a:xfrm>
          <a:prstGeom prst="rect">
            <a:avLst/>
          </a:prstGeom>
          <a:solidFill>
            <a:srgbClr val="0D1B2A"/>
          </a:solidFill>
          <a:ln w="12700" cap="flat" cmpd="sng">
            <a:solidFill>
              <a:srgbClr val="0D1B2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20"/>
          <p:cNvSpPr/>
          <p:nvPr/>
        </p:nvSpPr>
        <p:spPr>
          <a:xfrm>
            <a:off x="0" y="0"/>
            <a:ext cx="201300" cy="458700"/>
          </a:xfrm>
          <a:prstGeom prst="rect">
            <a:avLst/>
          </a:prstGeom>
          <a:solidFill>
            <a:srgbClr val="00B4D8"/>
          </a:solidFill>
          <a:ln w="12700" cap="flat" cmpd="sng">
            <a:solidFill>
              <a:srgbClr val="00B4D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20"/>
          <p:cNvSpPr/>
          <p:nvPr/>
        </p:nvSpPr>
        <p:spPr>
          <a:xfrm>
            <a:off x="347472" y="0"/>
            <a:ext cx="7772400" cy="458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300"/>
              <a:buFont typeface="Calibri"/>
              <a:buNone/>
            </a:pPr>
            <a:r>
              <a:rPr lang="en" sz="1300" b="1" i="0" u="none" strike="noStrike" cap="none">
                <a:solidFill>
                  <a:srgbClr val="FFFFFF"/>
                </a:solidFill>
                <a:latin typeface="Calibri"/>
                <a:ea typeface="Calibri"/>
                <a:cs typeface="Calibri"/>
                <a:sym typeface="Calibri"/>
              </a:rPr>
              <a:t>TEAM CONTRIBUTIONS &amp; FUTURE WORK</a:t>
            </a:r>
            <a:endParaRPr sz="1300" b="0" i="0" u="none" strike="noStrike" cap="none">
              <a:solidFill>
                <a:schemeClr val="dk1"/>
              </a:solidFill>
              <a:latin typeface="Calibri"/>
              <a:ea typeface="Calibri"/>
              <a:cs typeface="Calibri"/>
              <a:sym typeface="Calibri"/>
            </a:endParaRPr>
          </a:p>
        </p:txBody>
      </p:sp>
      <p:sp>
        <p:nvSpPr>
          <p:cNvPr id="171" name="Google Shape;171;p20"/>
          <p:cNvSpPr/>
          <p:nvPr/>
        </p:nvSpPr>
        <p:spPr>
          <a:xfrm>
            <a:off x="8046720" y="114681"/>
            <a:ext cx="914400" cy="2229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00B4D8"/>
              </a:buClr>
              <a:buSzPts val="900"/>
              <a:buFont typeface="Calibri"/>
              <a:buNone/>
            </a:pPr>
            <a:r>
              <a:rPr lang="en" sz="900" b="0" i="0" u="none" strike="noStrike" cap="none">
                <a:solidFill>
                  <a:srgbClr val="00B4D8"/>
                </a:solidFill>
                <a:latin typeface="Calibri"/>
                <a:ea typeface="Calibri"/>
                <a:cs typeface="Calibri"/>
                <a:sym typeface="Calibri"/>
              </a:rPr>
              <a:t>04 / 04</a:t>
            </a:r>
            <a:endParaRPr sz="900" b="0" i="0" u="none" strike="noStrike" cap="none">
              <a:solidFill>
                <a:schemeClr val="dk1"/>
              </a:solidFill>
              <a:latin typeface="Calibri"/>
              <a:ea typeface="Calibri"/>
              <a:cs typeface="Calibri"/>
              <a:sym typeface="Calibri"/>
            </a:endParaRPr>
          </a:p>
        </p:txBody>
      </p:sp>
      <p:sp>
        <p:nvSpPr>
          <p:cNvPr id="172" name="Google Shape;172;p20"/>
          <p:cNvSpPr/>
          <p:nvPr/>
        </p:nvSpPr>
        <p:spPr>
          <a:xfrm>
            <a:off x="274320" y="777240"/>
            <a:ext cx="5029200"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3A4C"/>
              </a:buClr>
              <a:buSzPts val="1300"/>
              <a:buFont typeface="Calibri"/>
              <a:buNone/>
            </a:pPr>
            <a:r>
              <a:rPr lang="en" sz="1300" b="1" i="0" u="none" strike="noStrike" cap="none">
                <a:solidFill>
                  <a:srgbClr val="1E3A4C"/>
                </a:solidFill>
                <a:latin typeface="Calibri"/>
                <a:ea typeface="Calibri"/>
                <a:cs typeface="Calibri"/>
                <a:sym typeface="Calibri"/>
              </a:rPr>
              <a:t>Individual Contributions</a:t>
            </a:r>
            <a:endParaRPr sz="1300" b="0" i="0" u="none" strike="noStrike" cap="none">
              <a:solidFill>
                <a:schemeClr val="dk1"/>
              </a:solidFill>
              <a:latin typeface="Calibri"/>
              <a:ea typeface="Calibri"/>
              <a:cs typeface="Calibri"/>
              <a:sym typeface="Calibri"/>
            </a:endParaRPr>
          </a:p>
        </p:txBody>
      </p:sp>
      <p:graphicFrame>
        <p:nvGraphicFramePr>
          <p:cNvPr id="173" name="Google Shape;173;p20"/>
          <p:cNvGraphicFramePr/>
          <p:nvPr/>
        </p:nvGraphicFramePr>
        <p:xfrm>
          <a:off x="274320" y="1115568"/>
          <a:ext cx="3000000" cy="3000000"/>
        </p:xfrm>
        <a:graphic>
          <a:graphicData uri="http://schemas.openxmlformats.org/drawingml/2006/table">
            <a:tbl>
              <a:tblPr>
                <a:noFill/>
                <a:tableStyleId>{6EC3C7F0-2309-4531-97DA-3BB09D230519}</a:tableStyleId>
              </a:tblPr>
              <a:tblGrid>
                <a:gridCol w="1463050">
                  <a:extLst>
                    <a:ext uri="{9D8B030D-6E8A-4147-A177-3AD203B41FA5}">
                      <a16:colId xmlns:a16="http://schemas.microsoft.com/office/drawing/2014/main" val="20000"/>
                    </a:ext>
                  </a:extLst>
                </a:gridCol>
                <a:gridCol w="1325875">
                  <a:extLst>
                    <a:ext uri="{9D8B030D-6E8A-4147-A177-3AD203B41FA5}">
                      <a16:colId xmlns:a16="http://schemas.microsoft.com/office/drawing/2014/main" val="20001"/>
                    </a:ext>
                  </a:extLst>
                </a:gridCol>
                <a:gridCol w="5806450">
                  <a:extLst>
                    <a:ext uri="{9D8B030D-6E8A-4147-A177-3AD203B41FA5}">
                      <a16:colId xmlns:a16="http://schemas.microsoft.com/office/drawing/2014/main" val="20002"/>
                    </a:ext>
                  </a:extLst>
                </a:gridCol>
              </a:tblGrid>
              <a:tr h="347475">
                <a:tc>
                  <a:txBody>
                    <a:bodyPr/>
                    <a:lstStyle/>
                    <a:p>
                      <a:pPr marL="0" marR="0" lvl="0" indent="0" algn="ctr" rtl="0">
                        <a:spcBef>
                          <a:spcPts val="0"/>
                        </a:spcBef>
                        <a:spcAft>
                          <a:spcPts val="0"/>
                        </a:spcAft>
                        <a:buClr>
                          <a:srgbClr val="FFFFFF"/>
                        </a:buClr>
                        <a:buSzPts val="1100"/>
                        <a:buFont typeface="Calibri"/>
                        <a:buNone/>
                      </a:pPr>
                      <a:r>
                        <a:rPr lang="en" sz="1100" b="1" u="none" strike="noStrike" cap="none">
                          <a:solidFill>
                            <a:srgbClr val="FFFFFF"/>
                          </a:solidFill>
                        </a:rPr>
                        <a:t>Member</a:t>
                      </a:r>
                      <a:endParaRPr sz="1100" u="none" strike="noStrike" cap="none"/>
                    </a:p>
                  </a:txBody>
                  <a:tcPr marL="91450" marR="91450" marT="45725" marB="45725">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solidFill>
                      <a:srgbClr val="0D1B2A"/>
                    </a:solidFill>
                  </a:tcPr>
                </a:tc>
                <a:tc>
                  <a:txBody>
                    <a:bodyPr/>
                    <a:lstStyle/>
                    <a:p>
                      <a:pPr marL="0" marR="0" lvl="0" indent="0" algn="ctr" rtl="0">
                        <a:spcBef>
                          <a:spcPts val="0"/>
                        </a:spcBef>
                        <a:spcAft>
                          <a:spcPts val="0"/>
                        </a:spcAft>
                        <a:buClr>
                          <a:srgbClr val="FFFFFF"/>
                        </a:buClr>
                        <a:buSzPts val="1100"/>
                        <a:buFont typeface="Calibri"/>
                        <a:buNone/>
                      </a:pPr>
                      <a:r>
                        <a:rPr lang="en" sz="1100" b="1" u="none" strike="noStrike" cap="none">
                          <a:solidFill>
                            <a:srgbClr val="FFFFFF"/>
                          </a:solidFill>
                        </a:rPr>
                        <a:t>Role</a:t>
                      </a:r>
                      <a:endParaRPr sz="1100" u="none" strike="noStrike" cap="none"/>
                    </a:p>
                  </a:txBody>
                  <a:tcPr marL="91450" marR="91450" marT="45725" marB="45725">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solidFill>
                      <a:srgbClr val="0D1B2A"/>
                    </a:solidFill>
                  </a:tcPr>
                </a:tc>
                <a:tc>
                  <a:txBody>
                    <a:bodyPr/>
                    <a:lstStyle/>
                    <a:p>
                      <a:pPr marL="0" marR="0" lvl="0" indent="0" algn="ctr" rtl="0">
                        <a:spcBef>
                          <a:spcPts val="0"/>
                        </a:spcBef>
                        <a:spcAft>
                          <a:spcPts val="0"/>
                        </a:spcAft>
                        <a:buClr>
                          <a:srgbClr val="FFFFFF"/>
                        </a:buClr>
                        <a:buSzPts val="1100"/>
                        <a:buFont typeface="Calibri"/>
                        <a:buNone/>
                      </a:pPr>
                      <a:r>
                        <a:rPr lang="en" sz="1100" b="1" u="none" strike="noStrike" cap="none">
                          <a:solidFill>
                            <a:srgbClr val="FFFFFF"/>
                          </a:solidFill>
                        </a:rPr>
                        <a:t>Key Contributions</a:t>
                      </a:r>
                      <a:endParaRPr sz="1100" u="none" strike="noStrike" cap="none"/>
                    </a:p>
                  </a:txBody>
                  <a:tcPr marL="91450" marR="91450" marT="45725" marB="45725">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solidFill>
                      <a:srgbClr val="0D1B2A"/>
                    </a:solidFill>
                  </a:tcPr>
                </a:tc>
                <a:extLst>
                  <a:ext uri="{0D108BD9-81ED-4DB2-BD59-A6C34878D82A}">
                    <a16:rowId xmlns:a16="http://schemas.microsoft.com/office/drawing/2014/main" val="10000"/>
                  </a:ext>
                </a:extLst>
              </a:tr>
              <a:tr h="384050">
                <a:tc>
                  <a:txBody>
                    <a:bodyPr/>
                    <a:lstStyle/>
                    <a:p>
                      <a:pPr marL="0" marR="0" lvl="0" indent="0" algn="l" rtl="0">
                        <a:spcBef>
                          <a:spcPts val="0"/>
                        </a:spcBef>
                        <a:spcAft>
                          <a:spcPts val="0"/>
                        </a:spcAft>
                        <a:buClr>
                          <a:srgbClr val="0077A8"/>
                        </a:buClr>
                        <a:buSzPts val="1100"/>
                        <a:buFont typeface="Calibri"/>
                        <a:buNone/>
                      </a:pPr>
                      <a:r>
                        <a:rPr lang="en" sz="1100" b="1">
                          <a:solidFill>
                            <a:srgbClr val="0077A8"/>
                          </a:solidFill>
                        </a:rPr>
                        <a:t>Anubhav Sharma</a:t>
                      </a:r>
                      <a:endParaRPr sz="1100" u="none" strike="noStrike" cap="none"/>
                    </a:p>
                  </a:txBody>
                  <a:tcPr marL="91450" marR="91450" marT="45725" marB="45725">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3A4C"/>
                        </a:buClr>
                        <a:buSzPts val="1100"/>
                        <a:buFont typeface="Calibri"/>
                        <a:buNone/>
                      </a:pPr>
                      <a:r>
                        <a:rPr lang="en" sz="1100">
                          <a:solidFill>
                            <a:srgbClr val="1E3A4C"/>
                          </a:solidFill>
                        </a:rPr>
                        <a:t>Data + Optimization</a:t>
                      </a:r>
                      <a:endParaRPr sz="1100" u="none" strike="noStrike" cap="none"/>
                    </a:p>
                  </a:txBody>
                  <a:tcPr marL="91450" marR="91450" marT="45725" marB="45725">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solidFill>
                      <a:srgbClr val="FFFFFF"/>
                    </a:solidFill>
                  </a:tcPr>
                </a:tc>
                <a:tc>
                  <a:txBody>
                    <a:bodyPr/>
                    <a:lstStyle/>
                    <a:p>
                      <a:pPr marL="0" lvl="0" indent="0" algn="l" rtl="0">
                        <a:spcBef>
                          <a:spcPts val="0"/>
                        </a:spcBef>
                        <a:spcAft>
                          <a:spcPts val="0"/>
                        </a:spcAft>
                        <a:buClr>
                          <a:srgbClr val="1E3A4C"/>
                        </a:buClr>
                        <a:buSzPts val="1100"/>
                        <a:buFont typeface="Calibri"/>
                        <a:buNone/>
                      </a:pPr>
                      <a:r>
                        <a:rPr lang="en" sz="1100">
                          <a:solidFill>
                            <a:srgbClr val="1E3A4C"/>
                          </a:solidFill>
                        </a:rPr>
                        <a:t>Dataset curation, preprocessing, LSTM implementation, model performance and training optimization</a:t>
                      </a:r>
                      <a:endParaRPr sz="1100">
                        <a:solidFill>
                          <a:schemeClr val="dk1"/>
                        </a:solidFill>
                      </a:endParaRPr>
                    </a:p>
                    <a:p>
                      <a:pPr marL="0" marR="0" lvl="0" indent="0" algn="l" rtl="0">
                        <a:spcBef>
                          <a:spcPts val="0"/>
                        </a:spcBef>
                        <a:spcAft>
                          <a:spcPts val="0"/>
                        </a:spcAft>
                        <a:buClr>
                          <a:srgbClr val="1E3A4C"/>
                        </a:buClr>
                        <a:buSzPts val="1100"/>
                        <a:buFont typeface="Calibri"/>
                        <a:buNone/>
                      </a:pPr>
                      <a:endParaRPr sz="1100">
                        <a:solidFill>
                          <a:srgbClr val="1E3A4C"/>
                        </a:solidFill>
                      </a:endParaRPr>
                    </a:p>
                  </a:txBody>
                  <a:tcPr marL="91450" marR="91450" marT="45725" marB="45725">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384050">
                <a:tc>
                  <a:txBody>
                    <a:bodyPr/>
                    <a:lstStyle/>
                    <a:p>
                      <a:pPr marL="0" marR="0" lvl="0" indent="0" algn="l" rtl="0">
                        <a:spcBef>
                          <a:spcPts val="0"/>
                        </a:spcBef>
                        <a:spcAft>
                          <a:spcPts val="0"/>
                        </a:spcAft>
                        <a:buClr>
                          <a:srgbClr val="0077A8"/>
                        </a:buClr>
                        <a:buSzPts val="1100"/>
                        <a:buFont typeface="Calibri"/>
                        <a:buNone/>
                      </a:pPr>
                      <a:r>
                        <a:rPr lang="en" sz="1100" b="1">
                          <a:solidFill>
                            <a:srgbClr val="0077A8"/>
                          </a:solidFill>
                        </a:rPr>
                        <a:t>Edwin Chen</a:t>
                      </a:r>
                      <a:endParaRPr sz="1100" u="none" strike="noStrike" cap="none"/>
                    </a:p>
                  </a:txBody>
                  <a:tcPr marL="91450" marR="91450" marT="45725" marB="45725">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solidFill>
                      <a:srgbClr val="EBF4FA"/>
                    </a:solidFill>
                  </a:tcPr>
                </a:tc>
                <a:tc>
                  <a:txBody>
                    <a:bodyPr/>
                    <a:lstStyle/>
                    <a:p>
                      <a:pPr marL="0" marR="0" lvl="0" indent="0" algn="l" rtl="0">
                        <a:spcBef>
                          <a:spcPts val="0"/>
                        </a:spcBef>
                        <a:spcAft>
                          <a:spcPts val="0"/>
                        </a:spcAft>
                        <a:buClr>
                          <a:srgbClr val="1E3A4C"/>
                        </a:buClr>
                        <a:buSzPts val="1100"/>
                        <a:buFont typeface="Calibri"/>
                        <a:buNone/>
                      </a:pPr>
                      <a:r>
                        <a:rPr lang="en" sz="1100">
                          <a:solidFill>
                            <a:srgbClr val="1E3A4C"/>
                          </a:solidFill>
                        </a:rPr>
                        <a:t>Architecture Design</a:t>
                      </a:r>
                      <a:endParaRPr sz="1100" u="none" strike="noStrike" cap="none"/>
                    </a:p>
                  </a:txBody>
                  <a:tcPr marL="91450" marR="91450" marT="45725" marB="45725">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solidFill>
                      <a:srgbClr val="EBF4FA"/>
                    </a:solidFill>
                  </a:tcPr>
                </a:tc>
                <a:tc>
                  <a:txBody>
                    <a:bodyPr/>
                    <a:lstStyle/>
                    <a:p>
                      <a:pPr marL="0" marR="0" lvl="0" indent="0" algn="l" rtl="0">
                        <a:spcBef>
                          <a:spcPts val="0"/>
                        </a:spcBef>
                        <a:spcAft>
                          <a:spcPts val="0"/>
                        </a:spcAft>
                        <a:buClr>
                          <a:srgbClr val="1E3A4C"/>
                        </a:buClr>
                        <a:buSzPts val="1100"/>
                        <a:buFont typeface="Calibri"/>
                        <a:buNone/>
                      </a:pPr>
                      <a:r>
                        <a:rPr lang="en" sz="1100">
                          <a:solidFill>
                            <a:srgbClr val="1E3A4C"/>
                          </a:solidFill>
                        </a:rPr>
                        <a:t>Research and implementation of baseline Deep Speech 2 and Conformer architecture.</a:t>
                      </a:r>
                      <a:endParaRPr sz="1100" u="none" strike="noStrike" cap="none"/>
                    </a:p>
                  </a:txBody>
                  <a:tcPr marL="91450" marR="91450" marT="45725" marB="45725">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solidFill>
                      <a:srgbClr val="EBF4FA"/>
                    </a:solidFill>
                  </a:tcPr>
                </a:tc>
                <a:extLst>
                  <a:ext uri="{0D108BD9-81ED-4DB2-BD59-A6C34878D82A}">
                    <a16:rowId xmlns:a16="http://schemas.microsoft.com/office/drawing/2014/main" val="10002"/>
                  </a:ext>
                </a:extLst>
              </a:tr>
              <a:tr h="384050">
                <a:tc>
                  <a:txBody>
                    <a:bodyPr/>
                    <a:lstStyle/>
                    <a:p>
                      <a:pPr marL="0" marR="0" lvl="0" indent="0" algn="l" rtl="0">
                        <a:spcBef>
                          <a:spcPts val="0"/>
                        </a:spcBef>
                        <a:spcAft>
                          <a:spcPts val="0"/>
                        </a:spcAft>
                        <a:buClr>
                          <a:srgbClr val="0077A8"/>
                        </a:buClr>
                        <a:buSzPts val="1100"/>
                        <a:buFont typeface="Calibri"/>
                        <a:buNone/>
                      </a:pPr>
                      <a:r>
                        <a:rPr lang="en" sz="1100" b="1">
                          <a:solidFill>
                            <a:srgbClr val="0077A8"/>
                          </a:solidFill>
                        </a:rPr>
                        <a:t>Trung Lam Nguyen</a:t>
                      </a:r>
                      <a:endParaRPr sz="1100" u="none" strike="noStrike" cap="none"/>
                    </a:p>
                  </a:txBody>
                  <a:tcPr marL="91450" marR="91450" marT="45725" marB="45725">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3A4C"/>
                        </a:buClr>
                        <a:buSzPts val="1100"/>
                        <a:buFont typeface="Calibri"/>
                        <a:buNone/>
                      </a:pPr>
                      <a:r>
                        <a:rPr lang="en" sz="1100">
                          <a:solidFill>
                            <a:srgbClr val="1E3A4C"/>
                          </a:solidFill>
                        </a:rPr>
                        <a:t>Model </a:t>
                      </a:r>
                      <a:r>
                        <a:rPr lang="en" sz="1100" u="none" strike="noStrike" cap="none">
                          <a:solidFill>
                            <a:srgbClr val="1E3A4C"/>
                          </a:solidFill>
                        </a:rPr>
                        <a:t>Evaluation</a:t>
                      </a:r>
                      <a:endParaRPr sz="1100" u="none" strike="noStrike" cap="none"/>
                    </a:p>
                  </a:txBody>
                  <a:tcPr marL="91450" marR="91450" marT="45725" marB="45725">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3A4C"/>
                        </a:buClr>
                        <a:buSzPts val="1100"/>
                        <a:buFont typeface="Calibri"/>
                        <a:buNone/>
                      </a:pPr>
                      <a:r>
                        <a:rPr lang="en" sz="1100">
                          <a:solidFill>
                            <a:srgbClr val="1E3A4C"/>
                          </a:solidFill>
                        </a:rPr>
                        <a:t>CNN implementation, data loader optimization, model training and benchmarking, </a:t>
                      </a:r>
                      <a:endParaRPr sz="1100" u="none" strike="noStrike" cap="none"/>
                    </a:p>
                  </a:txBody>
                  <a:tcPr marL="91450" marR="91450" marT="45725" marB="45725">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bl>
          </a:graphicData>
        </a:graphic>
      </p:graphicFrame>
      <p:sp>
        <p:nvSpPr>
          <p:cNvPr id="174" name="Google Shape;174;p20"/>
          <p:cNvSpPr/>
          <p:nvPr/>
        </p:nvSpPr>
        <p:spPr>
          <a:xfrm>
            <a:off x="274320" y="3058713"/>
            <a:ext cx="5029200" cy="292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3A4C"/>
              </a:buClr>
              <a:buSzPts val="1300"/>
              <a:buFont typeface="Calibri"/>
              <a:buNone/>
            </a:pPr>
            <a:r>
              <a:rPr lang="en" sz="1300" b="1" i="0" u="none" strike="noStrike" cap="none">
                <a:solidFill>
                  <a:srgbClr val="1E3A4C"/>
                </a:solidFill>
                <a:latin typeface="Calibri"/>
                <a:ea typeface="Calibri"/>
                <a:cs typeface="Calibri"/>
                <a:sym typeface="Calibri"/>
              </a:rPr>
              <a:t>Plans for Future Work</a:t>
            </a:r>
            <a:endParaRPr sz="1300" b="0" i="0" u="none" strike="noStrike" cap="none">
              <a:solidFill>
                <a:schemeClr val="dk1"/>
              </a:solidFill>
              <a:latin typeface="Calibri"/>
              <a:ea typeface="Calibri"/>
              <a:cs typeface="Calibri"/>
              <a:sym typeface="Calibri"/>
            </a:endParaRPr>
          </a:p>
        </p:txBody>
      </p:sp>
      <p:sp>
        <p:nvSpPr>
          <p:cNvPr id="175" name="Google Shape;175;p20"/>
          <p:cNvSpPr/>
          <p:nvPr/>
        </p:nvSpPr>
        <p:spPr>
          <a:xfrm>
            <a:off x="274308" y="3420648"/>
            <a:ext cx="2011800" cy="1298400"/>
          </a:xfrm>
          <a:prstGeom prst="rect">
            <a:avLst/>
          </a:prstGeom>
          <a:solidFill>
            <a:srgbClr val="FFFFFF"/>
          </a:solidFill>
          <a:ln w="12700" cap="flat" cmpd="sng">
            <a:solidFill>
              <a:srgbClr val="00B4D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20"/>
          <p:cNvSpPr/>
          <p:nvPr/>
        </p:nvSpPr>
        <p:spPr>
          <a:xfrm>
            <a:off x="365760" y="3621024"/>
            <a:ext cx="1828800" cy="384000"/>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0077A8"/>
              </a:buClr>
              <a:buSzPts val="1050"/>
              <a:buFont typeface="Calibri"/>
              <a:buNone/>
            </a:pPr>
            <a:r>
              <a:rPr lang="en" sz="1050" b="1" i="0" u="none" strike="noStrike" cap="none">
                <a:solidFill>
                  <a:srgbClr val="0077A8"/>
                </a:solidFill>
                <a:latin typeface="Calibri"/>
                <a:ea typeface="Calibri"/>
                <a:cs typeface="Calibri"/>
                <a:sym typeface="Calibri"/>
              </a:rPr>
              <a:t>🔡 Language Model Integration</a:t>
            </a:r>
            <a:endParaRPr sz="1050" b="0" i="0" u="none" strike="noStrike" cap="none">
              <a:solidFill>
                <a:schemeClr val="dk1"/>
              </a:solidFill>
              <a:latin typeface="Calibri"/>
              <a:ea typeface="Calibri"/>
              <a:cs typeface="Calibri"/>
              <a:sym typeface="Calibri"/>
            </a:endParaRPr>
          </a:p>
        </p:txBody>
      </p:sp>
      <p:sp>
        <p:nvSpPr>
          <p:cNvPr id="177" name="Google Shape;177;p20"/>
          <p:cNvSpPr/>
          <p:nvPr/>
        </p:nvSpPr>
        <p:spPr>
          <a:xfrm>
            <a:off x="365735" y="3966010"/>
            <a:ext cx="1828800" cy="786300"/>
          </a:xfrm>
          <a:prstGeom prst="rect">
            <a:avLst/>
          </a:prstGeom>
          <a:noFill/>
          <a:ln>
            <a:noFill/>
          </a:ln>
        </p:spPr>
        <p:txBody>
          <a:bodyPr spcFirstLastPara="1" wrap="square" lIns="0" tIns="0" rIns="0" bIns="0" anchor="ctr" anchorCtr="0">
            <a:noAutofit/>
          </a:bodyPr>
          <a:lstStyle/>
          <a:p>
            <a:pPr marL="0" marR="0" lvl="0" indent="0" algn="l" rtl="0">
              <a:lnSpc>
                <a:spcPct val="120000"/>
              </a:lnSpc>
              <a:spcBef>
                <a:spcPts val="0"/>
              </a:spcBef>
              <a:spcAft>
                <a:spcPts val="0"/>
              </a:spcAft>
              <a:buClr>
                <a:srgbClr val="5A7A8A"/>
              </a:buClr>
              <a:buSzPts val="950"/>
              <a:buFont typeface="Calibri"/>
              <a:buNone/>
            </a:pPr>
            <a:r>
              <a:rPr lang="en" sz="950" b="0" i="0" u="none" strike="noStrike" cap="none">
                <a:solidFill>
                  <a:srgbClr val="5A7A8A"/>
                </a:solidFill>
                <a:latin typeface="Calibri"/>
                <a:ea typeface="Calibri"/>
                <a:cs typeface="Calibri"/>
                <a:sym typeface="Calibri"/>
              </a:rPr>
              <a:t>Couple acoustic model with </a:t>
            </a:r>
            <a:r>
              <a:rPr lang="en" sz="950">
                <a:solidFill>
                  <a:srgbClr val="5A7A8A"/>
                </a:solidFill>
                <a:latin typeface="Calibri"/>
                <a:ea typeface="Calibri"/>
                <a:cs typeface="Calibri"/>
                <a:sym typeface="Calibri"/>
              </a:rPr>
              <a:t>fine-tuned </a:t>
            </a:r>
            <a:r>
              <a:rPr lang="en" sz="950" b="0" i="0" u="none" strike="noStrike" cap="none">
                <a:solidFill>
                  <a:srgbClr val="5A7A8A"/>
                </a:solidFill>
                <a:latin typeface="Calibri"/>
                <a:ea typeface="Calibri"/>
                <a:cs typeface="Calibri"/>
                <a:sym typeface="Calibri"/>
              </a:rPr>
              <a:t>n-gram or transformer LM for rescoring</a:t>
            </a:r>
            <a:endParaRPr sz="950" b="0" i="0" u="none" strike="noStrike" cap="none">
              <a:solidFill>
                <a:schemeClr val="dk1"/>
              </a:solidFill>
              <a:latin typeface="Calibri"/>
              <a:ea typeface="Calibri"/>
              <a:cs typeface="Calibri"/>
              <a:sym typeface="Calibri"/>
            </a:endParaRPr>
          </a:p>
        </p:txBody>
      </p:sp>
      <p:sp>
        <p:nvSpPr>
          <p:cNvPr id="178" name="Google Shape;178;p20"/>
          <p:cNvSpPr/>
          <p:nvPr/>
        </p:nvSpPr>
        <p:spPr>
          <a:xfrm>
            <a:off x="3547806" y="3420648"/>
            <a:ext cx="2011800" cy="1298400"/>
          </a:xfrm>
          <a:prstGeom prst="rect">
            <a:avLst/>
          </a:prstGeom>
          <a:solidFill>
            <a:srgbClr val="FFFFFF"/>
          </a:solidFill>
          <a:ln w="12700" cap="flat" cmpd="sng">
            <a:solidFill>
              <a:srgbClr val="00B4D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20"/>
          <p:cNvSpPr/>
          <p:nvPr/>
        </p:nvSpPr>
        <p:spPr>
          <a:xfrm>
            <a:off x="3639321" y="3621024"/>
            <a:ext cx="1828800" cy="384000"/>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0077A8"/>
              </a:buClr>
              <a:buSzPts val="1050"/>
              <a:buFont typeface="Calibri"/>
              <a:buNone/>
            </a:pPr>
            <a:r>
              <a:rPr lang="en" sz="1050" b="1" i="0" u="none" strike="noStrike" cap="none">
                <a:solidFill>
                  <a:srgbClr val="0077A8"/>
                </a:solidFill>
                <a:latin typeface="Calibri"/>
                <a:ea typeface="Calibri"/>
                <a:cs typeface="Calibri"/>
                <a:sym typeface="Calibri"/>
              </a:rPr>
              <a:t>📊 Scale Training Data</a:t>
            </a:r>
            <a:endParaRPr sz="1050" b="0" i="0" u="none" strike="noStrike" cap="none">
              <a:solidFill>
                <a:schemeClr val="dk1"/>
              </a:solidFill>
              <a:latin typeface="Calibri"/>
              <a:ea typeface="Calibri"/>
              <a:cs typeface="Calibri"/>
              <a:sym typeface="Calibri"/>
            </a:endParaRPr>
          </a:p>
        </p:txBody>
      </p:sp>
      <p:sp>
        <p:nvSpPr>
          <p:cNvPr id="180" name="Google Shape;180;p20"/>
          <p:cNvSpPr/>
          <p:nvPr/>
        </p:nvSpPr>
        <p:spPr>
          <a:xfrm>
            <a:off x="3639321" y="3801710"/>
            <a:ext cx="1828800" cy="786300"/>
          </a:xfrm>
          <a:prstGeom prst="rect">
            <a:avLst/>
          </a:prstGeom>
          <a:noFill/>
          <a:ln>
            <a:noFill/>
          </a:ln>
        </p:spPr>
        <p:txBody>
          <a:bodyPr spcFirstLastPara="1" wrap="square" lIns="0" tIns="0" rIns="0" bIns="0" anchor="ctr" anchorCtr="0">
            <a:noAutofit/>
          </a:bodyPr>
          <a:lstStyle/>
          <a:p>
            <a:pPr marL="0" marR="0" lvl="0" indent="0" algn="l" rtl="0">
              <a:lnSpc>
                <a:spcPct val="120000"/>
              </a:lnSpc>
              <a:spcBef>
                <a:spcPts val="0"/>
              </a:spcBef>
              <a:spcAft>
                <a:spcPts val="0"/>
              </a:spcAft>
              <a:buClr>
                <a:srgbClr val="5A7A8A"/>
              </a:buClr>
              <a:buSzPts val="950"/>
              <a:buFont typeface="Calibri"/>
              <a:buNone/>
            </a:pPr>
            <a:r>
              <a:rPr lang="en" sz="950" b="0" i="0" u="none" strike="noStrike" cap="none">
                <a:solidFill>
                  <a:srgbClr val="5A7A8A"/>
                </a:solidFill>
                <a:latin typeface="Calibri"/>
                <a:ea typeface="Calibri"/>
                <a:cs typeface="Calibri"/>
                <a:sym typeface="Calibri"/>
              </a:rPr>
              <a:t>Train on full 960h LibriSpeech</a:t>
            </a:r>
            <a:r>
              <a:rPr lang="en" sz="950">
                <a:solidFill>
                  <a:srgbClr val="5A7A8A"/>
                </a:solidFill>
                <a:latin typeface="Calibri"/>
                <a:ea typeface="Calibri"/>
                <a:cs typeface="Calibri"/>
                <a:sym typeface="Calibri"/>
              </a:rPr>
              <a:t> and </a:t>
            </a:r>
            <a:r>
              <a:rPr lang="en" sz="950" b="0" i="0" u="none" strike="noStrike" cap="none">
                <a:solidFill>
                  <a:srgbClr val="5A7A8A"/>
                </a:solidFill>
                <a:latin typeface="Calibri"/>
                <a:ea typeface="Calibri"/>
                <a:cs typeface="Calibri"/>
                <a:sym typeface="Calibri"/>
              </a:rPr>
              <a:t>explore multilingual CommonVoice</a:t>
            </a:r>
            <a:endParaRPr sz="950" b="0" i="0" u="none" strike="noStrike" cap="none">
              <a:solidFill>
                <a:schemeClr val="dk1"/>
              </a:solidFill>
              <a:latin typeface="Calibri"/>
              <a:ea typeface="Calibri"/>
              <a:cs typeface="Calibri"/>
              <a:sym typeface="Calibri"/>
            </a:endParaRPr>
          </a:p>
        </p:txBody>
      </p:sp>
      <p:sp>
        <p:nvSpPr>
          <p:cNvPr id="181" name="Google Shape;181;p20"/>
          <p:cNvSpPr/>
          <p:nvPr/>
        </p:nvSpPr>
        <p:spPr>
          <a:xfrm>
            <a:off x="6857889" y="3420648"/>
            <a:ext cx="2011800" cy="1298400"/>
          </a:xfrm>
          <a:prstGeom prst="rect">
            <a:avLst/>
          </a:prstGeom>
          <a:solidFill>
            <a:srgbClr val="FFFFFF"/>
          </a:solidFill>
          <a:ln w="12700" cap="flat" cmpd="sng">
            <a:solidFill>
              <a:srgbClr val="00B4D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20"/>
          <p:cNvSpPr/>
          <p:nvPr/>
        </p:nvSpPr>
        <p:spPr>
          <a:xfrm>
            <a:off x="7004304" y="3621024"/>
            <a:ext cx="1828800" cy="384000"/>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0077A8"/>
              </a:buClr>
              <a:buSzPts val="1050"/>
              <a:buFont typeface="Calibri"/>
              <a:buNone/>
            </a:pPr>
            <a:r>
              <a:rPr lang="en" sz="1050" b="1" i="0" u="none" strike="noStrike" cap="none">
                <a:solidFill>
                  <a:srgbClr val="0077A8"/>
                </a:solidFill>
                <a:latin typeface="Calibri"/>
                <a:ea typeface="Calibri"/>
                <a:cs typeface="Calibri"/>
                <a:sym typeface="Calibri"/>
              </a:rPr>
              <a:t>🎙 Noise Robustness</a:t>
            </a:r>
            <a:endParaRPr sz="1050" b="0" i="0" u="none" strike="noStrike" cap="none">
              <a:solidFill>
                <a:schemeClr val="dk1"/>
              </a:solidFill>
              <a:latin typeface="Calibri"/>
              <a:ea typeface="Calibri"/>
              <a:cs typeface="Calibri"/>
              <a:sym typeface="Calibri"/>
            </a:endParaRPr>
          </a:p>
        </p:txBody>
      </p:sp>
      <p:sp>
        <p:nvSpPr>
          <p:cNvPr id="183" name="Google Shape;183;p20"/>
          <p:cNvSpPr/>
          <p:nvPr/>
        </p:nvSpPr>
        <p:spPr>
          <a:xfrm>
            <a:off x="7004304" y="3801710"/>
            <a:ext cx="1828800" cy="786300"/>
          </a:xfrm>
          <a:prstGeom prst="rect">
            <a:avLst/>
          </a:prstGeom>
          <a:noFill/>
          <a:ln>
            <a:noFill/>
          </a:ln>
        </p:spPr>
        <p:txBody>
          <a:bodyPr spcFirstLastPara="1" wrap="square" lIns="0" tIns="0" rIns="0" bIns="0" anchor="ctr" anchorCtr="0">
            <a:noAutofit/>
          </a:bodyPr>
          <a:lstStyle/>
          <a:p>
            <a:pPr marL="0" marR="0" lvl="0" indent="0" algn="l" rtl="0">
              <a:lnSpc>
                <a:spcPct val="120000"/>
              </a:lnSpc>
              <a:spcBef>
                <a:spcPts val="0"/>
              </a:spcBef>
              <a:spcAft>
                <a:spcPts val="0"/>
              </a:spcAft>
              <a:buClr>
                <a:srgbClr val="5A7A8A"/>
              </a:buClr>
              <a:buSzPts val="950"/>
              <a:buFont typeface="Calibri"/>
              <a:buNone/>
            </a:pPr>
            <a:r>
              <a:rPr lang="en" sz="950" b="0" i="0" u="none" strike="noStrike" cap="none">
                <a:solidFill>
                  <a:srgbClr val="5A7A8A"/>
                </a:solidFill>
                <a:latin typeface="Calibri"/>
                <a:ea typeface="Calibri"/>
                <a:cs typeface="Calibri"/>
                <a:sym typeface="Calibri"/>
              </a:rPr>
              <a:t>Environmental noise augmentation and speaker adaptation</a:t>
            </a:r>
            <a:endParaRPr sz="950" b="0" i="0" u="none" strike="noStrike" cap="none">
              <a:solidFill>
                <a:schemeClr val="dk1"/>
              </a:solidFill>
              <a:latin typeface="Calibri"/>
              <a:ea typeface="Calibri"/>
              <a:cs typeface="Calibri"/>
              <a:sym typeface="Calibri"/>
            </a:endParaRPr>
          </a:p>
        </p:txBody>
      </p:sp>
      <p:sp>
        <p:nvSpPr>
          <p:cNvPr id="184" name="Google Shape;184;p20"/>
          <p:cNvSpPr/>
          <p:nvPr/>
        </p:nvSpPr>
        <p:spPr>
          <a:xfrm>
            <a:off x="0" y="4892040"/>
            <a:ext cx="9144000" cy="251460"/>
          </a:xfrm>
          <a:prstGeom prst="rect">
            <a:avLst/>
          </a:prstGeom>
          <a:solidFill>
            <a:srgbClr val="0D1B2A"/>
          </a:solidFill>
          <a:ln w="12700" cap="flat" cmpd="sng">
            <a:solidFill>
              <a:srgbClr val="0D1B2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20"/>
          <p:cNvSpPr/>
          <p:nvPr/>
        </p:nvSpPr>
        <p:spPr>
          <a:xfrm>
            <a:off x="0" y="4892040"/>
            <a:ext cx="9144000" cy="2514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0B4D8"/>
              </a:buClr>
              <a:buSzPts val="1000"/>
              <a:buFont typeface="Calibri"/>
              <a:buNone/>
            </a:pPr>
            <a:r>
              <a:rPr lang="en" sz="1000" b="1" i="0" u="none" strike="noStrike" cap="none">
                <a:solidFill>
                  <a:srgbClr val="00B4D8"/>
                </a:solidFill>
                <a:latin typeface="Calibri"/>
                <a:ea typeface="Calibri"/>
                <a:cs typeface="Calibri"/>
                <a:sym typeface="Calibri"/>
              </a:rPr>
              <a:t>Thank you — Questions?</a:t>
            </a:r>
            <a:endParaRPr sz="1000" b="0" i="0" u="none" strike="noStrike" cap="non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Luxe">
  <a:themeElements>
    <a:clrScheme name="Luxe">
      <a:dk1>
        <a:srgbClr val="000000"/>
      </a:dk1>
      <a:lt1>
        <a:srgbClr val="FFFFFF"/>
      </a:lt1>
      <a:dk2>
        <a:srgbClr val="B7B7B7"/>
      </a:dk2>
      <a:lt2>
        <a:srgbClr val="CCA677"/>
      </a:lt2>
      <a:accent1>
        <a:srgbClr val="5D4037"/>
      </a:accent1>
      <a:accent2>
        <a:srgbClr val="455A64"/>
      </a:accent2>
      <a:accent3>
        <a:srgbClr val="57BB8A"/>
      </a:accent3>
      <a:accent4>
        <a:srgbClr val="78909C"/>
      </a:accent4>
      <a:accent5>
        <a:srgbClr val="607D8B"/>
      </a:accent5>
      <a:accent6>
        <a:srgbClr val="DCE755"/>
      </a:accent6>
      <a:hlink>
        <a:srgbClr val="607D8B"/>
      </a:hlink>
      <a:folHlink>
        <a:srgbClr val="607D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1202</Words>
  <Application>Microsoft Office PowerPoint</Application>
  <PresentationFormat>On-screen Show (16:9)</PresentationFormat>
  <Paragraphs>177</Paragraphs>
  <Slides>5</Slides>
  <Notes>5</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5</vt:i4>
      </vt:variant>
    </vt:vector>
  </HeadingPairs>
  <TitlesOfParts>
    <vt:vector size="12" baseType="lpstr">
      <vt:lpstr>Economica</vt:lpstr>
      <vt:lpstr>Tahoma</vt:lpstr>
      <vt:lpstr>Calibri</vt:lpstr>
      <vt:lpstr>Open Sans</vt:lpstr>
      <vt:lpstr>Arial</vt:lpstr>
      <vt:lpstr>Luxe</vt:lpstr>
      <vt:lpstr>Office Theme</vt:lpstr>
      <vt:lpstr>Speech-to-Text transcription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Jiarong Edwin Chen</cp:lastModifiedBy>
  <cp:revision>2</cp:revision>
  <dcterms:modified xsi:type="dcterms:W3CDTF">2026-04-08T03:05:58Z</dcterms:modified>
</cp:coreProperties>
</file>