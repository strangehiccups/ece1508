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6"/>
    <p:sldMasterId id="2147483662" r:id="rId7"/>
  </p:sldMasterIdLst>
  <p:notesMasterIdLst>
    <p:notesMasterId r:id="rId8"/>
  </p:notesMasterIdLst>
  <p:sldIdLst>
    <p:sldId id="256" r:id="rId9"/>
    <p:sldId id="257" r:id="rId10"/>
    <p:sldId id="258" r:id="rId11"/>
    <p:sldId id="259" r:id="rId12"/>
    <p:sldId id="260" r:id="rId13"/>
  </p:sldIdLst>
  <p:sldSz cy="5143500" cx="9144000"/>
  <p:notesSz cx="6858000" cy="9144000"/>
  <p:embeddedFontLst>
    <p:embeddedFont>
      <p:font typeface="Economica"/>
      <p:regular r:id="rId14"/>
      <p:bold r:id="rId15"/>
      <p:italic r:id="rId16"/>
      <p:boldItalic r:id="rId17"/>
    </p:embeddedFont>
    <p:embeddedFont>
      <p:font typeface="Tahoma"/>
      <p:regular r:id="rId18"/>
      <p:bold r:id="rId19"/>
    </p:embeddedFont>
    <p:embeddedFont>
      <p:font typeface="Open Sa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Anubhav Sharm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EC3C7F0-2309-4531-97DA-3BB09D230519}">
  <a:tblStyle styleId="{6EC3C7F0-2309-4531-97DA-3BB09D23051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regular.fntdata"/><Relationship Id="rId11" Type="http://schemas.openxmlformats.org/officeDocument/2006/relationships/slide" Target="slides/slide3.xml"/><Relationship Id="rId22" Type="http://schemas.openxmlformats.org/officeDocument/2006/relationships/font" Target="fonts/OpenSans-italic.fntdata"/><Relationship Id="rId10" Type="http://schemas.openxmlformats.org/officeDocument/2006/relationships/slide" Target="slides/slide2.xml"/><Relationship Id="rId21" Type="http://schemas.openxmlformats.org/officeDocument/2006/relationships/font" Target="fonts/OpenSans-bold.fntdata"/><Relationship Id="rId13" Type="http://schemas.openxmlformats.org/officeDocument/2006/relationships/slide" Target="slides/slide5.xml"/><Relationship Id="rId12" Type="http://schemas.openxmlformats.org/officeDocument/2006/relationships/slide" Target="slides/slide4.xml"/><Relationship Id="rId23" Type="http://schemas.openxmlformats.org/officeDocument/2006/relationships/font" Target="fonts/Open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15" Type="http://schemas.openxmlformats.org/officeDocument/2006/relationships/font" Target="fonts/Economica-bold.fntdata"/><Relationship Id="rId14" Type="http://schemas.openxmlformats.org/officeDocument/2006/relationships/font" Target="fonts/Economica-regular.fntdata"/><Relationship Id="rId17" Type="http://schemas.openxmlformats.org/officeDocument/2006/relationships/font" Target="fonts/Economica-boldItalic.fntdata"/><Relationship Id="rId16" Type="http://schemas.openxmlformats.org/officeDocument/2006/relationships/font" Target="fonts/Economica-italic.fntdata"/><Relationship Id="rId5" Type="http://schemas.openxmlformats.org/officeDocument/2006/relationships/commentAuthors" Target="commentAuthors.xml"/><Relationship Id="rId19" Type="http://schemas.openxmlformats.org/officeDocument/2006/relationships/font" Target="fonts/Tahoma-bold.fntdata"/><Relationship Id="rId6" Type="http://schemas.openxmlformats.org/officeDocument/2006/relationships/slideMaster" Target="slideMasters/slideMaster1.xml"/><Relationship Id="rId18" Type="http://schemas.openxmlformats.org/officeDocument/2006/relationships/font" Target="fonts/Tahoma-regular.fntdata"/><Relationship Id="rId7" Type="http://schemas.openxmlformats.org/officeDocument/2006/relationships/slideMaster" Target="slideMasters/slideMaster2.xml"/><Relationship Id="rId8" Type="http://schemas.openxmlformats.org/officeDocument/2006/relationships/notesMaster" Target="notesMasters/notesMaster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02T21:15:44.494">
    <p:pos x="259" y="126"/>
    <p:text>@lam26106@gmail.com
_Assigned to lam26106@gmail.com_</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02T21:16:11.825">
    <p:pos x="218" y="0"/>
    <p:text>@edwin.chen93@gmail.com
_Assigned to GarENt sIrUS_</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02T21:16:32.825">
    <p:pos x="218" y="0"/>
    <p:text>@anubhavsharma1431@gmail.com
_Assigned to you_</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d43d76a2a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d43d76a2a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d440c04a73_1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g3d440c04a73_1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Our project focuses on speech to text, the task of converting spoken language into written text using deep learning. Our goal is to implement a speech-to-text model that is inspired by the well-known DeepSpeech2 paper and evaluate the impact of architectural choices.</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This is a well-studied problem with several existing approaches. Traditional systems relied on Hidden Markov Model, but modern solutions like DeepSpeech, OpenAI's Whisper have shifted toward end-to-end deep learning models.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Speech-to-text powers many real world applications, from automatic video transcription to virtual </a:t>
            </a:r>
            <a:r>
              <a:rPr lang="en">
                <a:solidFill>
                  <a:schemeClr val="dk1"/>
                </a:solidFill>
              </a:rPr>
              <a:t>assistant</a:t>
            </a:r>
            <a:r>
              <a:rPr lang="en">
                <a:solidFill>
                  <a:schemeClr val="dk1"/>
                </a:solidFill>
              </a:rPr>
              <a:t>, and recently AI agents.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However, key challenges remain. For example, </a:t>
            </a:r>
            <a:r>
              <a:rPr lang="en">
                <a:solidFill>
                  <a:schemeClr val="dk1"/>
                </a:solidFill>
              </a:rPr>
              <a:t>acoustic</a:t>
            </a:r>
            <a:r>
              <a:rPr lang="en">
                <a:solidFill>
                  <a:schemeClr val="dk1"/>
                </a:solidFill>
              </a:rPr>
              <a:t> variability like accents, speaking rates, background noise, or high computation cost, they can all degrade the model quality.</a:t>
            </a:r>
            <a:endParaRPr/>
          </a:p>
        </p:txBody>
      </p:sp>
      <p:sp>
        <p:nvSpPr>
          <p:cNvPr id="74" name="Google Shape;74;g3d440c04a73_1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440c04a73_1_3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g3d440c04a73_1_3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We implemented a baseline speech-to-text architecture based on DeepSpeech2 that begins with a data preprocessing step, converting raw audio into spectrograms. A CNN block then extracts features from the spectrograms, and the temporal model learns time-sequential relations across features. The encoded state sequences from the temporal model is then converted into a sequence of character probabilities by the prediction head and the CTC (Connectionist Temporal Classification) decoder constructs all valid alignments and outputs the character sequence </a:t>
            </a:r>
            <a:r>
              <a:rPr lang="en"/>
              <a:t>with the highest confidence.</a:t>
            </a:r>
            <a:endParaRPr/>
          </a:p>
          <a:p>
            <a:pPr indent="0" lvl="0" marL="0" rtl="0" algn="l">
              <a:spcBef>
                <a:spcPts val="0"/>
              </a:spcBef>
              <a:spcAft>
                <a:spcPts val="0"/>
              </a:spcAft>
              <a:buNone/>
            </a:pPr>
            <a:r>
              <a:rPr lang="en"/>
              <a:t>The original DeepSpeech2 authors trained on LibriSpeech (~100-500hrs of audio from multiple speakers) however, due to the limited compute we had access to, we worked with the smaller LJ Speech dataset (~24hrs audio from single speaker).</a:t>
            </a:r>
            <a:endParaRPr/>
          </a:p>
          <a:p>
            <a:pPr indent="0" lvl="0" marL="0" rtl="0" algn="l">
              <a:spcBef>
                <a:spcPts val="0"/>
              </a:spcBef>
              <a:spcAft>
                <a:spcPts val="0"/>
              </a:spcAft>
              <a:buNone/>
            </a:pPr>
            <a:r>
              <a:rPr lang="en"/>
              <a:t>We also introduced an additional preprocessing step that reduced the spectrogram frequencies to the frequencies humans are sensitive to.</a:t>
            </a:r>
            <a:endParaRPr/>
          </a:p>
          <a:p>
            <a:pPr indent="0" lvl="0" marL="0" rtl="0" algn="l">
              <a:spcBef>
                <a:spcPts val="0"/>
              </a:spcBef>
              <a:spcAft>
                <a:spcPts val="0"/>
              </a:spcAft>
              <a:buNone/>
            </a:pPr>
            <a:r>
              <a:rPr lang="en"/>
              <a:t>We also experimented with other temporal models such as LSTM and Conformer.</a:t>
            </a:r>
            <a:endParaRPr/>
          </a:p>
        </p:txBody>
      </p:sp>
      <p:sp>
        <p:nvSpPr>
          <p:cNvPr id="92" name="Google Shape;92;g3d440c04a73_1_3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440c04a73_1_7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3d440c04a73_1_7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slide walks through the full experimental pipeline — from how we set up our data, to how we trained, to how we measured performance.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trained on a 24-hour subset of LJ Speech — a single-speaker, studio-quality English corpus. We split it 80/10/10 for train, validation, and test. All audio is 22.5 kHz mono WAV, normalized, and converted into 80-bin log-mel spectrogram features before being fed into the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used Adam with a OneCycleLR scheduler, which ramps up and then anneals the learning rate across 20 epochs at batch level. We used a Connectionist Temporal Classification loss which let us train without needing frame-level transcription alignment. Our batch size was set to 32 given compute constraints, and</a:t>
            </a:r>
            <a:r>
              <a:rPr lang="en"/>
              <a:t>,</a:t>
            </a:r>
            <a:r>
              <a:rPr lang="en"/>
              <a:t> we ran every architecture over three independent random seeds and averaged across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inference, we f</a:t>
            </a:r>
            <a:r>
              <a:rPr lang="en"/>
              <a:t>irst used greedy decoding taking the argmax of model output at each timestep which was fast but suboptimal. We then implemented beam search augmented with a 3-gram language model trained on LibriSpeech, comparing the top 50 beams at each step. The LM consistently brought WER down by 4 to 6 percentage points.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primary metrics are character error rate  and  word error rate which are common for benchmarking. Looking at the table: our strongest result came from the 18M Conformer at 25.2% WER with the language model. The LSTM was the most stable trainer with the lowest validation loss, hitting 27.8% WER. The Conformer, while architecturally the most expressive, had a marginally higher loss, which we attribute to it requiring more data and tuning to reach its potential. The WER history graph on the left confirms all models converge smoothly within 20 epochs.</a:t>
            </a:r>
            <a:endParaRPr/>
          </a:p>
        </p:txBody>
      </p:sp>
      <p:sp>
        <p:nvSpPr>
          <p:cNvPr id="129" name="Google Shape;129;g3d440c04a73_1_7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d440c04a73_1_10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3d440c04a73_1_10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3d440c04a73_1_10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obj">
  <p:cSld name="OBJECT">
    <p:spTree>
      <p:nvGrpSpPr>
        <p:cNvPr id="58" name="Shape 58"/>
        <p:cNvGrpSpPr/>
        <p:nvPr/>
      </p:nvGrpSpPr>
      <p:grpSpPr>
        <a:xfrm>
          <a:off x="0" y="0"/>
          <a:ext cx="0" cy="0"/>
          <a:chOff x="0" y="0"/>
          <a:chExt cx="0" cy="0"/>
        </a:xfrm>
      </p:grpSpPr>
      <p:sp>
        <p:nvSpPr>
          <p:cNvPr id="59" name="Google Shape;59;p13"/>
          <p:cNvSpPr txBox="1"/>
          <p:nvPr>
            <p:ph idx="11" type="ftr"/>
          </p:nvPr>
        </p:nvSpPr>
        <p:spPr>
          <a:xfrm>
            <a:off x="7229554" y="4981551"/>
            <a:ext cx="481200" cy="151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1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3"/>
          <p:cNvSpPr txBox="1"/>
          <p:nvPr>
            <p:ph idx="10" type="dt"/>
          </p:nvPr>
        </p:nvSpPr>
        <p:spPr>
          <a:xfrm>
            <a:off x="226205" y="4981551"/>
            <a:ext cx="2594700" cy="151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1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3"/>
          <p:cNvSpPr txBox="1"/>
          <p:nvPr>
            <p:ph idx="12" type="sldNum"/>
          </p:nvPr>
        </p:nvSpPr>
        <p:spPr>
          <a:xfrm>
            <a:off x="8636676" y="4981551"/>
            <a:ext cx="394200" cy="169200"/>
          </a:xfrm>
          <a:prstGeom prst="rect">
            <a:avLst/>
          </a:prstGeom>
          <a:noFill/>
          <a:ln>
            <a:noFill/>
          </a:ln>
        </p:spPr>
        <p:txBody>
          <a:bodyPr anchorCtr="0" anchor="t" bIns="0" lIns="0" spcFirstLastPara="1" rIns="0" wrap="square" tIns="0">
            <a:spAutoFit/>
          </a:bodyPr>
          <a:lstStyle>
            <a:lvl1pPr indent="0" lvl="0" marL="63500">
              <a:lnSpc>
                <a:spcPct val="112500"/>
              </a:lnSpc>
              <a:spcBef>
                <a:spcPts val="0"/>
              </a:spcBef>
              <a:buNone/>
              <a:defRPr b="0" i="0" sz="1100">
                <a:solidFill>
                  <a:schemeClr val="lt1"/>
                </a:solidFill>
                <a:latin typeface="Tahoma"/>
                <a:ea typeface="Tahoma"/>
                <a:cs typeface="Tahoma"/>
                <a:sym typeface="Tahoma"/>
              </a:defRPr>
            </a:lvl1pPr>
            <a:lvl2pPr indent="0" lvl="1" marL="63500">
              <a:lnSpc>
                <a:spcPct val="112500"/>
              </a:lnSpc>
              <a:spcBef>
                <a:spcPts val="0"/>
              </a:spcBef>
              <a:buNone/>
              <a:defRPr b="0" i="0" sz="1100">
                <a:solidFill>
                  <a:schemeClr val="lt1"/>
                </a:solidFill>
                <a:latin typeface="Tahoma"/>
                <a:ea typeface="Tahoma"/>
                <a:cs typeface="Tahoma"/>
                <a:sym typeface="Tahoma"/>
              </a:defRPr>
            </a:lvl2pPr>
            <a:lvl3pPr indent="0" lvl="2" marL="63500">
              <a:lnSpc>
                <a:spcPct val="112500"/>
              </a:lnSpc>
              <a:spcBef>
                <a:spcPts val="0"/>
              </a:spcBef>
              <a:buNone/>
              <a:defRPr b="0" i="0" sz="1100">
                <a:solidFill>
                  <a:schemeClr val="lt1"/>
                </a:solidFill>
                <a:latin typeface="Tahoma"/>
                <a:ea typeface="Tahoma"/>
                <a:cs typeface="Tahoma"/>
                <a:sym typeface="Tahoma"/>
              </a:defRPr>
            </a:lvl3pPr>
            <a:lvl4pPr indent="0" lvl="3" marL="63500">
              <a:lnSpc>
                <a:spcPct val="112500"/>
              </a:lnSpc>
              <a:spcBef>
                <a:spcPts val="0"/>
              </a:spcBef>
              <a:buNone/>
              <a:defRPr b="0" i="0" sz="1100">
                <a:solidFill>
                  <a:schemeClr val="lt1"/>
                </a:solidFill>
                <a:latin typeface="Tahoma"/>
                <a:ea typeface="Tahoma"/>
                <a:cs typeface="Tahoma"/>
                <a:sym typeface="Tahoma"/>
              </a:defRPr>
            </a:lvl4pPr>
            <a:lvl5pPr indent="0" lvl="4" marL="63500">
              <a:lnSpc>
                <a:spcPct val="112500"/>
              </a:lnSpc>
              <a:spcBef>
                <a:spcPts val="0"/>
              </a:spcBef>
              <a:buNone/>
              <a:defRPr b="0" i="0" sz="1100">
                <a:solidFill>
                  <a:schemeClr val="lt1"/>
                </a:solidFill>
                <a:latin typeface="Tahoma"/>
                <a:ea typeface="Tahoma"/>
                <a:cs typeface="Tahoma"/>
                <a:sym typeface="Tahoma"/>
              </a:defRPr>
            </a:lvl5pPr>
            <a:lvl6pPr indent="0" lvl="5" marL="63500">
              <a:lnSpc>
                <a:spcPct val="112500"/>
              </a:lnSpc>
              <a:spcBef>
                <a:spcPts val="0"/>
              </a:spcBef>
              <a:buNone/>
              <a:defRPr b="0" i="0" sz="1100">
                <a:solidFill>
                  <a:schemeClr val="lt1"/>
                </a:solidFill>
                <a:latin typeface="Tahoma"/>
                <a:ea typeface="Tahoma"/>
                <a:cs typeface="Tahoma"/>
                <a:sym typeface="Tahoma"/>
              </a:defRPr>
            </a:lvl6pPr>
            <a:lvl7pPr indent="0" lvl="6" marL="63500">
              <a:lnSpc>
                <a:spcPct val="112500"/>
              </a:lnSpc>
              <a:spcBef>
                <a:spcPts val="0"/>
              </a:spcBef>
              <a:buNone/>
              <a:defRPr b="0" i="0" sz="1100">
                <a:solidFill>
                  <a:schemeClr val="lt1"/>
                </a:solidFill>
                <a:latin typeface="Tahoma"/>
                <a:ea typeface="Tahoma"/>
                <a:cs typeface="Tahoma"/>
                <a:sym typeface="Tahoma"/>
              </a:defRPr>
            </a:lvl7pPr>
            <a:lvl8pPr indent="0" lvl="7" marL="63500">
              <a:lnSpc>
                <a:spcPct val="112500"/>
              </a:lnSpc>
              <a:spcBef>
                <a:spcPts val="0"/>
              </a:spcBef>
              <a:buNone/>
              <a:defRPr b="0" i="0" sz="1100">
                <a:solidFill>
                  <a:schemeClr val="lt1"/>
                </a:solidFill>
                <a:latin typeface="Tahoma"/>
                <a:ea typeface="Tahoma"/>
                <a:cs typeface="Tahoma"/>
                <a:sym typeface="Tahoma"/>
              </a:defRPr>
            </a:lvl8pPr>
            <a:lvl9pPr indent="0" lvl="8" marL="63500">
              <a:lnSpc>
                <a:spcPct val="112500"/>
              </a:lnSpc>
              <a:spcBef>
                <a:spcPts val="0"/>
              </a:spcBef>
              <a:buNone/>
              <a:defRPr b="0" i="0" sz="1100">
                <a:solidFill>
                  <a:schemeClr val="lt1"/>
                </a:solidFill>
                <a:latin typeface="Tahoma"/>
                <a:ea typeface="Tahoma"/>
                <a:cs typeface="Tahoma"/>
                <a:sym typeface="Tahoma"/>
              </a:defRPr>
            </a:lvl9pPr>
          </a:lstStyle>
          <a:p>
            <a:pPr indent="0" lvl="0" marL="63500" rtl="0" algn="r">
              <a:spcBef>
                <a:spcPts val="0"/>
              </a:spcBef>
              <a:spcAft>
                <a:spcPts val="0"/>
              </a:spcAft>
              <a:buNone/>
            </a:pPr>
            <a:fld id="{00000000-1234-1234-1234-123412341234}" type="slidenum">
              <a:rPr lang="en"/>
              <a:t>‹#›</a:t>
            </a:fld>
            <a:r>
              <a:rPr lang="en"/>
              <a:t> / 5</a:t>
            </a:r>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3" name="Shape 6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comments" Target="../comments/comment2.xml"/><Relationship Id="rId4" Type="http://schemas.openxmlformats.org/officeDocument/2006/relationships/image" Target="../media/image6.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comments" Target="../comments/commen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4D8"/>
        </a:solidFill>
      </p:bgPr>
    </p:bg>
    <p:spTree>
      <p:nvGrpSpPr>
        <p:cNvPr id="67" name="Shape 67"/>
        <p:cNvGrpSpPr/>
        <p:nvPr/>
      </p:nvGrpSpPr>
      <p:grpSpPr>
        <a:xfrm>
          <a:off x="0" y="0"/>
          <a:ext cx="0" cy="0"/>
          <a:chOff x="0" y="0"/>
          <a:chExt cx="0" cy="0"/>
        </a:xfrm>
      </p:grpSpPr>
      <p:sp>
        <p:nvSpPr>
          <p:cNvPr id="68" name="Google Shape;68;p16"/>
          <p:cNvSpPr txBox="1"/>
          <p:nvPr>
            <p:ph type="ctrTitle"/>
          </p:nvPr>
        </p:nvSpPr>
        <p:spPr>
          <a:xfrm>
            <a:off x="3044700" y="985074"/>
            <a:ext cx="3054600" cy="1635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Speech-to-Text transcription</a:t>
            </a:r>
            <a:endParaRPr/>
          </a:p>
        </p:txBody>
      </p:sp>
      <p:sp>
        <p:nvSpPr>
          <p:cNvPr id="69" name="Google Shape;69;p16"/>
          <p:cNvSpPr txBox="1"/>
          <p:nvPr>
            <p:ph idx="1" type="subTitle"/>
          </p:nvPr>
        </p:nvSpPr>
        <p:spPr>
          <a:xfrm>
            <a:off x="3044700" y="3192771"/>
            <a:ext cx="3054600" cy="12828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None/>
            </a:pPr>
            <a:r>
              <a:rPr b="1" lang="en" sz="1500"/>
              <a:t>Group 8</a:t>
            </a:r>
            <a:endParaRPr b="1" sz="1500"/>
          </a:p>
          <a:p>
            <a:pPr indent="0" lvl="0" marL="0" rtl="0" algn="ctr">
              <a:lnSpc>
                <a:spcPct val="80000"/>
              </a:lnSpc>
              <a:spcBef>
                <a:spcPts val="0"/>
              </a:spcBef>
              <a:spcAft>
                <a:spcPts val="0"/>
              </a:spcAft>
              <a:buNone/>
            </a:pPr>
            <a:r>
              <a:rPr lang="en" sz="1500"/>
              <a:t>Anubhav Sharma</a:t>
            </a:r>
            <a:endParaRPr sz="1500"/>
          </a:p>
          <a:p>
            <a:pPr indent="0" lvl="0" marL="0" rtl="0" algn="ctr">
              <a:lnSpc>
                <a:spcPct val="80000"/>
              </a:lnSpc>
              <a:spcBef>
                <a:spcPts val="0"/>
              </a:spcBef>
              <a:spcAft>
                <a:spcPts val="0"/>
              </a:spcAft>
              <a:buNone/>
            </a:pPr>
            <a:r>
              <a:rPr lang="en" sz="1500"/>
              <a:t>Edwin Chen</a:t>
            </a:r>
            <a:endParaRPr sz="1500"/>
          </a:p>
          <a:p>
            <a:pPr indent="0" lvl="0" marL="0" rtl="0" algn="ctr">
              <a:lnSpc>
                <a:spcPct val="80000"/>
              </a:lnSpc>
              <a:spcBef>
                <a:spcPts val="0"/>
              </a:spcBef>
              <a:spcAft>
                <a:spcPts val="0"/>
              </a:spcAft>
              <a:buNone/>
            </a:pPr>
            <a:r>
              <a:rPr lang="en" sz="1500"/>
              <a:t>TrungLam Nguyen</a:t>
            </a:r>
            <a:endParaRPr sz="1500"/>
          </a:p>
        </p:txBody>
      </p:sp>
      <p:sp>
        <p:nvSpPr>
          <p:cNvPr id="70" name="Google Shape;70;p16"/>
          <p:cNvSpPr txBox="1"/>
          <p:nvPr>
            <p:ph idx="1" type="subTitle"/>
          </p:nvPr>
        </p:nvSpPr>
        <p:spPr>
          <a:xfrm>
            <a:off x="0" y="4784100"/>
            <a:ext cx="962100" cy="3594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0"/>
              </a:spcAft>
              <a:buNone/>
            </a:pPr>
            <a:r>
              <a:rPr lang="en" sz="1500"/>
              <a:t>April 7, 2026</a:t>
            </a:r>
            <a:endParaRPr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75" name="Shape 75"/>
        <p:cNvGrpSpPr/>
        <p:nvPr/>
      </p:nvGrpSpPr>
      <p:grpSpPr>
        <a:xfrm>
          <a:off x="0" y="0"/>
          <a:ext cx="0" cy="0"/>
          <a:chOff x="0" y="0"/>
          <a:chExt cx="0" cy="0"/>
        </a:xfrm>
      </p:grpSpPr>
      <p:sp>
        <p:nvSpPr>
          <p:cNvPr id="76" name="Google Shape;76;p17"/>
          <p:cNvSpPr/>
          <p:nvPr/>
        </p:nvSpPr>
        <p:spPr>
          <a:xfrm>
            <a:off x="0" y="0"/>
            <a:ext cx="201168" cy="51435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7"/>
          <p:cNvSpPr/>
          <p:nvPr/>
        </p:nvSpPr>
        <p:spPr>
          <a:xfrm>
            <a:off x="411480" y="20116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900"/>
              <a:buFont typeface="Calibri"/>
              <a:buNone/>
            </a:pPr>
            <a:r>
              <a:rPr b="1" i="0" lang="en" sz="900" u="none" cap="none" strike="noStrike">
                <a:solidFill>
                  <a:srgbClr val="00B4D8"/>
                </a:solidFill>
                <a:latin typeface="Calibri"/>
                <a:ea typeface="Calibri"/>
                <a:cs typeface="Calibri"/>
                <a:sym typeface="Calibri"/>
              </a:rPr>
              <a:t>APPLIED DEEP </a:t>
            </a:r>
            <a:r>
              <a:rPr b="1" i="0" lang="en" sz="900" u="none" cap="none" strike="noStrike">
                <a:solidFill>
                  <a:srgbClr val="00B4D8"/>
                </a:solidFill>
                <a:latin typeface="Calibri"/>
                <a:ea typeface="Calibri"/>
                <a:cs typeface="Calibri"/>
                <a:sym typeface="Calibri"/>
              </a:rPr>
              <a:t>LEARNING</a:t>
            </a:r>
            <a:r>
              <a:rPr b="1" i="0" lang="en" sz="900" u="none" cap="none" strike="noStrike">
                <a:solidFill>
                  <a:srgbClr val="00B4D8"/>
                </a:solidFill>
                <a:latin typeface="Calibri"/>
                <a:ea typeface="Calibri"/>
                <a:cs typeface="Calibri"/>
                <a:sym typeface="Calibri"/>
              </a:rPr>
              <a:t> — COURSE PROJECT</a:t>
            </a:r>
            <a:endParaRPr b="0" i="0" sz="900" u="none" cap="none" strike="noStrike">
              <a:solidFill>
                <a:schemeClr val="dk1"/>
              </a:solidFill>
              <a:latin typeface="Calibri"/>
              <a:ea typeface="Calibri"/>
              <a:cs typeface="Calibri"/>
              <a:sym typeface="Calibri"/>
            </a:endParaRPr>
          </a:p>
        </p:txBody>
      </p:sp>
      <p:sp>
        <p:nvSpPr>
          <p:cNvPr id="78" name="Google Shape;78;p17"/>
          <p:cNvSpPr/>
          <p:nvPr/>
        </p:nvSpPr>
        <p:spPr>
          <a:xfrm>
            <a:off x="384050" y="413450"/>
            <a:ext cx="6140100" cy="553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FF"/>
              </a:buClr>
              <a:buSzPts val="3400"/>
              <a:buFont typeface="Calibri"/>
              <a:buNone/>
            </a:pPr>
            <a:r>
              <a:rPr b="1" lang="en" sz="3400">
                <a:solidFill>
                  <a:srgbClr val="FFFFFF"/>
                </a:solidFill>
                <a:latin typeface="Calibri"/>
                <a:ea typeface="Calibri"/>
                <a:cs typeface="Calibri"/>
                <a:sym typeface="Calibri"/>
              </a:rPr>
              <a:t>Introduction</a:t>
            </a:r>
            <a:endParaRPr b="0" i="0" sz="3400" u="none" cap="none" strike="noStrike">
              <a:solidFill>
                <a:schemeClr val="dk1"/>
              </a:solidFill>
              <a:latin typeface="Calibri"/>
              <a:ea typeface="Calibri"/>
              <a:cs typeface="Calibri"/>
              <a:sym typeface="Calibri"/>
            </a:endParaRPr>
          </a:p>
        </p:txBody>
      </p:sp>
      <p:sp>
        <p:nvSpPr>
          <p:cNvPr id="79" name="Google Shape;79;p17"/>
          <p:cNvSpPr/>
          <p:nvPr/>
        </p:nvSpPr>
        <p:spPr>
          <a:xfrm>
            <a:off x="8046720" y="475488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EABC4"/>
              </a:buClr>
              <a:buSzPts val="900"/>
              <a:buFont typeface="Calibri"/>
              <a:buNone/>
            </a:pPr>
            <a:r>
              <a:rPr b="0" i="0" lang="en" sz="900" u="none" cap="none" strike="noStrike">
                <a:solidFill>
                  <a:srgbClr val="8EABC4"/>
                </a:solidFill>
                <a:latin typeface="Calibri"/>
                <a:ea typeface="Calibri"/>
                <a:cs typeface="Calibri"/>
                <a:sym typeface="Calibri"/>
              </a:rPr>
              <a:t>01 / 04</a:t>
            </a:r>
            <a:endParaRPr b="0" i="0" sz="900" u="none" cap="none" strike="noStrike">
              <a:solidFill>
                <a:schemeClr val="dk1"/>
              </a:solidFill>
              <a:latin typeface="Calibri"/>
              <a:ea typeface="Calibri"/>
              <a:cs typeface="Calibri"/>
              <a:sym typeface="Calibri"/>
            </a:endParaRPr>
          </a:p>
        </p:txBody>
      </p:sp>
      <p:sp>
        <p:nvSpPr>
          <p:cNvPr id="80" name="Google Shape;80;p17"/>
          <p:cNvSpPr txBox="1"/>
          <p:nvPr/>
        </p:nvSpPr>
        <p:spPr>
          <a:xfrm>
            <a:off x="334850" y="1001150"/>
            <a:ext cx="4325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48CAE4"/>
                </a:solidFill>
                <a:latin typeface="Calibri"/>
                <a:ea typeface="Calibri"/>
                <a:cs typeface="Calibri"/>
                <a:sym typeface="Calibri"/>
              </a:rPr>
              <a:t>Speech-to-Text (STT) transcription</a:t>
            </a:r>
            <a:endParaRPr sz="1700">
              <a:solidFill>
                <a:schemeClr val="lt1"/>
              </a:solidFill>
              <a:highlight>
                <a:schemeClr val="dk1"/>
              </a:highlight>
              <a:latin typeface="Calibri"/>
              <a:ea typeface="Calibri"/>
              <a:cs typeface="Calibri"/>
              <a:sym typeface="Calibri"/>
            </a:endParaRPr>
          </a:p>
        </p:txBody>
      </p:sp>
      <p:sp>
        <p:nvSpPr>
          <p:cNvPr id="81" name="Google Shape;81;p17"/>
          <p:cNvSpPr/>
          <p:nvPr/>
        </p:nvSpPr>
        <p:spPr>
          <a:xfrm>
            <a:off x="494100" y="1582350"/>
            <a:ext cx="3485400" cy="1554600"/>
          </a:xfrm>
          <a:prstGeom prst="rect">
            <a:avLst/>
          </a:prstGeom>
          <a:solidFill>
            <a:srgbClr val="12233D"/>
          </a:solidFill>
          <a:ln cap="flat" cmpd="sng" w="9525">
            <a:solidFill>
              <a:srgbClr val="1E3A5F"/>
            </a:solidFill>
            <a:prstDash val="solid"/>
            <a:round/>
            <a:headEnd len="sm" w="sm" type="none"/>
            <a:tailEnd len="sm" w="sm" type="none"/>
          </a:ln>
          <a:effectLst>
            <a:outerShdw blurRad="101600" rotWithShape="0" algn="bl" dir="8100000" dist="25400">
              <a:srgbClr val="000000">
                <a:alpha val="30199"/>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48CAE4"/>
                </a:solidFill>
                <a:latin typeface="Calibri"/>
                <a:ea typeface="Calibri"/>
                <a:cs typeface="Calibri"/>
                <a:sym typeface="Calibri"/>
              </a:rPr>
              <a:t>            What is the problem?</a:t>
            </a:r>
            <a:endParaRPr sz="1600">
              <a:solidFill>
                <a:srgbClr val="48CAE4"/>
              </a:solidFill>
              <a:latin typeface="Calibri"/>
              <a:ea typeface="Calibri"/>
              <a:cs typeface="Calibri"/>
              <a:sym typeface="Calibri"/>
            </a:endParaRPr>
          </a:p>
          <a:p>
            <a:pPr indent="0" lvl="0" marL="0" rtl="0" algn="l">
              <a:spcBef>
                <a:spcPts val="0"/>
              </a:spcBef>
              <a:spcAft>
                <a:spcPts val="0"/>
              </a:spcAft>
              <a:buNone/>
            </a:pPr>
            <a:r>
              <a:t/>
            </a:r>
            <a:endParaRPr sz="1600">
              <a:solidFill>
                <a:srgbClr val="48CAE4"/>
              </a:solidFill>
              <a:latin typeface="Calibri"/>
              <a:ea typeface="Calibri"/>
              <a:cs typeface="Calibri"/>
              <a:sym typeface="Calibri"/>
            </a:endParaRPr>
          </a:p>
          <a:p>
            <a:pPr indent="0" lvl="0" marL="0" rtl="0" algn="l">
              <a:lnSpc>
                <a:spcPct val="120000"/>
              </a:lnSpc>
              <a:spcBef>
                <a:spcPts val="0"/>
              </a:spcBef>
              <a:spcAft>
                <a:spcPts val="0"/>
              </a:spcAft>
              <a:buNone/>
            </a:pPr>
            <a:r>
              <a:rPr lang="en" sz="1000">
                <a:solidFill>
                  <a:srgbClr val="94A3B8"/>
                </a:solidFill>
                <a:latin typeface="Calibri"/>
                <a:ea typeface="Calibri"/>
                <a:cs typeface="Calibri"/>
                <a:sym typeface="Calibri"/>
              </a:rPr>
              <a:t>Converting spoken language into text accurately and efficiently — bridging human speech with machine understanding through end-to-end deep learning.</a:t>
            </a:r>
            <a:endParaRPr sz="10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600">
              <a:solidFill>
                <a:srgbClr val="48CAE4"/>
              </a:solidFill>
              <a:latin typeface="Calibri"/>
              <a:ea typeface="Calibri"/>
              <a:cs typeface="Calibri"/>
              <a:sym typeface="Calibri"/>
            </a:endParaRPr>
          </a:p>
        </p:txBody>
      </p:sp>
      <p:sp>
        <p:nvSpPr>
          <p:cNvPr id="82" name="Google Shape;82;p17"/>
          <p:cNvSpPr/>
          <p:nvPr/>
        </p:nvSpPr>
        <p:spPr>
          <a:xfrm>
            <a:off x="4417575" y="1582350"/>
            <a:ext cx="3887700" cy="1554600"/>
          </a:xfrm>
          <a:prstGeom prst="rect">
            <a:avLst/>
          </a:prstGeom>
          <a:solidFill>
            <a:srgbClr val="12233D"/>
          </a:solidFill>
          <a:ln cap="flat" cmpd="sng" w="9525">
            <a:solidFill>
              <a:srgbClr val="1E3A5F"/>
            </a:solidFill>
            <a:prstDash val="solid"/>
            <a:round/>
            <a:headEnd len="sm" w="sm" type="none"/>
            <a:tailEnd len="sm" w="sm" type="none"/>
          </a:ln>
          <a:effectLst>
            <a:outerShdw blurRad="101600" rotWithShape="0" algn="bl" dir="8100000" dist="25400">
              <a:srgbClr val="000000">
                <a:alpha val="30199"/>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48CAE4"/>
                </a:solidFill>
                <a:latin typeface="Calibri"/>
                <a:ea typeface="Calibri"/>
                <a:cs typeface="Calibri"/>
                <a:sym typeface="Calibri"/>
              </a:rPr>
              <a:t>             Existing solutions</a:t>
            </a:r>
            <a:endParaRPr sz="1600">
              <a:solidFill>
                <a:srgbClr val="48CAE4"/>
              </a:solidFill>
              <a:latin typeface="Calibri"/>
              <a:ea typeface="Calibri"/>
              <a:cs typeface="Calibri"/>
              <a:sym typeface="Calibri"/>
            </a:endParaRPr>
          </a:p>
          <a:p>
            <a:pPr indent="0" lvl="0" marL="0" rtl="0" algn="l">
              <a:lnSpc>
                <a:spcPct val="120000"/>
              </a:lnSpc>
              <a:spcBef>
                <a:spcPts val="0"/>
              </a:spcBef>
              <a:spcAft>
                <a:spcPts val="0"/>
              </a:spcAft>
              <a:buNone/>
            </a:pPr>
            <a:r>
              <a:t/>
            </a:r>
            <a:endParaRPr sz="1100">
              <a:solidFill>
                <a:srgbClr val="94A3B8"/>
              </a:solidFill>
              <a:latin typeface="Calibri"/>
              <a:ea typeface="Calibri"/>
              <a:cs typeface="Calibri"/>
              <a:sym typeface="Calibri"/>
            </a:endParaRPr>
          </a:p>
          <a:p>
            <a:pPr indent="0" lvl="0" marL="0" rtl="0" algn="l">
              <a:lnSpc>
                <a:spcPct val="120000"/>
              </a:lnSpc>
              <a:spcBef>
                <a:spcPts val="0"/>
              </a:spcBef>
              <a:spcAft>
                <a:spcPts val="0"/>
              </a:spcAft>
              <a:buNone/>
            </a:pPr>
            <a:r>
              <a:rPr lang="en" sz="1000">
                <a:solidFill>
                  <a:srgbClr val="94A3B8"/>
                </a:solidFill>
                <a:latin typeface="Calibri"/>
                <a:ea typeface="Calibri"/>
                <a:cs typeface="Calibri"/>
                <a:sym typeface="Calibri"/>
              </a:rPr>
              <a:t>Classical (HMM-GMM): Hand-crafted features + Hidden Markov Models for decoding.</a:t>
            </a:r>
            <a:endParaRPr sz="1000">
              <a:solidFill>
                <a:srgbClr val="94A3B8"/>
              </a:solidFill>
              <a:latin typeface="Calibri"/>
              <a:ea typeface="Calibri"/>
              <a:cs typeface="Calibri"/>
              <a:sym typeface="Calibri"/>
            </a:endParaRPr>
          </a:p>
          <a:p>
            <a:pPr indent="0" lvl="0" marL="0" rtl="0" algn="l">
              <a:lnSpc>
                <a:spcPct val="120000"/>
              </a:lnSpc>
              <a:spcBef>
                <a:spcPts val="0"/>
              </a:spcBef>
              <a:spcAft>
                <a:spcPts val="0"/>
              </a:spcAft>
              <a:buNone/>
            </a:pPr>
            <a:r>
              <a:rPr lang="en" sz="1000">
                <a:solidFill>
                  <a:srgbClr val="94A3B8"/>
                </a:solidFill>
                <a:latin typeface="Calibri"/>
                <a:ea typeface="Calibri"/>
                <a:cs typeface="Calibri"/>
                <a:sym typeface="Calibri"/>
              </a:rPr>
              <a:t>End-to-end DNN: DeepSpeech / DeepSpeech2 — CNN + RNN + CTC loss.</a:t>
            </a:r>
            <a:endParaRPr sz="1000">
              <a:solidFill>
                <a:srgbClr val="94A3B8"/>
              </a:solidFill>
              <a:latin typeface="Calibri"/>
              <a:ea typeface="Calibri"/>
              <a:cs typeface="Calibri"/>
              <a:sym typeface="Calibri"/>
            </a:endParaRPr>
          </a:p>
          <a:p>
            <a:pPr indent="0" lvl="0" marL="0" rtl="0" algn="l">
              <a:lnSpc>
                <a:spcPct val="120000"/>
              </a:lnSpc>
              <a:spcBef>
                <a:spcPts val="0"/>
              </a:spcBef>
              <a:spcAft>
                <a:spcPts val="0"/>
              </a:spcAft>
              <a:buNone/>
            </a:pPr>
            <a:r>
              <a:rPr lang="en" sz="1000">
                <a:solidFill>
                  <a:srgbClr val="94A3B8"/>
                </a:solidFill>
                <a:latin typeface="Calibri"/>
                <a:ea typeface="Calibri"/>
                <a:cs typeface="Calibri"/>
                <a:sym typeface="Calibri"/>
              </a:rPr>
              <a:t>Transformers: Wav2Vec2, Whisper </a:t>
            </a:r>
            <a:r>
              <a:rPr lang="en" sz="1000">
                <a:solidFill>
                  <a:srgbClr val="94A3B8"/>
                </a:solidFill>
                <a:latin typeface="Calibri"/>
                <a:ea typeface="Calibri"/>
                <a:cs typeface="Calibri"/>
                <a:sym typeface="Calibri"/>
              </a:rPr>
              <a:t>— large self-supervised.</a:t>
            </a:r>
            <a:endParaRPr sz="1100">
              <a:solidFill>
                <a:srgbClr val="94A3B8"/>
              </a:solidFill>
              <a:latin typeface="Calibri"/>
              <a:ea typeface="Calibri"/>
              <a:cs typeface="Calibri"/>
              <a:sym typeface="Calibri"/>
            </a:endParaRPr>
          </a:p>
        </p:txBody>
      </p:sp>
      <p:sp>
        <p:nvSpPr>
          <p:cNvPr id="83" name="Google Shape;83;p17"/>
          <p:cNvSpPr/>
          <p:nvPr/>
        </p:nvSpPr>
        <p:spPr>
          <a:xfrm>
            <a:off x="494150" y="3287050"/>
            <a:ext cx="3485400" cy="1554600"/>
          </a:xfrm>
          <a:prstGeom prst="rect">
            <a:avLst/>
          </a:prstGeom>
          <a:solidFill>
            <a:srgbClr val="12233D"/>
          </a:solidFill>
          <a:ln cap="flat" cmpd="sng" w="9525">
            <a:solidFill>
              <a:srgbClr val="1E3A5F"/>
            </a:solidFill>
            <a:prstDash val="solid"/>
            <a:round/>
            <a:headEnd len="sm" w="sm" type="none"/>
            <a:tailEnd len="sm" w="sm" type="none"/>
          </a:ln>
          <a:effectLst>
            <a:outerShdw blurRad="101600" rotWithShape="0" algn="bl" dir="8100000" dist="25400">
              <a:srgbClr val="000000">
                <a:alpha val="30199"/>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48CAE4"/>
                </a:solidFill>
                <a:latin typeface="Calibri"/>
                <a:ea typeface="Calibri"/>
                <a:cs typeface="Calibri"/>
                <a:sym typeface="Calibri"/>
              </a:rPr>
              <a:t>             </a:t>
            </a:r>
            <a:r>
              <a:rPr lang="en" sz="1600">
                <a:solidFill>
                  <a:srgbClr val="48CAE4"/>
                </a:solidFill>
                <a:latin typeface="Calibri"/>
                <a:ea typeface="Calibri"/>
                <a:cs typeface="Calibri"/>
                <a:sym typeface="Calibri"/>
              </a:rPr>
              <a:t>Real-world applications</a:t>
            </a:r>
            <a:endParaRPr sz="1600">
              <a:solidFill>
                <a:srgbClr val="48CAE4"/>
              </a:solidFill>
              <a:latin typeface="Calibri"/>
              <a:ea typeface="Calibri"/>
              <a:cs typeface="Calibri"/>
              <a:sym typeface="Calibri"/>
            </a:endParaRPr>
          </a:p>
          <a:p>
            <a:pPr indent="0" lvl="0" marL="0" rtl="0" algn="l">
              <a:lnSpc>
                <a:spcPct val="120000"/>
              </a:lnSpc>
              <a:spcBef>
                <a:spcPts val="0"/>
              </a:spcBef>
              <a:spcAft>
                <a:spcPts val="0"/>
              </a:spcAft>
              <a:buNone/>
            </a:pPr>
            <a:r>
              <a:t/>
            </a:r>
            <a:endParaRPr sz="1600">
              <a:solidFill>
                <a:srgbClr val="48CAE4"/>
              </a:solidFill>
              <a:latin typeface="Calibri"/>
              <a:ea typeface="Calibri"/>
              <a:cs typeface="Calibri"/>
              <a:sym typeface="Calibri"/>
            </a:endParaRPr>
          </a:p>
          <a:p>
            <a:pPr indent="0" lvl="0" marL="0" rtl="0" algn="l">
              <a:lnSpc>
                <a:spcPct val="120000"/>
              </a:lnSpc>
              <a:spcBef>
                <a:spcPts val="0"/>
              </a:spcBef>
              <a:spcAft>
                <a:spcPts val="0"/>
              </a:spcAft>
              <a:buNone/>
            </a:pPr>
            <a:r>
              <a:rPr lang="en" sz="1000">
                <a:solidFill>
                  <a:srgbClr val="94A3B8"/>
                </a:solidFill>
                <a:latin typeface="Calibri"/>
                <a:ea typeface="Calibri"/>
                <a:cs typeface="Calibri"/>
                <a:sym typeface="Calibri"/>
              </a:rPr>
              <a:t>Automatic video and meeting transcription</a:t>
            </a:r>
            <a:endParaRPr sz="1000">
              <a:solidFill>
                <a:srgbClr val="94A3B8"/>
              </a:solidFill>
              <a:latin typeface="Calibri"/>
              <a:ea typeface="Calibri"/>
              <a:cs typeface="Calibri"/>
              <a:sym typeface="Calibri"/>
            </a:endParaRPr>
          </a:p>
          <a:p>
            <a:pPr indent="0" lvl="0" marL="0" rtl="0" algn="l">
              <a:lnSpc>
                <a:spcPct val="120000"/>
              </a:lnSpc>
              <a:spcBef>
                <a:spcPts val="0"/>
              </a:spcBef>
              <a:spcAft>
                <a:spcPts val="0"/>
              </a:spcAft>
              <a:buNone/>
            </a:pPr>
            <a:r>
              <a:rPr lang="en" sz="1000">
                <a:solidFill>
                  <a:srgbClr val="94A3B8"/>
                </a:solidFill>
                <a:latin typeface="Calibri"/>
                <a:ea typeface="Calibri"/>
                <a:cs typeface="Calibri"/>
                <a:sym typeface="Calibri"/>
              </a:rPr>
              <a:t>Automotive voice control</a:t>
            </a:r>
            <a:endParaRPr sz="1000">
              <a:solidFill>
                <a:srgbClr val="94A3B8"/>
              </a:solidFill>
              <a:latin typeface="Calibri"/>
              <a:ea typeface="Calibri"/>
              <a:cs typeface="Calibri"/>
              <a:sym typeface="Calibri"/>
            </a:endParaRPr>
          </a:p>
          <a:p>
            <a:pPr indent="0" lvl="0" marL="0" rtl="0" algn="l">
              <a:lnSpc>
                <a:spcPct val="120000"/>
              </a:lnSpc>
              <a:spcBef>
                <a:spcPts val="0"/>
              </a:spcBef>
              <a:spcAft>
                <a:spcPts val="0"/>
              </a:spcAft>
              <a:buNone/>
            </a:pPr>
            <a:r>
              <a:rPr lang="en" sz="1000">
                <a:solidFill>
                  <a:srgbClr val="94A3B8"/>
                </a:solidFill>
                <a:latin typeface="Calibri"/>
                <a:ea typeface="Calibri"/>
                <a:cs typeface="Calibri"/>
                <a:sym typeface="Calibri"/>
              </a:rPr>
              <a:t>Virtual assistant for customer services</a:t>
            </a:r>
            <a:endParaRPr sz="1000">
              <a:solidFill>
                <a:schemeClr val="dk1"/>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t/>
            </a:r>
            <a:endParaRPr sz="1600">
              <a:solidFill>
                <a:srgbClr val="48CAE4"/>
              </a:solidFill>
              <a:latin typeface="Calibri"/>
              <a:ea typeface="Calibri"/>
              <a:cs typeface="Calibri"/>
              <a:sym typeface="Calibri"/>
            </a:endParaRPr>
          </a:p>
        </p:txBody>
      </p:sp>
      <p:sp>
        <p:nvSpPr>
          <p:cNvPr id="84" name="Google Shape;84;p17"/>
          <p:cNvSpPr/>
          <p:nvPr/>
        </p:nvSpPr>
        <p:spPr>
          <a:xfrm>
            <a:off x="4417575" y="3287050"/>
            <a:ext cx="3887700" cy="1554600"/>
          </a:xfrm>
          <a:prstGeom prst="rect">
            <a:avLst/>
          </a:prstGeom>
          <a:solidFill>
            <a:srgbClr val="12233D"/>
          </a:solidFill>
          <a:ln cap="flat" cmpd="sng" w="9525">
            <a:solidFill>
              <a:srgbClr val="1E3A5F"/>
            </a:solidFill>
            <a:prstDash val="solid"/>
            <a:round/>
            <a:headEnd len="sm" w="sm" type="none"/>
            <a:tailEnd len="sm" w="sm" type="none"/>
          </a:ln>
          <a:effectLst>
            <a:outerShdw blurRad="101600" rotWithShape="0" algn="bl" dir="8100000" dist="25400">
              <a:srgbClr val="000000">
                <a:alpha val="30199"/>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48CAE4"/>
                </a:solidFill>
                <a:latin typeface="Calibri"/>
                <a:ea typeface="Calibri"/>
                <a:cs typeface="Calibri"/>
                <a:sym typeface="Calibri"/>
              </a:rPr>
              <a:t>              Challenges</a:t>
            </a:r>
            <a:endParaRPr sz="1600">
              <a:solidFill>
                <a:srgbClr val="48CAE4"/>
              </a:solidFill>
              <a:latin typeface="Calibri"/>
              <a:ea typeface="Calibri"/>
              <a:cs typeface="Calibri"/>
              <a:sym typeface="Calibri"/>
            </a:endParaRPr>
          </a:p>
          <a:p>
            <a:pPr indent="0" lvl="0" marL="0" rtl="0" algn="l">
              <a:lnSpc>
                <a:spcPct val="120000"/>
              </a:lnSpc>
              <a:spcBef>
                <a:spcPts val="0"/>
              </a:spcBef>
              <a:spcAft>
                <a:spcPts val="0"/>
              </a:spcAft>
              <a:buNone/>
            </a:pPr>
            <a:r>
              <a:t/>
            </a:r>
            <a:endParaRPr sz="1600">
              <a:solidFill>
                <a:srgbClr val="48CAE4"/>
              </a:solidFill>
              <a:latin typeface="Calibri"/>
              <a:ea typeface="Calibri"/>
              <a:cs typeface="Calibri"/>
              <a:sym typeface="Calibri"/>
            </a:endParaRPr>
          </a:p>
          <a:p>
            <a:pPr indent="0" lvl="0" marL="0" rtl="0" algn="l">
              <a:lnSpc>
                <a:spcPct val="120000"/>
              </a:lnSpc>
              <a:spcBef>
                <a:spcPts val="0"/>
              </a:spcBef>
              <a:spcAft>
                <a:spcPts val="0"/>
              </a:spcAft>
              <a:buNone/>
            </a:pPr>
            <a:r>
              <a:rPr lang="en" sz="1000">
                <a:solidFill>
                  <a:srgbClr val="94A3B8"/>
                </a:solidFill>
                <a:latin typeface="Calibri"/>
                <a:ea typeface="Calibri"/>
                <a:cs typeface="Calibri"/>
                <a:sym typeface="Calibri"/>
              </a:rPr>
              <a:t>Acoustic variability: accents, speaking rates, background noise.</a:t>
            </a:r>
            <a:endParaRPr sz="1000">
              <a:solidFill>
                <a:srgbClr val="94A3B8"/>
              </a:solidFill>
              <a:latin typeface="Calibri"/>
              <a:ea typeface="Calibri"/>
              <a:cs typeface="Calibri"/>
              <a:sym typeface="Calibri"/>
            </a:endParaRPr>
          </a:p>
          <a:p>
            <a:pPr indent="0" lvl="0" marL="0" rtl="0" algn="l">
              <a:lnSpc>
                <a:spcPct val="120000"/>
              </a:lnSpc>
              <a:spcBef>
                <a:spcPts val="0"/>
              </a:spcBef>
              <a:spcAft>
                <a:spcPts val="0"/>
              </a:spcAft>
              <a:buNone/>
            </a:pPr>
            <a:r>
              <a:rPr lang="en" sz="1000">
                <a:solidFill>
                  <a:srgbClr val="94A3B8"/>
                </a:solidFill>
                <a:latin typeface="Calibri"/>
                <a:ea typeface="Calibri"/>
                <a:cs typeface="Calibri"/>
                <a:sym typeface="Calibri"/>
              </a:rPr>
              <a:t>Aligning variable-length audio frames with shorter text targets.</a:t>
            </a:r>
            <a:endParaRPr sz="1000">
              <a:solidFill>
                <a:srgbClr val="94A3B8"/>
              </a:solidFill>
              <a:latin typeface="Calibri"/>
              <a:ea typeface="Calibri"/>
              <a:cs typeface="Calibri"/>
              <a:sym typeface="Calibri"/>
            </a:endParaRPr>
          </a:p>
          <a:p>
            <a:pPr indent="0" lvl="0" marL="0" rtl="0" algn="l">
              <a:lnSpc>
                <a:spcPct val="120000"/>
              </a:lnSpc>
              <a:spcBef>
                <a:spcPts val="0"/>
              </a:spcBef>
              <a:spcAft>
                <a:spcPts val="0"/>
              </a:spcAft>
              <a:buNone/>
            </a:pPr>
            <a:r>
              <a:rPr lang="en" sz="1000">
                <a:solidFill>
                  <a:srgbClr val="94A3B8"/>
                </a:solidFill>
                <a:latin typeface="Calibri"/>
                <a:ea typeface="Calibri"/>
                <a:cs typeface="Calibri"/>
                <a:sym typeface="Calibri"/>
              </a:rPr>
              <a:t>High data and compute requirements for training from scratch.</a:t>
            </a:r>
            <a:endParaRPr sz="1000">
              <a:solidFill>
                <a:srgbClr val="94A3B8"/>
              </a:solidFill>
              <a:latin typeface="Calibri"/>
              <a:ea typeface="Calibri"/>
              <a:cs typeface="Calibri"/>
              <a:sym typeface="Calibri"/>
            </a:endParaRPr>
          </a:p>
          <a:p>
            <a:pPr indent="0" lvl="0" marL="0" rtl="0" algn="l">
              <a:lnSpc>
                <a:spcPct val="120000"/>
              </a:lnSpc>
              <a:spcBef>
                <a:spcPts val="0"/>
              </a:spcBef>
              <a:spcAft>
                <a:spcPts val="0"/>
              </a:spcAft>
              <a:buNone/>
            </a:pPr>
            <a:r>
              <a:rPr lang="en" sz="1000">
                <a:solidFill>
                  <a:srgbClr val="94A3B8"/>
                </a:solidFill>
                <a:latin typeface="Calibri"/>
                <a:ea typeface="Calibri"/>
                <a:cs typeface="Calibri"/>
                <a:sym typeface="Calibri"/>
              </a:rPr>
              <a:t>Generalisation across unseen speakers and domains.</a:t>
            </a:r>
            <a:endParaRPr sz="1000">
              <a:solidFill>
                <a:srgbClr val="94A3B8"/>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t/>
            </a:r>
            <a:endParaRPr sz="1100">
              <a:solidFill>
                <a:srgbClr val="94A3B8"/>
              </a:solidFill>
              <a:latin typeface="Calibri"/>
              <a:ea typeface="Calibri"/>
              <a:cs typeface="Calibri"/>
              <a:sym typeface="Calibri"/>
            </a:endParaRPr>
          </a:p>
        </p:txBody>
      </p:sp>
      <p:pic>
        <p:nvPicPr>
          <p:cNvPr id="85" name="Google Shape;85;p17" title="microphone.png"/>
          <p:cNvPicPr preferRelativeResize="0"/>
          <p:nvPr/>
        </p:nvPicPr>
        <p:blipFill>
          <a:blip r:embed="rId4">
            <a:alphaModFix/>
          </a:blip>
          <a:stretch>
            <a:fillRect/>
          </a:stretch>
        </p:blipFill>
        <p:spPr>
          <a:xfrm>
            <a:off x="599400" y="1665725"/>
            <a:ext cx="431100" cy="431100"/>
          </a:xfrm>
          <a:prstGeom prst="rect">
            <a:avLst/>
          </a:prstGeom>
          <a:solidFill>
            <a:srgbClr val="12233D"/>
          </a:solidFill>
          <a:ln>
            <a:noFill/>
          </a:ln>
          <a:effectLst>
            <a:outerShdw blurRad="101600" rotWithShape="0" algn="bl" dir="8100000" dist="25400">
              <a:srgbClr val="000000">
                <a:alpha val="30199"/>
              </a:srgbClr>
            </a:outerShdw>
          </a:effectLst>
        </p:spPr>
      </p:pic>
      <p:pic>
        <p:nvPicPr>
          <p:cNvPr id="86" name="Google Shape;86;p17" title="brain.png"/>
          <p:cNvPicPr preferRelativeResize="0"/>
          <p:nvPr/>
        </p:nvPicPr>
        <p:blipFill>
          <a:blip r:embed="rId5">
            <a:alphaModFix/>
          </a:blip>
          <a:stretch>
            <a:fillRect/>
          </a:stretch>
        </p:blipFill>
        <p:spPr>
          <a:xfrm>
            <a:off x="4516475" y="1665723"/>
            <a:ext cx="431100" cy="431100"/>
          </a:xfrm>
          <a:prstGeom prst="rect">
            <a:avLst/>
          </a:prstGeom>
          <a:noFill/>
          <a:ln>
            <a:noFill/>
          </a:ln>
        </p:spPr>
      </p:pic>
      <p:pic>
        <p:nvPicPr>
          <p:cNvPr id="87" name="Google Shape;87;p17" title="globe.png"/>
          <p:cNvPicPr preferRelativeResize="0"/>
          <p:nvPr/>
        </p:nvPicPr>
        <p:blipFill>
          <a:blip r:embed="rId6">
            <a:alphaModFix/>
          </a:blip>
          <a:stretch>
            <a:fillRect/>
          </a:stretch>
        </p:blipFill>
        <p:spPr>
          <a:xfrm>
            <a:off x="599400" y="3372150"/>
            <a:ext cx="431100" cy="431100"/>
          </a:xfrm>
          <a:prstGeom prst="rect">
            <a:avLst/>
          </a:prstGeom>
          <a:solidFill>
            <a:srgbClr val="12233D"/>
          </a:solidFill>
          <a:ln>
            <a:noFill/>
          </a:ln>
          <a:effectLst>
            <a:outerShdw blurRad="101600" rotWithShape="0" algn="bl" dir="8100000" dist="25400">
              <a:srgbClr val="000000">
                <a:alpha val="30199"/>
              </a:srgbClr>
            </a:outerShdw>
          </a:effectLst>
        </p:spPr>
      </p:pic>
      <p:pic>
        <p:nvPicPr>
          <p:cNvPr id="88" name="Google Shape;88;p17" title="warning_triangle.png"/>
          <p:cNvPicPr preferRelativeResize="0"/>
          <p:nvPr/>
        </p:nvPicPr>
        <p:blipFill>
          <a:blip r:embed="rId7">
            <a:alphaModFix/>
          </a:blip>
          <a:stretch>
            <a:fillRect/>
          </a:stretch>
        </p:blipFill>
        <p:spPr>
          <a:xfrm>
            <a:off x="4516475" y="3334350"/>
            <a:ext cx="431100" cy="431100"/>
          </a:xfrm>
          <a:prstGeom prst="rect">
            <a:avLst/>
          </a:prstGeom>
          <a:solidFill>
            <a:srgbClr val="12233D"/>
          </a:solidFill>
          <a:ln>
            <a:noFill/>
          </a:ln>
          <a:effectLst>
            <a:outerShdw blurRad="101600" rotWithShape="0" algn="bl" dir="8100000" dist="25400">
              <a:srgbClr val="000000">
                <a:alpha val="30199"/>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93" name="Shape 93"/>
        <p:cNvGrpSpPr/>
        <p:nvPr/>
      </p:nvGrpSpPr>
      <p:grpSpPr>
        <a:xfrm>
          <a:off x="0" y="0"/>
          <a:ext cx="0" cy="0"/>
          <a:chOff x="0" y="0"/>
          <a:chExt cx="0" cy="0"/>
        </a:xfrm>
      </p:grpSpPr>
      <p:sp>
        <p:nvSpPr>
          <p:cNvPr id="94" name="Google Shape;94;p18"/>
          <p:cNvSpPr/>
          <p:nvPr/>
        </p:nvSpPr>
        <p:spPr>
          <a:xfrm>
            <a:off x="0" y="0"/>
            <a:ext cx="9144000" cy="4953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8"/>
          <p:cNvSpPr/>
          <p:nvPr/>
        </p:nvSpPr>
        <p:spPr>
          <a:xfrm>
            <a:off x="0" y="0"/>
            <a:ext cx="201300" cy="4953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8"/>
          <p:cNvSpPr/>
          <p:nvPr/>
        </p:nvSpPr>
        <p:spPr>
          <a:xfrm>
            <a:off x="347472" y="0"/>
            <a:ext cx="7772400" cy="4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 sz="1300">
                <a:solidFill>
                  <a:srgbClr val="FFFFFF"/>
                </a:solidFill>
                <a:latin typeface="Calibri"/>
                <a:ea typeface="Calibri"/>
                <a:cs typeface="Calibri"/>
                <a:sym typeface="Calibri"/>
              </a:rPr>
              <a:t>SPEECH-TO-TEXT</a:t>
            </a:r>
            <a:r>
              <a:rPr b="1" i="0" lang="en" sz="1300" u="none" cap="none" strike="noStrike">
                <a:solidFill>
                  <a:srgbClr val="FFFFFF"/>
                </a:solidFill>
                <a:latin typeface="Calibri"/>
                <a:ea typeface="Calibri"/>
                <a:cs typeface="Calibri"/>
                <a:sym typeface="Calibri"/>
              </a:rPr>
              <a:t> </a:t>
            </a:r>
            <a:r>
              <a:rPr b="1" lang="en" sz="1300">
                <a:solidFill>
                  <a:srgbClr val="FFFFFF"/>
                </a:solidFill>
                <a:latin typeface="Calibri"/>
                <a:ea typeface="Calibri"/>
                <a:cs typeface="Calibri"/>
                <a:sym typeface="Calibri"/>
              </a:rPr>
              <a:t>ARCHITECTURE</a:t>
            </a:r>
            <a:endParaRPr b="0" i="0" sz="1300" u="none" cap="none" strike="noStrike">
              <a:solidFill>
                <a:schemeClr val="dk1"/>
              </a:solidFill>
              <a:latin typeface="Calibri"/>
              <a:ea typeface="Calibri"/>
              <a:cs typeface="Calibri"/>
              <a:sym typeface="Calibri"/>
            </a:endParaRPr>
          </a:p>
        </p:txBody>
      </p:sp>
      <p:sp>
        <p:nvSpPr>
          <p:cNvPr id="97" name="Google Shape;97;p18"/>
          <p:cNvSpPr/>
          <p:nvPr/>
        </p:nvSpPr>
        <p:spPr>
          <a:xfrm>
            <a:off x="8046724" y="123825"/>
            <a:ext cx="914400" cy="240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B4D8"/>
              </a:buClr>
              <a:buSzPts val="900"/>
              <a:buFont typeface="Calibri"/>
              <a:buNone/>
            </a:pPr>
            <a:r>
              <a:rPr b="0" i="0" lang="en" sz="900" u="none" cap="none" strike="noStrike">
                <a:solidFill>
                  <a:srgbClr val="00B4D8"/>
                </a:solidFill>
                <a:latin typeface="Calibri"/>
                <a:ea typeface="Calibri"/>
                <a:cs typeface="Calibri"/>
                <a:sym typeface="Calibri"/>
              </a:rPr>
              <a:t>02 / 04</a:t>
            </a:r>
            <a:endParaRPr b="0" i="0" sz="900" u="none" cap="none" strike="noStrike">
              <a:solidFill>
                <a:schemeClr val="dk1"/>
              </a:solidFill>
              <a:latin typeface="Calibri"/>
              <a:ea typeface="Calibri"/>
              <a:cs typeface="Calibri"/>
              <a:sym typeface="Calibri"/>
            </a:endParaRPr>
          </a:p>
        </p:txBody>
      </p:sp>
      <p:sp>
        <p:nvSpPr>
          <p:cNvPr id="98" name="Google Shape;98;p18"/>
          <p:cNvSpPr/>
          <p:nvPr/>
        </p:nvSpPr>
        <p:spPr>
          <a:xfrm>
            <a:off x="6949450" y="3062215"/>
            <a:ext cx="1920300" cy="1703100"/>
          </a:xfrm>
          <a:prstGeom prst="rect">
            <a:avLst/>
          </a:prstGeom>
          <a:solidFill>
            <a:srgbClr val="FFF4EC"/>
          </a:solidFill>
          <a:ln cap="flat" cmpd="sng" w="12700">
            <a:solidFill>
              <a:srgbClr val="F4A261"/>
            </a:solidFill>
            <a:prstDash val="solid"/>
            <a:round/>
            <a:headEnd len="sm" w="sm" type="none"/>
            <a:tailEnd len="sm" w="sm" type="none"/>
          </a:ln>
        </p:spPr>
        <p:txBody>
          <a:bodyPr anchorCtr="0" anchor="b" bIns="91425" lIns="91425" spcFirstLastPara="1" rIns="91425" wrap="square" tIns="91425">
            <a:noAutofit/>
          </a:bodyPr>
          <a:lstStyle/>
          <a:p>
            <a:pPr indent="-177800" lvl="0" marL="171450" marR="0" rtl="0" algn="l">
              <a:lnSpc>
                <a:spcPct val="100000"/>
              </a:lnSpc>
              <a:spcBef>
                <a:spcPts val="400"/>
              </a:spcBef>
              <a:spcAft>
                <a:spcPts val="0"/>
              </a:spcAft>
              <a:buClr>
                <a:srgbClr val="1E3A4C"/>
              </a:buClr>
              <a:buSzPts val="1000"/>
              <a:buFont typeface="Calibri"/>
              <a:buChar char="•"/>
            </a:pPr>
            <a:r>
              <a:rPr lang="en" sz="1000">
                <a:solidFill>
                  <a:srgbClr val="1E3A4C"/>
                </a:solidFill>
                <a:latin typeface="Calibri"/>
                <a:ea typeface="Calibri"/>
                <a:cs typeface="Calibri"/>
                <a:sym typeface="Calibri"/>
              </a:rPr>
              <a:t>Sequence-to-sequence alignment</a:t>
            </a:r>
            <a:endParaRPr sz="1000">
              <a:solidFill>
                <a:srgbClr val="1E3A4C"/>
              </a:solidFill>
              <a:latin typeface="Calibri"/>
              <a:ea typeface="Calibri"/>
              <a:cs typeface="Calibri"/>
              <a:sym typeface="Calibri"/>
            </a:endParaRPr>
          </a:p>
          <a:p>
            <a:pPr indent="-177800" lvl="0" marL="171450" marR="0" rtl="0" algn="l">
              <a:lnSpc>
                <a:spcPct val="100000"/>
              </a:lnSpc>
              <a:spcBef>
                <a:spcPts val="400"/>
              </a:spcBef>
              <a:spcAft>
                <a:spcPts val="0"/>
              </a:spcAft>
              <a:buClr>
                <a:srgbClr val="1E3A4C"/>
              </a:buClr>
              <a:buSzPts val="1000"/>
              <a:buFont typeface="Calibri"/>
              <a:buChar char="•"/>
            </a:pPr>
            <a:r>
              <a:rPr lang="en" sz="1000">
                <a:solidFill>
                  <a:srgbClr val="1E3A4C"/>
                </a:solidFill>
                <a:latin typeface="Calibri"/>
                <a:ea typeface="Calibri"/>
                <a:cs typeface="Calibri"/>
                <a:sym typeface="Calibri"/>
              </a:rPr>
              <a:t>Complex task requires large models for decent generalisation</a:t>
            </a:r>
            <a:endParaRPr sz="1000">
              <a:solidFill>
                <a:srgbClr val="1E3A4C"/>
              </a:solidFill>
              <a:latin typeface="Calibri"/>
              <a:ea typeface="Calibri"/>
              <a:cs typeface="Calibri"/>
              <a:sym typeface="Calibri"/>
            </a:endParaRPr>
          </a:p>
          <a:p>
            <a:pPr indent="-177800" lvl="0" marL="171450" marR="0" rtl="0" algn="l">
              <a:lnSpc>
                <a:spcPct val="100000"/>
              </a:lnSpc>
              <a:spcBef>
                <a:spcPts val="400"/>
              </a:spcBef>
              <a:spcAft>
                <a:spcPts val="0"/>
              </a:spcAft>
              <a:buClr>
                <a:srgbClr val="1E3A4C"/>
              </a:buClr>
              <a:buSzPts val="1000"/>
              <a:buFont typeface="Calibri"/>
              <a:buChar char="•"/>
            </a:pPr>
            <a:r>
              <a:rPr lang="en" sz="1000">
                <a:solidFill>
                  <a:srgbClr val="1E3A4C"/>
                </a:solidFill>
                <a:latin typeface="Calibri"/>
                <a:ea typeface="Calibri"/>
                <a:cs typeface="Calibri"/>
                <a:sym typeface="Calibri"/>
              </a:rPr>
              <a:t>Limited compute for training general STT models</a:t>
            </a:r>
            <a:endParaRPr sz="1000">
              <a:solidFill>
                <a:schemeClr val="dk1"/>
              </a:solidFill>
              <a:latin typeface="Calibri"/>
              <a:ea typeface="Calibri"/>
              <a:cs typeface="Calibri"/>
              <a:sym typeface="Calibri"/>
            </a:endParaRPr>
          </a:p>
        </p:txBody>
      </p:sp>
      <p:sp>
        <p:nvSpPr>
          <p:cNvPr id="99" name="Google Shape;99;p18"/>
          <p:cNvSpPr/>
          <p:nvPr/>
        </p:nvSpPr>
        <p:spPr>
          <a:xfrm>
            <a:off x="7018010" y="3125058"/>
            <a:ext cx="1783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050"/>
              <a:buFont typeface="Calibri"/>
              <a:buNone/>
            </a:pPr>
            <a:r>
              <a:rPr b="1" i="0" lang="en" sz="1050" u="none" cap="none" strike="noStrike">
                <a:solidFill>
                  <a:srgbClr val="F4A261"/>
                </a:solidFill>
                <a:latin typeface="Calibri"/>
                <a:ea typeface="Calibri"/>
                <a:cs typeface="Calibri"/>
                <a:sym typeface="Calibri"/>
              </a:rPr>
              <a:t>⚠ Known Challenges</a:t>
            </a:r>
            <a:endParaRPr b="0" i="0" sz="1050" u="none" cap="none" strike="noStrike">
              <a:solidFill>
                <a:schemeClr val="dk1"/>
              </a:solidFill>
              <a:latin typeface="Calibri"/>
              <a:ea typeface="Calibri"/>
              <a:cs typeface="Calibri"/>
              <a:sym typeface="Calibri"/>
            </a:endParaRPr>
          </a:p>
        </p:txBody>
      </p:sp>
      <p:sp>
        <p:nvSpPr>
          <p:cNvPr id="100" name="Google Shape;100;p18"/>
          <p:cNvSpPr/>
          <p:nvPr/>
        </p:nvSpPr>
        <p:spPr>
          <a:xfrm>
            <a:off x="6949450" y="1200787"/>
            <a:ext cx="1920300" cy="1703100"/>
          </a:xfrm>
          <a:prstGeom prst="rect">
            <a:avLst/>
          </a:prstGeom>
          <a:solidFill>
            <a:srgbClr val="CFE2F3"/>
          </a:solidFill>
          <a:ln cap="flat" cmpd="sng" w="12700">
            <a:solidFill>
              <a:srgbClr val="0077A8"/>
            </a:solidFill>
            <a:prstDash val="solid"/>
            <a:round/>
            <a:headEnd len="sm" w="sm" type="none"/>
            <a:tailEnd len="sm" w="sm" type="none"/>
          </a:ln>
        </p:spPr>
        <p:txBody>
          <a:bodyPr anchorCtr="0" anchor="b" bIns="91425" lIns="91425" spcFirstLastPara="1" rIns="91425" wrap="square" tIns="91425">
            <a:noAutofit/>
          </a:bodyPr>
          <a:lstStyle/>
          <a:p>
            <a:pPr indent="-177800" lvl="0" marL="171450" marR="0" rtl="0" algn="l">
              <a:lnSpc>
                <a:spcPct val="100000"/>
              </a:lnSpc>
              <a:spcBef>
                <a:spcPts val="400"/>
              </a:spcBef>
              <a:spcAft>
                <a:spcPts val="0"/>
              </a:spcAft>
              <a:buClr>
                <a:srgbClr val="1E3A4C"/>
              </a:buClr>
              <a:buSzPts val="1000"/>
              <a:buFont typeface="Calibri"/>
              <a:buChar char="•"/>
            </a:pPr>
            <a:r>
              <a:rPr lang="en" sz="1000">
                <a:solidFill>
                  <a:srgbClr val="1E3A4C"/>
                </a:solidFill>
                <a:latin typeface="Calibri"/>
                <a:ea typeface="Calibri"/>
                <a:cs typeface="Calibri"/>
                <a:sym typeface="Calibri"/>
              </a:rPr>
              <a:t>Reduced dataset and model size to work with limited compute</a:t>
            </a:r>
            <a:endParaRPr sz="1000">
              <a:solidFill>
                <a:srgbClr val="1E3A4C"/>
              </a:solidFill>
              <a:latin typeface="Calibri"/>
              <a:ea typeface="Calibri"/>
              <a:cs typeface="Calibri"/>
              <a:sym typeface="Calibri"/>
            </a:endParaRPr>
          </a:p>
          <a:p>
            <a:pPr indent="-177800" lvl="0" marL="171450" marR="0" rtl="0" algn="l">
              <a:lnSpc>
                <a:spcPct val="100000"/>
              </a:lnSpc>
              <a:spcBef>
                <a:spcPts val="400"/>
              </a:spcBef>
              <a:spcAft>
                <a:spcPts val="0"/>
              </a:spcAft>
              <a:buClr>
                <a:srgbClr val="1E3A4C"/>
              </a:buClr>
              <a:buSzPts val="1000"/>
              <a:buFont typeface="Calibri"/>
              <a:buChar char="•"/>
            </a:pPr>
            <a:r>
              <a:rPr lang="en" sz="1000">
                <a:solidFill>
                  <a:srgbClr val="1E3A4C"/>
                </a:solidFill>
                <a:latin typeface="Calibri"/>
                <a:ea typeface="Calibri"/>
                <a:cs typeface="Calibri"/>
                <a:sym typeface="Calibri"/>
              </a:rPr>
              <a:t>Custom preprocessing: mel-spectrogram</a:t>
            </a:r>
            <a:endParaRPr sz="1000">
              <a:solidFill>
                <a:srgbClr val="1E3A4C"/>
              </a:solidFill>
              <a:latin typeface="Calibri"/>
              <a:ea typeface="Calibri"/>
              <a:cs typeface="Calibri"/>
              <a:sym typeface="Calibri"/>
            </a:endParaRPr>
          </a:p>
          <a:p>
            <a:pPr indent="-177800" lvl="0" marL="171450" marR="0" rtl="0" algn="l">
              <a:lnSpc>
                <a:spcPct val="100000"/>
              </a:lnSpc>
              <a:spcBef>
                <a:spcPts val="400"/>
              </a:spcBef>
              <a:spcAft>
                <a:spcPts val="0"/>
              </a:spcAft>
              <a:buClr>
                <a:srgbClr val="1E3A4C"/>
              </a:buClr>
              <a:buSzPts val="1000"/>
              <a:buFont typeface="Calibri"/>
              <a:buChar char="•"/>
            </a:pPr>
            <a:r>
              <a:rPr lang="en" sz="1000">
                <a:solidFill>
                  <a:srgbClr val="1E3A4C"/>
                </a:solidFill>
                <a:latin typeface="Calibri"/>
                <a:ea typeface="Calibri"/>
                <a:cs typeface="Calibri"/>
                <a:sym typeface="Calibri"/>
              </a:rPr>
              <a:t>Experimentation with other temporal models</a:t>
            </a:r>
            <a:endParaRPr sz="1100">
              <a:solidFill>
                <a:schemeClr val="dk1"/>
              </a:solidFill>
              <a:latin typeface="Calibri"/>
              <a:ea typeface="Calibri"/>
              <a:cs typeface="Calibri"/>
              <a:sym typeface="Calibri"/>
            </a:endParaRPr>
          </a:p>
        </p:txBody>
      </p:sp>
      <p:sp>
        <p:nvSpPr>
          <p:cNvPr id="101" name="Google Shape;101;p18"/>
          <p:cNvSpPr/>
          <p:nvPr/>
        </p:nvSpPr>
        <p:spPr>
          <a:xfrm>
            <a:off x="274325" y="2088390"/>
            <a:ext cx="6400800" cy="276900"/>
          </a:xfrm>
          <a:prstGeom prst="rect">
            <a:avLst/>
          </a:prstGeom>
          <a:solidFill>
            <a:srgbClr val="1E3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rgbClr val="FFFFFF"/>
                </a:solidFill>
                <a:latin typeface="Calibri"/>
                <a:ea typeface="Calibri"/>
                <a:cs typeface="Calibri"/>
                <a:sym typeface="Calibri"/>
              </a:rPr>
              <a:t>Prediction Head (FC Layer + Log-Softmax)</a:t>
            </a:r>
            <a:endParaRPr sz="1100"/>
          </a:p>
        </p:txBody>
      </p:sp>
      <p:sp>
        <p:nvSpPr>
          <p:cNvPr id="102" name="Google Shape;102;p18"/>
          <p:cNvSpPr/>
          <p:nvPr/>
        </p:nvSpPr>
        <p:spPr>
          <a:xfrm>
            <a:off x="274325" y="3259612"/>
            <a:ext cx="6400800" cy="276900"/>
          </a:xfrm>
          <a:prstGeom prst="rect">
            <a:avLst/>
          </a:prstGeom>
          <a:solidFill>
            <a:srgbClr val="0D6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rgbClr val="FFFFFF"/>
                </a:solidFill>
                <a:latin typeface="Calibri"/>
                <a:ea typeface="Calibri"/>
                <a:cs typeface="Calibri"/>
                <a:sym typeface="Calibri"/>
              </a:rPr>
              <a:t>Feature Extractor (CNN)</a:t>
            </a:r>
            <a:endParaRPr sz="1100"/>
          </a:p>
        </p:txBody>
      </p:sp>
      <p:grpSp>
        <p:nvGrpSpPr>
          <p:cNvPr id="103" name="Google Shape;103;p18"/>
          <p:cNvGrpSpPr/>
          <p:nvPr/>
        </p:nvGrpSpPr>
        <p:grpSpPr>
          <a:xfrm>
            <a:off x="274325" y="2468201"/>
            <a:ext cx="6400800" cy="688500"/>
            <a:chOff x="274325" y="3296683"/>
            <a:chExt cx="6400800" cy="688500"/>
          </a:xfrm>
        </p:grpSpPr>
        <p:sp>
          <p:nvSpPr>
            <p:cNvPr id="104" name="Google Shape;104;p18"/>
            <p:cNvSpPr/>
            <p:nvPr/>
          </p:nvSpPr>
          <p:spPr>
            <a:xfrm>
              <a:off x="274325" y="3296683"/>
              <a:ext cx="6400800" cy="688500"/>
            </a:xfrm>
            <a:prstGeom prst="rect">
              <a:avLst/>
            </a:prstGeom>
            <a:solidFill>
              <a:srgbClr val="0B4F6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FFFFFF"/>
                  </a:solidFill>
                  <a:latin typeface="Calibri"/>
                  <a:ea typeface="Calibri"/>
                  <a:cs typeface="Calibri"/>
                  <a:sym typeface="Calibri"/>
                </a:rPr>
                <a:t>Temporal Model</a:t>
              </a:r>
              <a:endParaRPr sz="1100"/>
            </a:p>
          </p:txBody>
        </p:sp>
        <p:sp>
          <p:nvSpPr>
            <p:cNvPr id="105" name="Google Shape;105;p18"/>
            <p:cNvSpPr/>
            <p:nvPr/>
          </p:nvSpPr>
          <p:spPr>
            <a:xfrm>
              <a:off x="373425" y="3645238"/>
              <a:ext cx="2041500" cy="27690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GRU + Look Ahead Conv/BiGRU</a:t>
              </a:r>
              <a:endParaRPr sz="1100"/>
            </a:p>
          </p:txBody>
        </p:sp>
        <p:sp>
          <p:nvSpPr>
            <p:cNvPr id="106" name="Google Shape;106;p18"/>
            <p:cNvSpPr/>
            <p:nvPr/>
          </p:nvSpPr>
          <p:spPr>
            <a:xfrm>
              <a:off x="2997525" y="3639556"/>
              <a:ext cx="1645800" cy="27690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LSTM</a:t>
              </a:r>
              <a:endParaRPr sz="1100"/>
            </a:p>
          </p:txBody>
        </p:sp>
        <p:sp>
          <p:nvSpPr>
            <p:cNvPr id="107" name="Google Shape;107;p18"/>
            <p:cNvSpPr/>
            <p:nvPr/>
          </p:nvSpPr>
          <p:spPr>
            <a:xfrm>
              <a:off x="4839047" y="3639556"/>
              <a:ext cx="1645800" cy="27690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Conformer</a:t>
              </a:r>
              <a:endParaRPr sz="1100"/>
            </a:p>
          </p:txBody>
        </p:sp>
      </p:grpSp>
      <p:sp>
        <p:nvSpPr>
          <p:cNvPr id="108" name="Google Shape;108;p18"/>
          <p:cNvSpPr/>
          <p:nvPr/>
        </p:nvSpPr>
        <p:spPr>
          <a:xfrm>
            <a:off x="274325" y="1193168"/>
            <a:ext cx="6400800" cy="27690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rgbClr val="FFFFFF"/>
                </a:solidFill>
                <a:latin typeface="Calibri"/>
                <a:ea typeface="Calibri"/>
                <a:cs typeface="Calibri"/>
                <a:sym typeface="Calibri"/>
              </a:rPr>
              <a:t>Text Output</a:t>
            </a:r>
            <a:endParaRPr sz="1100"/>
          </a:p>
        </p:txBody>
      </p:sp>
      <p:sp>
        <p:nvSpPr>
          <p:cNvPr id="109" name="Google Shape;109;p18"/>
          <p:cNvSpPr/>
          <p:nvPr/>
        </p:nvSpPr>
        <p:spPr>
          <a:xfrm>
            <a:off x="7086560" y="1240705"/>
            <a:ext cx="1783200" cy="34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4A261"/>
              </a:buClr>
              <a:buSzPts val="1050"/>
              <a:buFont typeface="Calibri"/>
              <a:buNone/>
            </a:pPr>
            <a:r>
              <a:rPr b="1" lang="en" sz="1050">
                <a:solidFill>
                  <a:srgbClr val="F4A261"/>
                </a:solidFill>
                <a:latin typeface="Calibri"/>
                <a:ea typeface="Calibri"/>
                <a:cs typeface="Calibri"/>
                <a:sym typeface="Calibri"/>
              </a:rPr>
              <a:t>    Key Changes</a:t>
            </a:r>
            <a:endParaRPr b="0" i="0" sz="1050" u="none" cap="none" strike="noStrike">
              <a:solidFill>
                <a:schemeClr val="dk1"/>
              </a:solidFill>
              <a:latin typeface="Calibri"/>
              <a:ea typeface="Calibri"/>
              <a:cs typeface="Calibri"/>
              <a:sym typeface="Calibri"/>
            </a:endParaRPr>
          </a:p>
        </p:txBody>
      </p:sp>
      <p:sp>
        <p:nvSpPr>
          <p:cNvPr id="110" name="Google Shape;110;p18"/>
          <p:cNvSpPr/>
          <p:nvPr/>
        </p:nvSpPr>
        <p:spPr>
          <a:xfrm>
            <a:off x="7018000" y="1352895"/>
            <a:ext cx="128700" cy="133500"/>
          </a:xfrm>
          <a:prstGeom prst="curvedLef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1" name="Google Shape;111;p18"/>
          <p:cNvGrpSpPr/>
          <p:nvPr/>
        </p:nvGrpSpPr>
        <p:grpSpPr>
          <a:xfrm>
            <a:off x="274325" y="4281281"/>
            <a:ext cx="6400800" cy="654043"/>
            <a:chOff x="274325" y="4344116"/>
            <a:chExt cx="6400800" cy="654043"/>
          </a:xfrm>
        </p:grpSpPr>
        <p:grpSp>
          <p:nvGrpSpPr>
            <p:cNvPr id="112" name="Google Shape;112;p18"/>
            <p:cNvGrpSpPr/>
            <p:nvPr/>
          </p:nvGrpSpPr>
          <p:grpSpPr>
            <a:xfrm>
              <a:off x="274325" y="4505762"/>
              <a:ext cx="6400800" cy="347400"/>
              <a:chOff x="274325" y="4604503"/>
              <a:chExt cx="6400800" cy="347400"/>
            </a:xfrm>
          </p:grpSpPr>
          <p:sp>
            <p:nvSpPr>
              <p:cNvPr id="113" name="Google Shape;113;p18"/>
              <p:cNvSpPr/>
              <p:nvPr/>
            </p:nvSpPr>
            <p:spPr>
              <a:xfrm>
                <a:off x="274325" y="4604503"/>
                <a:ext cx="6400800" cy="347400"/>
              </a:xfrm>
              <a:prstGeom prst="rect">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rgbClr val="FFFFFF"/>
                    </a:solidFill>
                    <a:latin typeface="Calibri"/>
                    <a:ea typeface="Calibri"/>
                    <a:cs typeface="Calibri"/>
                    <a:sym typeface="Calibri"/>
                  </a:rPr>
                  <a:t>Audio (LibriSpeech)</a:t>
                </a:r>
                <a:endParaRPr sz="1100"/>
              </a:p>
            </p:txBody>
          </p:sp>
          <p:sp>
            <p:nvSpPr>
              <p:cNvPr id="114" name="Google Shape;114;p18"/>
              <p:cNvSpPr/>
              <p:nvPr/>
            </p:nvSpPr>
            <p:spPr>
              <a:xfrm>
                <a:off x="2981815" y="4642223"/>
                <a:ext cx="1619700" cy="27690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LJ Speech</a:t>
                </a:r>
                <a:endParaRPr sz="1100"/>
              </a:p>
            </p:txBody>
          </p:sp>
        </p:grpSp>
        <p:pic>
          <p:nvPicPr>
            <p:cNvPr id="115" name="Google Shape;115;p18"/>
            <p:cNvPicPr preferRelativeResize="0"/>
            <p:nvPr/>
          </p:nvPicPr>
          <p:blipFill>
            <a:blip r:embed="rId4">
              <a:alphaModFix/>
            </a:blip>
            <a:stretch>
              <a:fillRect/>
            </a:stretch>
          </p:blipFill>
          <p:spPr>
            <a:xfrm>
              <a:off x="4754850" y="4344116"/>
              <a:ext cx="1694491" cy="654043"/>
            </a:xfrm>
            <a:prstGeom prst="rect">
              <a:avLst/>
            </a:prstGeom>
            <a:noFill/>
            <a:ln>
              <a:noFill/>
            </a:ln>
          </p:spPr>
        </p:pic>
      </p:grpSp>
      <p:grpSp>
        <p:nvGrpSpPr>
          <p:cNvPr id="116" name="Google Shape;116;p18"/>
          <p:cNvGrpSpPr/>
          <p:nvPr/>
        </p:nvGrpSpPr>
        <p:grpSpPr>
          <a:xfrm>
            <a:off x="274325" y="3581888"/>
            <a:ext cx="6400800" cy="654050"/>
            <a:chOff x="274325" y="3563935"/>
            <a:chExt cx="6400800" cy="654050"/>
          </a:xfrm>
        </p:grpSpPr>
        <p:grpSp>
          <p:nvGrpSpPr>
            <p:cNvPr id="117" name="Google Shape;117;p18"/>
            <p:cNvGrpSpPr/>
            <p:nvPr/>
          </p:nvGrpSpPr>
          <p:grpSpPr>
            <a:xfrm>
              <a:off x="274325" y="3717261"/>
              <a:ext cx="6400800" cy="347400"/>
              <a:chOff x="274325" y="4103248"/>
              <a:chExt cx="6400800" cy="347400"/>
            </a:xfrm>
          </p:grpSpPr>
          <p:sp>
            <p:nvSpPr>
              <p:cNvPr id="118" name="Google Shape;118;p18"/>
              <p:cNvSpPr/>
              <p:nvPr/>
            </p:nvSpPr>
            <p:spPr>
              <a:xfrm>
                <a:off x="274325" y="4103248"/>
                <a:ext cx="6400800" cy="347400"/>
              </a:xfrm>
              <a:prstGeom prst="rect">
                <a:avLst/>
              </a:prstGeom>
              <a:solidFill>
                <a:srgbClr val="00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Calibri"/>
                    <a:ea typeface="Calibri"/>
                    <a:cs typeface="Calibri"/>
                    <a:sym typeface="Calibri"/>
                  </a:rPr>
                  <a:t>Preprocessing</a:t>
                </a:r>
                <a:r>
                  <a:rPr b="1" lang="en" sz="1100">
                    <a:solidFill>
                      <a:schemeClr val="lt1"/>
                    </a:solidFill>
                    <a:latin typeface="Calibri"/>
                    <a:ea typeface="Calibri"/>
                    <a:cs typeface="Calibri"/>
                    <a:sym typeface="Calibri"/>
                  </a:rPr>
                  <a:t> (</a:t>
                </a:r>
                <a:r>
                  <a:rPr b="1" lang="en" sz="1100">
                    <a:solidFill>
                      <a:srgbClr val="FFFFFF"/>
                    </a:solidFill>
                    <a:latin typeface="Calibri"/>
                    <a:ea typeface="Calibri"/>
                    <a:cs typeface="Calibri"/>
                    <a:sym typeface="Calibri"/>
                  </a:rPr>
                  <a:t>Spectrogram)</a:t>
                </a:r>
                <a:endParaRPr sz="1100"/>
              </a:p>
            </p:txBody>
          </p:sp>
          <p:sp>
            <p:nvSpPr>
              <p:cNvPr id="119" name="Google Shape;119;p18"/>
              <p:cNvSpPr/>
              <p:nvPr/>
            </p:nvSpPr>
            <p:spPr>
              <a:xfrm>
                <a:off x="2995075" y="4138484"/>
                <a:ext cx="1605900" cy="27690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Mel-Spectrogram</a:t>
                </a:r>
                <a:endParaRPr sz="1100"/>
              </a:p>
            </p:txBody>
          </p:sp>
        </p:grpSp>
        <p:pic>
          <p:nvPicPr>
            <p:cNvPr id="120" name="Google Shape;120;p18"/>
            <p:cNvPicPr preferRelativeResize="0"/>
            <p:nvPr/>
          </p:nvPicPr>
          <p:blipFill>
            <a:blip r:embed="rId5">
              <a:alphaModFix/>
            </a:blip>
            <a:stretch>
              <a:fillRect/>
            </a:stretch>
          </p:blipFill>
          <p:spPr>
            <a:xfrm>
              <a:off x="5154851" y="3563935"/>
              <a:ext cx="894511" cy="654050"/>
            </a:xfrm>
            <a:prstGeom prst="rect">
              <a:avLst/>
            </a:prstGeom>
            <a:noFill/>
            <a:ln>
              <a:noFill/>
            </a:ln>
          </p:spPr>
        </p:pic>
      </p:grpSp>
      <p:grpSp>
        <p:nvGrpSpPr>
          <p:cNvPr id="121" name="Google Shape;121;p18"/>
          <p:cNvGrpSpPr/>
          <p:nvPr/>
        </p:nvGrpSpPr>
        <p:grpSpPr>
          <a:xfrm>
            <a:off x="274325" y="1572979"/>
            <a:ext cx="6400800" cy="412500"/>
            <a:chOff x="274325" y="1541913"/>
            <a:chExt cx="6400800" cy="412500"/>
          </a:xfrm>
        </p:grpSpPr>
        <p:sp>
          <p:nvSpPr>
            <p:cNvPr id="122" name="Google Shape;122;p18"/>
            <p:cNvSpPr/>
            <p:nvPr/>
          </p:nvSpPr>
          <p:spPr>
            <a:xfrm>
              <a:off x="274325" y="1541913"/>
              <a:ext cx="6400800" cy="412500"/>
            </a:xfrm>
            <a:prstGeom prst="rect">
              <a:avLst/>
            </a:prstGeom>
            <a:solidFill>
              <a:srgbClr val="C47A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rgbClr val="FFFFFF"/>
                  </a:solidFill>
                  <a:latin typeface="Calibri"/>
                  <a:ea typeface="Calibri"/>
                  <a:cs typeface="Calibri"/>
                  <a:sym typeface="Calibri"/>
                </a:rPr>
                <a:t>CTC Decoder</a:t>
              </a:r>
              <a:endParaRPr sz="1100"/>
            </a:p>
          </p:txBody>
        </p:sp>
        <p:sp>
          <p:nvSpPr>
            <p:cNvPr id="123" name="Google Shape;123;p18"/>
            <p:cNvSpPr/>
            <p:nvPr/>
          </p:nvSpPr>
          <p:spPr>
            <a:xfrm>
              <a:off x="1226932" y="1615873"/>
              <a:ext cx="1442700" cy="276900"/>
            </a:xfrm>
            <a:prstGeom prst="rect">
              <a:avLst/>
            </a:prstGeom>
            <a:no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Calibri"/>
                  <a:ea typeface="Calibri"/>
                  <a:cs typeface="Calibri"/>
                  <a:sym typeface="Calibri"/>
                </a:rPr>
                <a:t>Greedy/Beam+LM</a:t>
              </a:r>
              <a:endParaRPr sz="1100"/>
            </a:p>
          </p:txBody>
        </p:sp>
      </p:grpSp>
      <p:sp>
        <p:nvSpPr>
          <p:cNvPr id="124" name="Google Shape;124;p18"/>
          <p:cNvSpPr/>
          <p:nvPr/>
        </p:nvSpPr>
        <p:spPr>
          <a:xfrm>
            <a:off x="2855400" y="805850"/>
            <a:ext cx="3874200" cy="4177800"/>
          </a:xfrm>
          <a:prstGeom prst="rect">
            <a:avLst/>
          </a:prstGeom>
          <a:noFill/>
          <a:ln cap="flat" cmpd="sng" w="28575">
            <a:solidFill>
              <a:srgbClr val="741B47"/>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741B47"/>
                </a:solidFill>
                <a:latin typeface="Calibri"/>
                <a:ea typeface="Calibri"/>
                <a:cs typeface="Calibri"/>
                <a:sym typeface="Calibri"/>
              </a:rPr>
              <a:t>Our Adaptations</a:t>
            </a:r>
            <a:endParaRPr b="1">
              <a:solidFill>
                <a:srgbClr val="741B47"/>
              </a:solidFill>
              <a:latin typeface="Calibri"/>
              <a:ea typeface="Calibri"/>
              <a:cs typeface="Calibri"/>
              <a:sym typeface="Calibri"/>
            </a:endParaRPr>
          </a:p>
        </p:txBody>
      </p:sp>
      <p:sp>
        <p:nvSpPr>
          <p:cNvPr id="125" name="Google Shape;125;p18"/>
          <p:cNvSpPr/>
          <p:nvPr/>
        </p:nvSpPr>
        <p:spPr>
          <a:xfrm>
            <a:off x="201175" y="805850"/>
            <a:ext cx="2591400" cy="4177800"/>
          </a:xfrm>
          <a:prstGeom prst="rect">
            <a:avLst/>
          </a:prstGeom>
          <a:noFill/>
          <a:ln cap="flat" cmpd="sng" w="12700">
            <a:solidFill>
              <a:srgbClr val="0D1B2A"/>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Calibri"/>
                <a:ea typeface="Calibri"/>
                <a:cs typeface="Calibri"/>
                <a:sym typeface="Calibri"/>
              </a:rPr>
              <a:t>DeepSpeech2</a:t>
            </a:r>
            <a:endParaRPr b="1">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30" name="Shape 130"/>
        <p:cNvGrpSpPr/>
        <p:nvPr/>
      </p:nvGrpSpPr>
      <p:grpSpPr>
        <a:xfrm>
          <a:off x="0" y="0"/>
          <a:ext cx="0" cy="0"/>
          <a:chOff x="0" y="0"/>
          <a:chExt cx="0" cy="0"/>
        </a:xfrm>
      </p:grpSpPr>
      <p:sp>
        <p:nvSpPr>
          <p:cNvPr id="131" name="Google Shape;131;p19"/>
          <p:cNvSpPr/>
          <p:nvPr/>
        </p:nvSpPr>
        <p:spPr>
          <a:xfrm>
            <a:off x="0" y="0"/>
            <a:ext cx="9144000" cy="484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9"/>
          <p:cNvSpPr/>
          <p:nvPr/>
        </p:nvSpPr>
        <p:spPr>
          <a:xfrm>
            <a:off x="0" y="0"/>
            <a:ext cx="201300" cy="4845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9"/>
          <p:cNvSpPr/>
          <p:nvPr/>
        </p:nvSpPr>
        <p:spPr>
          <a:xfrm>
            <a:off x="347472" y="0"/>
            <a:ext cx="7772400" cy="48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ANALYSIS — DATASET, TRAINING &amp; PERFORMANCE</a:t>
            </a:r>
            <a:endParaRPr b="0" i="0" sz="1300" u="none" cap="none" strike="noStrike">
              <a:solidFill>
                <a:schemeClr val="dk1"/>
              </a:solidFill>
              <a:latin typeface="Calibri"/>
              <a:ea typeface="Calibri"/>
              <a:cs typeface="Calibri"/>
              <a:sym typeface="Calibri"/>
            </a:endParaRPr>
          </a:p>
        </p:txBody>
      </p:sp>
      <p:sp>
        <p:nvSpPr>
          <p:cNvPr id="134" name="Google Shape;134;p19"/>
          <p:cNvSpPr/>
          <p:nvPr/>
        </p:nvSpPr>
        <p:spPr>
          <a:xfrm>
            <a:off x="8056220" y="82230"/>
            <a:ext cx="9144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B4D8"/>
              </a:buClr>
              <a:buSzPts val="900"/>
              <a:buFont typeface="Calibri"/>
              <a:buNone/>
            </a:pPr>
            <a:r>
              <a:rPr b="0" i="0" lang="en" sz="900" u="none" cap="none" strike="noStrike">
                <a:solidFill>
                  <a:srgbClr val="00B4D8"/>
                </a:solidFill>
                <a:latin typeface="Calibri"/>
                <a:ea typeface="Calibri"/>
                <a:cs typeface="Calibri"/>
                <a:sym typeface="Calibri"/>
              </a:rPr>
              <a:t>03 / 04</a:t>
            </a:r>
            <a:endParaRPr b="0" i="0" sz="900" u="none" cap="none" strike="noStrike">
              <a:solidFill>
                <a:schemeClr val="dk1"/>
              </a:solidFill>
              <a:latin typeface="Calibri"/>
              <a:ea typeface="Calibri"/>
              <a:cs typeface="Calibri"/>
              <a:sym typeface="Calibri"/>
            </a:endParaRPr>
          </a:p>
        </p:txBody>
      </p:sp>
      <p:sp>
        <p:nvSpPr>
          <p:cNvPr id="135" name="Google Shape;135;p19"/>
          <p:cNvSpPr/>
          <p:nvPr/>
        </p:nvSpPr>
        <p:spPr>
          <a:xfrm>
            <a:off x="274325" y="804675"/>
            <a:ext cx="2387700" cy="1285500"/>
          </a:xfrm>
          <a:prstGeom prst="rect">
            <a:avLst/>
          </a:prstGeom>
          <a:solidFill>
            <a:srgbClr val="EBF4FA"/>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9"/>
          <p:cNvSpPr/>
          <p:nvPr/>
        </p:nvSpPr>
        <p:spPr>
          <a:xfrm>
            <a:off x="957424" y="841300"/>
            <a:ext cx="1021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1100"/>
              <a:buFont typeface="Calibri"/>
              <a:buNone/>
            </a:pPr>
            <a:r>
              <a:rPr b="1" lang="en" sz="1100">
                <a:solidFill>
                  <a:srgbClr val="0077A8"/>
                </a:solidFill>
                <a:latin typeface="Calibri"/>
                <a:ea typeface="Calibri"/>
                <a:cs typeface="Calibri"/>
                <a:sym typeface="Calibri"/>
              </a:rPr>
              <a:t>Dataset &amp; Split</a:t>
            </a:r>
            <a:endParaRPr b="0" i="0" sz="1100" u="none" cap="none" strike="noStrike">
              <a:solidFill>
                <a:schemeClr val="dk1"/>
              </a:solidFill>
              <a:latin typeface="Calibri"/>
              <a:ea typeface="Calibri"/>
              <a:cs typeface="Calibri"/>
              <a:sym typeface="Calibri"/>
            </a:endParaRPr>
          </a:p>
        </p:txBody>
      </p:sp>
      <p:sp>
        <p:nvSpPr>
          <p:cNvPr id="137" name="Google Shape;137;p19"/>
          <p:cNvSpPr/>
          <p:nvPr/>
        </p:nvSpPr>
        <p:spPr>
          <a:xfrm>
            <a:off x="384050" y="1143000"/>
            <a:ext cx="2194200" cy="777300"/>
          </a:xfrm>
          <a:prstGeom prst="rect">
            <a:avLst/>
          </a:prstGeom>
          <a:noFill/>
          <a:ln>
            <a:noFill/>
          </a:ln>
        </p:spPr>
        <p:txBody>
          <a:bodyPr anchorCtr="0" anchor="t" bIns="0" lIns="0" spcFirstLastPara="1" rIns="0" wrap="square" tIns="0">
            <a:noAutofit/>
          </a:bodyPr>
          <a:lstStyle/>
          <a:p>
            <a:pPr indent="-123825" lvl="0" marL="114300" marR="0" rtl="0" algn="l">
              <a:spcBef>
                <a:spcPts val="0"/>
              </a:spcBef>
              <a:spcAft>
                <a:spcPts val="0"/>
              </a:spcAft>
              <a:buClr>
                <a:schemeClr val="dk1"/>
              </a:buClr>
              <a:buSzPts val="1050"/>
              <a:buFont typeface="Calibri"/>
              <a:buChar char="•"/>
            </a:pPr>
            <a:r>
              <a:rPr lang="en" sz="1050">
                <a:solidFill>
                  <a:schemeClr val="dk1"/>
                </a:solidFill>
                <a:latin typeface="Calibri"/>
                <a:ea typeface="Calibri"/>
                <a:cs typeface="Calibri"/>
                <a:sym typeface="Calibri"/>
              </a:rPr>
              <a:t>LJ Speech 24h single speaker</a:t>
            </a:r>
            <a:r>
              <a:rPr b="0" i="0" lang="en" sz="1050" u="none" cap="none" strike="noStrike">
                <a:solidFill>
                  <a:schemeClr val="dk1"/>
                </a:solidFill>
                <a:latin typeface="Calibri"/>
                <a:ea typeface="Calibri"/>
                <a:cs typeface="Calibri"/>
                <a:sym typeface="Calibri"/>
              </a:rPr>
              <a:t> subset</a:t>
            </a:r>
            <a:endParaRPr b="0" i="0" sz="1050" u="none" cap="none" strike="noStrike">
              <a:solidFill>
                <a:schemeClr val="dk1"/>
              </a:solidFill>
              <a:latin typeface="Calibri"/>
              <a:ea typeface="Calibri"/>
              <a:cs typeface="Calibri"/>
              <a:sym typeface="Calibri"/>
            </a:endParaRPr>
          </a:p>
          <a:p>
            <a:pPr indent="-123825" lvl="0" marL="114300" marR="0" rtl="0" algn="l">
              <a:spcBef>
                <a:spcPts val="300"/>
              </a:spcBef>
              <a:spcAft>
                <a:spcPts val="0"/>
              </a:spcAft>
              <a:buClr>
                <a:schemeClr val="dk1"/>
              </a:buClr>
              <a:buSzPts val="1050"/>
              <a:buFont typeface="Calibri"/>
              <a:buChar char="•"/>
            </a:pPr>
            <a:r>
              <a:rPr b="0" i="0" lang="en" sz="1050" u="none" cap="none" strike="noStrike">
                <a:solidFill>
                  <a:schemeClr val="dk1"/>
                </a:solidFill>
                <a:latin typeface="Calibri"/>
                <a:ea typeface="Calibri"/>
                <a:cs typeface="Calibri"/>
                <a:sym typeface="Calibri"/>
              </a:rPr>
              <a:t>80 / 10 / 10  train / val / test</a:t>
            </a:r>
            <a:endParaRPr b="0" i="0" sz="1050" u="none" cap="none" strike="noStrike">
              <a:solidFill>
                <a:schemeClr val="dk1"/>
              </a:solidFill>
              <a:latin typeface="Calibri"/>
              <a:ea typeface="Calibri"/>
              <a:cs typeface="Calibri"/>
              <a:sym typeface="Calibri"/>
            </a:endParaRPr>
          </a:p>
          <a:p>
            <a:pPr indent="-123825" lvl="0" marL="114300" marR="0" rtl="0" algn="l">
              <a:spcBef>
                <a:spcPts val="300"/>
              </a:spcBef>
              <a:spcAft>
                <a:spcPts val="0"/>
              </a:spcAft>
              <a:buClr>
                <a:schemeClr val="dk1"/>
              </a:buClr>
              <a:buSzPts val="1050"/>
              <a:buFont typeface="Calibri"/>
              <a:buChar char="•"/>
            </a:pPr>
            <a:r>
              <a:rPr lang="en" sz="1050">
                <a:solidFill>
                  <a:schemeClr val="dk1"/>
                </a:solidFill>
                <a:latin typeface="Calibri"/>
                <a:ea typeface="Calibri"/>
                <a:cs typeface="Calibri"/>
                <a:sym typeface="Calibri"/>
              </a:rPr>
              <a:t>22.5 </a:t>
            </a:r>
            <a:r>
              <a:rPr b="0" i="0" lang="en" sz="1050" u="none" cap="none" strike="noStrike">
                <a:solidFill>
                  <a:schemeClr val="dk1"/>
                </a:solidFill>
                <a:latin typeface="Calibri"/>
                <a:ea typeface="Calibri"/>
                <a:cs typeface="Calibri"/>
                <a:sym typeface="Calibri"/>
              </a:rPr>
              <a:t>kHz mono WAV, normalized</a:t>
            </a:r>
            <a:endParaRPr b="0" i="0" sz="1050" u="none" cap="none" strike="noStrike">
              <a:solidFill>
                <a:schemeClr val="dk1"/>
              </a:solidFill>
              <a:latin typeface="Calibri"/>
              <a:ea typeface="Calibri"/>
              <a:cs typeface="Calibri"/>
              <a:sym typeface="Calibri"/>
            </a:endParaRPr>
          </a:p>
          <a:p>
            <a:pPr indent="-123825" lvl="0" marL="114300" marR="0" rtl="0" algn="l">
              <a:spcBef>
                <a:spcPts val="300"/>
              </a:spcBef>
              <a:spcAft>
                <a:spcPts val="0"/>
              </a:spcAft>
              <a:buClr>
                <a:schemeClr val="dk1"/>
              </a:buClr>
              <a:buSzPts val="1050"/>
              <a:buFont typeface="Calibri"/>
              <a:buChar char="•"/>
            </a:pPr>
            <a:r>
              <a:rPr lang="en" sz="1050">
                <a:solidFill>
                  <a:schemeClr val="dk1"/>
                </a:solidFill>
                <a:latin typeface="Calibri"/>
                <a:ea typeface="Calibri"/>
                <a:cs typeface="Calibri"/>
                <a:sym typeface="Calibri"/>
              </a:rPr>
              <a:t>80-bin </a:t>
            </a:r>
            <a:r>
              <a:rPr b="0" i="0" lang="en" sz="1050" u="none" cap="none" strike="noStrike">
                <a:solidFill>
                  <a:schemeClr val="dk1"/>
                </a:solidFill>
                <a:latin typeface="Calibri"/>
                <a:ea typeface="Calibri"/>
                <a:cs typeface="Calibri"/>
                <a:sym typeface="Calibri"/>
              </a:rPr>
              <a:t>Log-mel spectrogram features</a:t>
            </a:r>
            <a:endParaRPr b="0" i="0" sz="1050" u="none" cap="none" strike="noStrike">
              <a:solidFill>
                <a:schemeClr val="dk1"/>
              </a:solidFill>
              <a:latin typeface="Calibri"/>
              <a:ea typeface="Calibri"/>
              <a:cs typeface="Calibri"/>
              <a:sym typeface="Calibri"/>
            </a:endParaRPr>
          </a:p>
        </p:txBody>
      </p:sp>
      <p:sp>
        <p:nvSpPr>
          <p:cNvPr id="138" name="Google Shape;138;p19"/>
          <p:cNvSpPr/>
          <p:nvPr/>
        </p:nvSpPr>
        <p:spPr>
          <a:xfrm>
            <a:off x="2839275" y="811525"/>
            <a:ext cx="2964900" cy="1285500"/>
          </a:xfrm>
          <a:prstGeom prst="rect">
            <a:avLst/>
          </a:prstGeom>
          <a:solidFill>
            <a:srgbClr val="EBF4FA"/>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9"/>
          <p:cNvSpPr/>
          <p:nvPr/>
        </p:nvSpPr>
        <p:spPr>
          <a:xfrm>
            <a:off x="3810974" y="841300"/>
            <a:ext cx="1021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7A8"/>
              </a:buClr>
              <a:buSzPts val="1100"/>
              <a:buFont typeface="Calibri"/>
              <a:buNone/>
            </a:pPr>
            <a:r>
              <a:rPr b="1" i="0" lang="en" sz="1100" u="none" cap="none" strike="noStrike">
                <a:solidFill>
                  <a:srgbClr val="0077A8"/>
                </a:solidFill>
                <a:latin typeface="Calibri"/>
                <a:ea typeface="Calibri"/>
                <a:cs typeface="Calibri"/>
                <a:sym typeface="Calibri"/>
              </a:rPr>
              <a:t>Training Process</a:t>
            </a:r>
            <a:endParaRPr b="0" i="0" sz="1100" u="none" cap="none" strike="noStrike">
              <a:solidFill>
                <a:schemeClr val="dk1"/>
              </a:solidFill>
              <a:latin typeface="Calibri"/>
              <a:ea typeface="Calibri"/>
              <a:cs typeface="Calibri"/>
              <a:sym typeface="Calibri"/>
            </a:endParaRPr>
          </a:p>
        </p:txBody>
      </p:sp>
      <p:sp>
        <p:nvSpPr>
          <p:cNvPr id="140" name="Google Shape;140;p19"/>
          <p:cNvSpPr/>
          <p:nvPr/>
        </p:nvSpPr>
        <p:spPr>
          <a:xfrm>
            <a:off x="2868175" y="1453920"/>
            <a:ext cx="1374600" cy="543900"/>
          </a:xfrm>
          <a:prstGeom prst="rect">
            <a:avLst/>
          </a:prstGeom>
          <a:noFill/>
          <a:ln>
            <a:noFill/>
          </a:ln>
        </p:spPr>
        <p:txBody>
          <a:bodyPr anchorCtr="0" anchor="t" bIns="0" lIns="0" spcFirstLastPara="1" rIns="0" wrap="square" tIns="0">
            <a:noAutofit/>
          </a:bodyPr>
          <a:lstStyle/>
          <a:p>
            <a:pPr indent="-123825" lvl="0" marL="114300" marR="0" rtl="0" algn="l">
              <a:spcBef>
                <a:spcPts val="0"/>
              </a:spcBef>
              <a:spcAft>
                <a:spcPts val="0"/>
              </a:spcAft>
              <a:buClr>
                <a:srgbClr val="1E3A4C"/>
              </a:buClr>
              <a:buSzPts val="1050"/>
              <a:buFont typeface="Calibri"/>
              <a:buChar char="•"/>
            </a:pPr>
            <a:r>
              <a:rPr b="1" lang="en" sz="1050">
                <a:solidFill>
                  <a:srgbClr val="1E3A4C"/>
                </a:solidFill>
                <a:latin typeface="Calibri"/>
                <a:ea typeface="Calibri"/>
                <a:cs typeface="Calibri"/>
                <a:sym typeface="Calibri"/>
              </a:rPr>
              <a:t>Optimizer:</a:t>
            </a:r>
            <a:r>
              <a:rPr lang="en" sz="1050">
                <a:solidFill>
                  <a:srgbClr val="1E3A4C"/>
                </a:solidFill>
                <a:latin typeface="Calibri"/>
                <a:ea typeface="Calibri"/>
                <a:cs typeface="Calibri"/>
                <a:sym typeface="Calibri"/>
              </a:rPr>
              <a:t> Adam</a:t>
            </a:r>
            <a:endParaRPr sz="1050">
              <a:solidFill>
                <a:srgbClr val="1E3A4C"/>
              </a:solidFill>
              <a:latin typeface="Calibri"/>
              <a:ea typeface="Calibri"/>
              <a:cs typeface="Calibri"/>
              <a:sym typeface="Calibri"/>
            </a:endParaRPr>
          </a:p>
          <a:p>
            <a:pPr indent="-123825" lvl="0" marL="114300" marR="0" rtl="0" algn="l">
              <a:spcBef>
                <a:spcPts val="0"/>
              </a:spcBef>
              <a:spcAft>
                <a:spcPts val="0"/>
              </a:spcAft>
              <a:buClr>
                <a:srgbClr val="1E3A4C"/>
              </a:buClr>
              <a:buSzPts val="1050"/>
              <a:buFont typeface="Calibri"/>
              <a:buChar char="•"/>
            </a:pPr>
            <a:r>
              <a:rPr b="1" lang="en" sz="1050">
                <a:solidFill>
                  <a:srgbClr val="1E3A4C"/>
                </a:solidFill>
                <a:latin typeface="Calibri"/>
                <a:ea typeface="Calibri"/>
                <a:cs typeface="Calibri"/>
                <a:sym typeface="Calibri"/>
              </a:rPr>
              <a:t>Scheduler:</a:t>
            </a:r>
            <a:r>
              <a:rPr b="0" i="0" lang="en" sz="1050" u="none" cap="none" strike="noStrike">
                <a:solidFill>
                  <a:srgbClr val="1E3A4C"/>
                </a:solidFill>
                <a:latin typeface="Calibri"/>
                <a:ea typeface="Calibri"/>
                <a:cs typeface="Calibri"/>
                <a:sym typeface="Calibri"/>
              </a:rPr>
              <a:t> </a:t>
            </a:r>
            <a:r>
              <a:rPr lang="en" sz="1050">
                <a:solidFill>
                  <a:srgbClr val="1E3A4C"/>
                </a:solidFill>
                <a:latin typeface="Calibri"/>
                <a:ea typeface="Calibri"/>
                <a:cs typeface="Calibri"/>
                <a:sym typeface="Calibri"/>
              </a:rPr>
              <a:t>OneCycleLR</a:t>
            </a:r>
            <a:endParaRPr sz="1050">
              <a:solidFill>
                <a:srgbClr val="1E3A4C"/>
              </a:solidFill>
              <a:latin typeface="Calibri"/>
              <a:ea typeface="Calibri"/>
              <a:cs typeface="Calibri"/>
              <a:sym typeface="Calibri"/>
            </a:endParaRPr>
          </a:p>
          <a:p>
            <a:pPr indent="-123825" lvl="0" marL="114300" marR="0" rtl="0" algn="l">
              <a:spcBef>
                <a:spcPts val="0"/>
              </a:spcBef>
              <a:spcAft>
                <a:spcPts val="0"/>
              </a:spcAft>
              <a:buClr>
                <a:srgbClr val="1E3A4C"/>
              </a:buClr>
              <a:buSzPts val="1050"/>
              <a:buFont typeface="Calibri"/>
              <a:buChar char="•"/>
            </a:pPr>
            <a:r>
              <a:rPr b="1" lang="en" sz="1050">
                <a:solidFill>
                  <a:srgbClr val="1E3A4C"/>
                </a:solidFill>
                <a:latin typeface="Calibri"/>
                <a:ea typeface="Calibri"/>
                <a:cs typeface="Calibri"/>
                <a:sym typeface="Calibri"/>
              </a:rPr>
              <a:t>Loss:</a:t>
            </a:r>
            <a:r>
              <a:rPr lang="en" sz="1050">
                <a:solidFill>
                  <a:srgbClr val="1E3A4C"/>
                </a:solidFill>
                <a:latin typeface="Calibri"/>
                <a:ea typeface="Calibri"/>
                <a:cs typeface="Calibri"/>
                <a:sym typeface="Calibri"/>
              </a:rPr>
              <a:t> CTCLoss</a:t>
            </a:r>
            <a:endParaRPr b="0" i="0" sz="1050" u="none" cap="none" strike="noStrike">
              <a:solidFill>
                <a:schemeClr val="dk1"/>
              </a:solidFill>
              <a:latin typeface="Calibri"/>
              <a:ea typeface="Calibri"/>
              <a:cs typeface="Calibri"/>
              <a:sym typeface="Calibri"/>
            </a:endParaRPr>
          </a:p>
        </p:txBody>
      </p:sp>
      <p:sp>
        <p:nvSpPr>
          <p:cNvPr id="141" name="Google Shape;141;p19"/>
          <p:cNvSpPr/>
          <p:nvPr/>
        </p:nvSpPr>
        <p:spPr>
          <a:xfrm>
            <a:off x="4242777" y="2251118"/>
            <a:ext cx="776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4C"/>
              </a:buClr>
              <a:buSzPts val="1100"/>
              <a:buFont typeface="Calibri"/>
              <a:buNone/>
            </a:pPr>
            <a:r>
              <a:rPr b="1" lang="en" sz="1100">
                <a:solidFill>
                  <a:srgbClr val="1E3A4C"/>
                </a:solidFill>
                <a:latin typeface="Calibri"/>
                <a:ea typeface="Calibri"/>
                <a:cs typeface="Calibri"/>
                <a:sym typeface="Calibri"/>
              </a:rPr>
              <a:t>Performance</a:t>
            </a:r>
            <a:endParaRPr b="0" i="0" sz="1100" u="none" cap="none" strike="noStrike">
              <a:solidFill>
                <a:schemeClr val="dk1"/>
              </a:solidFill>
              <a:latin typeface="Calibri"/>
              <a:ea typeface="Calibri"/>
              <a:cs typeface="Calibri"/>
              <a:sym typeface="Calibri"/>
            </a:endParaRPr>
          </a:p>
        </p:txBody>
      </p:sp>
      <p:graphicFrame>
        <p:nvGraphicFramePr>
          <p:cNvPr id="142" name="Google Shape;142;p19"/>
          <p:cNvGraphicFramePr/>
          <p:nvPr/>
        </p:nvGraphicFramePr>
        <p:xfrm>
          <a:off x="4242776" y="2571751"/>
          <a:ext cx="3000000" cy="3000000"/>
        </p:xfrm>
        <a:graphic>
          <a:graphicData uri="http://schemas.openxmlformats.org/drawingml/2006/table">
            <a:tbl>
              <a:tblPr>
                <a:noFill/>
                <a:tableStyleId>{6EC3C7F0-2309-4531-97DA-3BB09D230519}</a:tableStyleId>
              </a:tblPr>
              <a:tblGrid>
                <a:gridCol w="2145475"/>
                <a:gridCol w="601175"/>
                <a:gridCol w="562975"/>
                <a:gridCol w="556325"/>
                <a:gridCol w="634650"/>
              </a:tblGrid>
              <a:tr h="339875">
                <a:tc>
                  <a:txBody>
                    <a:bodyPr/>
                    <a:lstStyle/>
                    <a:p>
                      <a:pPr indent="0" lvl="0" marL="0" marR="0" rtl="0" algn="l">
                        <a:spcBef>
                          <a:spcPts val="0"/>
                        </a:spcBef>
                        <a:spcAft>
                          <a:spcPts val="0"/>
                        </a:spcAft>
                        <a:buClr>
                          <a:srgbClr val="FFFFFF"/>
                        </a:buClr>
                        <a:buSzPts val="1000"/>
                        <a:buFont typeface="Calibri"/>
                        <a:buNone/>
                      </a:pPr>
                      <a:r>
                        <a:rPr b="1" lang="en" sz="800">
                          <a:solidFill>
                            <a:srgbClr val="FFFFFF"/>
                          </a:solidFill>
                        </a:rPr>
                        <a:t>Architecture</a:t>
                      </a:r>
                      <a:endParaRPr sz="8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FFFFFF"/>
                        </a:buClr>
                        <a:buSzPts val="1000"/>
                        <a:buFont typeface="Calibri"/>
                        <a:buNone/>
                      </a:pPr>
                      <a:r>
                        <a:rPr b="1" lang="en" sz="800">
                          <a:solidFill>
                            <a:schemeClr val="dk1"/>
                          </a:solidFill>
                        </a:rPr>
                        <a:t>Loss</a:t>
                      </a:r>
                      <a:endParaRPr sz="800" u="none" cap="none" strike="noStrike">
                        <a:solidFill>
                          <a:schemeClr val="dk1"/>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D1DC"/>
                    </a:solidFill>
                  </a:tcPr>
                </a:tc>
                <a:tc>
                  <a:txBody>
                    <a:bodyPr/>
                    <a:lstStyle/>
                    <a:p>
                      <a:pPr indent="0" lvl="0" marL="0" marR="0" rtl="0" algn="ctr">
                        <a:spcBef>
                          <a:spcPts val="0"/>
                        </a:spcBef>
                        <a:spcAft>
                          <a:spcPts val="0"/>
                        </a:spcAft>
                        <a:buClr>
                          <a:srgbClr val="FFFFFF"/>
                        </a:buClr>
                        <a:buSzPts val="1000"/>
                        <a:buFont typeface="Calibri"/>
                        <a:buNone/>
                      </a:pPr>
                      <a:r>
                        <a:rPr b="1" lang="en" sz="800">
                          <a:solidFill>
                            <a:schemeClr val="dk1"/>
                          </a:solidFill>
                        </a:rPr>
                        <a:t>CER</a:t>
                      </a:r>
                      <a:endParaRPr b="1" sz="800">
                        <a:solidFill>
                          <a:schemeClr val="dk1"/>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c>
                  <a:txBody>
                    <a:bodyPr/>
                    <a:lstStyle/>
                    <a:p>
                      <a:pPr indent="0" lvl="0" marL="0" marR="0" rtl="0" algn="ctr">
                        <a:spcBef>
                          <a:spcPts val="0"/>
                        </a:spcBef>
                        <a:spcAft>
                          <a:spcPts val="0"/>
                        </a:spcAft>
                        <a:buNone/>
                      </a:pPr>
                      <a:r>
                        <a:rPr b="1" lang="en" sz="800">
                          <a:solidFill>
                            <a:schemeClr val="dk1"/>
                          </a:solidFill>
                        </a:rPr>
                        <a:t>WER (no LM)</a:t>
                      </a:r>
                      <a:endParaRPr b="1" sz="800">
                        <a:solidFill>
                          <a:schemeClr val="dk1"/>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c>
                  <a:txBody>
                    <a:bodyPr/>
                    <a:lstStyle/>
                    <a:p>
                      <a:pPr indent="0" lvl="0" marL="0" marR="0" rtl="0" algn="ctr">
                        <a:spcBef>
                          <a:spcPts val="0"/>
                        </a:spcBef>
                        <a:spcAft>
                          <a:spcPts val="0"/>
                        </a:spcAft>
                        <a:buNone/>
                      </a:pPr>
                      <a:r>
                        <a:rPr b="1" lang="en" sz="800">
                          <a:solidFill>
                            <a:schemeClr val="dk1"/>
                          </a:solidFill>
                        </a:rPr>
                        <a:t>WER (with LM)</a:t>
                      </a:r>
                      <a:endParaRPr b="1" sz="800">
                        <a:solidFill>
                          <a:schemeClr val="dk1"/>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r>
              <a:tr h="339875">
                <a:tc>
                  <a:txBody>
                    <a:bodyPr/>
                    <a:lstStyle/>
                    <a:p>
                      <a:pPr indent="0" lvl="0" marL="0" marR="0" rtl="0" algn="l">
                        <a:spcBef>
                          <a:spcPts val="0"/>
                        </a:spcBef>
                        <a:spcAft>
                          <a:spcPts val="0"/>
                        </a:spcAft>
                        <a:buClr>
                          <a:srgbClr val="1E3A4C"/>
                        </a:buClr>
                        <a:buSzPts val="1000"/>
                        <a:buFont typeface="Calibri"/>
                        <a:buNone/>
                      </a:pPr>
                      <a:r>
                        <a:rPr lang="en" sz="800"/>
                        <a:t>GRU (3 hidden layers, unidirectional)</a:t>
                      </a:r>
                      <a:endParaRPr sz="8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3A4C"/>
                        </a:buClr>
                        <a:buSzPts val="1000"/>
                        <a:buFont typeface="Calibri"/>
                        <a:buNone/>
                      </a:pPr>
                      <a:r>
                        <a:rPr lang="en" sz="900"/>
                        <a:t>0.32</a:t>
                      </a:r>
                      <a:endParaRPr sz="900" u="none" cap="none" strike="noStrike"/>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D1DC"/>
                    </a:solidFill>
                  </a:tcPr>
                </a:tc>
                <a:tc>
                  <a:txBody>
                    <a:bodyPr/>
                    <a:lstStyle/>
                    <a:p>
                      <a:pPr indent="0" lvl="0" marL="0" marR="0" rtl="0" algn="ctr">
                        <a:spcBef>
                          <a:spcPts val="0"/>
                        </a:spcBef>
                        <a:spcAft>
                          <a:spcPts val="0"/>
                        </a:spcAft>
                        <a:buClr>
                          <a:srgbClr val="1E3A4C"/>
                        </a:buClr>
                        <a:buSzPts val="1000"/>
                        <a:buFont typeface="Calibri"/>
                        <a:buNone/>
                      </a:pPr>
                      <a:r>
                        <a:rPr lang="en" sz="900">
                          <a:solidFill>
                            <a:srgbClr val="1E3A4C"/>
                          </a:solidFill>
                        </a:rPr>
                        <a:t>1.11%</a:t>
                      </a:r>
                      <a:endParaRPr sz="900" u="none" cap="none" strike="noStrike"/>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c>
                  <a:txBody>
                    <a:bodyPr/>
                    <a:lstStyle/>
                    <a:p>
                      <a:pPr indent="0" lvl="0" marL="0" marR="0" rtl="0" algn="ctr">
                        <a:spcBef>
                          <a:spcPts val="0"/>
                        </a:spcBef>
                        <a:spcAft>
                          <a:spcPts val="0"/>
                        </a:spcAft>
                        <a:buNone/>
                      </a:pPr>
                      <a:r>
                        <a:rPr lang="en" sz="900">
                          <a:solidFill>
                            <a:srgbClr val="1E3A4C"/>
                          </a:solidFill>
                        </a:rPr>
                        <a:t>35.2%</a:t>
                      </a:r>
                      <a:endParaRPr sz="900" u="none" cap="none" strike="noStrike">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c>
                  <a:txBody>
                    <a:bodyPr/>
                    <a:lstStyle/>
                    <a:p>
                      <a:pPr indent="0" lvl="0" marL="0" marR="0" rtl="0" algn="ctr">
                        <a:spcBef>
                          <a:spcPts val="0"/>
                        </a:spcBef>
                        <a:spcAft>
                          <a:spcPts val="0"/>
                        </a:spcAft>
                        <a:buNone/>
                      </a:pPr>
                      <a:r>
                        <a:rPr lang="en" sz="900">
                          <a:solidFill>
                            <a:srgbClr val="1E3A4C"/>
                          </a:solidFill>
                        </a:rPr>
                        <a:t>29.8%</a:t>
                      </a:r>
                      <a:endParaRPr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r>
              <a:tr h="339875">
                <a:tc>
                  <a:txBody>
                    <a:bodyPr/>
                    <a:lstStyle/>
                    <a:p>
                      <a:pPr indent="0" lvl="0" marL="0" rtl="0" algn="l">
                        <a:spcBef>
                          <a:spcPts val="0"/>
                        </a:spcBef>
                        <a:spcAft>
                          <a:spcPts val="0"/>
                        </a:spcAft>
                        <a:buNone/>
                      </a:pPr>
                      <a:r>
                        <a:rPr lang="en" sz="800">
                          <a:solidFill>
                            <a:schemeClr val="dk1"/>
                          </a:solidFill>
                        </a:rPr>
                        <a:t>GRU (5 hidden layers, unidirectional)</a:t>
                      </a:r>
                      <a:endParaRPr sz="8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 sz="900">
                          <a:solidFill>
                            <a:srgbClr val="1E3A4C"/>
                          </a:solidFill>
                        </a:rPr>
                        <a:t>0.27</a:t>
                      </a:r>
                      <a:endParaRPr sz="900" u="none" cap="none" strike="noStrike">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D1DC"/>
                    </a:solidFill>
                  </a:tcPr>
                </a:tc>
                <a:tc>
                  <a:txBody>
                    <a:bodyPr/>
                    <a:lstStyle/>
                    <a:p>
                      <a:pPr indent="0" lvl="0" marL="0" marR="0" rtl="0" algn="ctr">
                        <a:spcBef>
                          <a:spcPts val="0"/>
                        </a:spcBef>
                        <a:spcAft>
                          <a:spcPts val="0"/>
                        </a:spcAft>
                        <a:buNone/>
                      </a:pPr>
                      <a:r>
                        <a:rPr lang="en" sz="900">
                          <a:solidFill>
                            <a:srgbClr val="1E3A4C"/>
                          </a:solidFill>
                        </a:rPr>
                        <a:t>9.9%</a:t>
                      </a:r>
                      <a:endParaRPr sz="900" u="none" cap="none" strike="noStrike">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c>
                  <a:txBody>
                    <a:bodyPr/>
                    <a:lstStyle/>
                    <a:p>
                      <a:pPr indent="0" lvl="0" marL="0" marR="0" rtl="0" algn="ctr">
                        <a:spcBef>
                          <a:spcPts val="0"/>
                        </a:spcBef>
                        <a:spcAft>
                          <a:spcPts val="0"/>
                        </a:spcAft>
                        <a:buNone/>
                      </a:pPr>
                      <a:r>
                        <a:rPr lang="en" sz="900">
                          <a:solidFill>
                            <a:srgbClr val="1E3A4C"/>
                          </a:solidFill>
                        </a:rPr>
                        <a:t>29.9%</a:t>
                      </a:r>
                      <a:endParaRPr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c>
                  <a:txBody>
                    <a:bodyPr/>
                    <a:lstStyle/>
                    <a:p>
                      <a:pPr indent="0" lvl="0" marL="0" marR="0" rtl="0" algn="ctr">
                        <a:spcBef>
                          <a:spcPts val="0"/>
                        </a:spcBef>
                        <a:spcAft>
                          <a:spcPts val="0"/>
                        </a:spcAft>
                        <a:buNone/>
                      </a:pPr>
                      <a:r>
                        <a:rPr lang="en" sz="900">
                          <a:solidFill>
                            <a:srgbClr val="1E3A4C"/>
                          </a:solidFill>
                        </a:rPr>
                        <a:t>28.2%</a:t>
                      </a:r>
                      <a:endParaRPr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r>
              <a:tr h="339875">
                <a:tc>
                  <a:txBody>
                    <a:bodyPr/>
                    <a:lstStyle/>
                    <a:p>
                      <a:pPr indent="0" lvl="0" marL="0" marR="0" rtl="0" algn="l">
                        <a:spcBef>
                          <a:spcPts val="0"/>
                        </a:spcBef>
                        <a:spcAft>
                          <a:spcPts val="0"/>
                        </a:spcAft>
                        <a:buNone/>
                      </a:pPr>
                      <a:r>
                        <a:rPr lang="en" sz="800"/>
                        <a:t>GRU (3 hidden layers, lookahead convolution)</a:t>
                      </a:r>
                      <a:endParaRPr sz="8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 sz="900">
                          <a:solidFill>
                            <a:srgbClr val="1E3A4C"/>
                          </a:solidFill>
                        </a:rPr>
                        <a:t>0.31</a:t>
                      </a:r>
                      <a:endParaRPr sz="900" u="none" cap="none" strike="noStrike">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D1DC"/>
                    </a:solidFill>
                  </a:tcPr>
                </a:tc>
                <a:tc>
                  <a:txBody>
                    <a:bodyPr/>
                    <a:lstStyle/>
                    <a:p>
                      <a:pPr indent="0" lvl="0" marL="0" marR="0" rtl="0" algn="ctr">
                        <a:spcBef>
                          <a:spcPts val="0"/>
                        </a:spcBef>
                        <a:spcAft>
                          <a:spcPts val="0"/>
                        </a:spcAft>
                        <a:buNone/>
                      </a:pPr>
                      <a:r>
                        <a:rPr lang="en" sz="900">
                          <a:solidFill>
                            <a:srgbClr val="1E3A4C"/>
                          </a:solidFill>
                        </a:rPr>
                        <a:t>10.7%</a:t>
                      </a:r>
                      <a:endParaRPr sz="900" u="none" cap="none" strike="noStrike">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c>
                  <a:txBody>
                    <a:bodyPr/>
                    <a:lstStyle/>
                    <a:p>
                      <a:pPr indent="0" lvl="0" marL="0" marR="0" rtl="0" algn="ctr">
                        <a:spcBef>
                          <a:spcPts val="0"/>
                        </a:spcBef>
                        <a:spcAft>
                          <a:spcPts val="0"/>
                        </a:spcAft>
                        <a:buNone/>
                      </a:pPr>
                      <a:r>
                        <a:rPr lang="en" sz="900">
                          <a:solidFill>
                            <a:srgbClr val="1E3A4C"/>
                          </a:solidFill>
                        </a:rPr>
                        <a:t>33.2%</a:t>
                      </a:r>
                      <a:endParaRPr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c>
                  <a:txBody>
                    <a:bodyPr/>
                    <a:lstStyle/>
                    <a:p>
                      <a:pPr indent="0" lvl="0" marL="0" marR="0" rtl="0" algn="ctr">
                        <a:spcBef>
                          <a:spcPts val="0"/>
                        </a:spcBef>
                        <a:spcAft>
                          <a:spcPts val="0"/>
                        </a:spcAft>
                        <a:buNone/>
                      </a:pPr>
                      <a:r>
                        <a:rPr lang="en" sz="900">
                          <a:solidFill>
                            <a:srgbClr val="1E3A4C"/>
                          </a:solidFill>
                        </a:rPr>
                        <a:t>29.5%</a:t>
                      </a:r>
                      <a:endParaRPr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r>
              <a:tr h="339875">
                <a:tc>
                  <a:txBody>
                    <a:bodyPr/>
                    <a:lstStyle/>
                    <a:p>
                      <a:pPr indent="0" lvl="0" marL="0" rtl="0" algn="l">
                        <a:spcBef>
                          <a:spcPts val="0"/>
                        </a:spcBef>
                        <a:spcAft>
                          <a:spcPts val="0"/>
                        </a:spcAft>
                        <a:buClr>
                          <a:schemeClr val="dk1"/>
                        </a:buClr>
                        <a:buSzPts val="1100"/>
                        <a:buFont typeface="Arial"/>
                        <a:buNone/>
                      </a:pPr>
                      <a:r>
                        <a:rPr lang="en" sz="800">
                          <a:solidFill>
                            <a:schemeClr val="dk1"/>
                          </a:solidFill>
                        </a:rPr>
                        <a:t>GRU (3 hidden layers, bidirectional)</a:t>
                      </a:r>
                      <a:endParaRPr sz="8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 sz="900">
                          <a:solidFill>
                            <a:srgbClr val="1E3A4C"/>
                          </a:solidFill>
                        </a:rPr>
                        <a:t>0.31</a:t>
                      </a:r>
                      <a:endParaRPr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D1DC"/>
                    </a:solidFill>
                  </a:tcPr>
                </a:tc>
                <a:tc>
                  <a:txBody>
                    <a:bodyPr/>
                    <a:lstStyle/>
                    <a:p>
                      <a:pPr indent="0" lvl="0" marL="0" marR="0" rtl="0" algn="ctr">
                        <a:spcBef>
                          <a:spcPts val="0"/>
                        </a:spcBef>
                        <a:spcAft>
                          <a:spcPts val="0"/>
                        </a:spcAft>
                        <a:buNone/>
                      </a:pPr>
                      <a:r>
                        <a:rPr lang="en" sz="900">
                          <a:solidFill>
                            <a:srgbClr val="1E3A4C"/>
                          </a:solidFill>
                        </a:rPr>
                        <a:t>11.0%</a:t>
                      </a:r>
                      <a:endParaRPr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c>
                  <a:txBody>
                    <a:bodyPr/>
                    <a:lstStyle/>
                    <a:p>
                      <a:pPr indent="0" lvl="0" marL="0" marR="0" rtl="0" algn="ctr">
                        <a:spcBef>
                          <a:spcPts val="0"/>
                        </a:spcBef>
                        <a:spcAft>
                          <a:spcPts val="0"/>
                        </a:spcAft>
                        <a:buNone/>
                      </a:pPr>
                      <a:r>
                        <a:rPr lang="en" sz="900">
                          <a:solidFill>
                            <a:srgbClr val="1E3A4C"/>
                          </a:solidFill>
                        </a:rPr>
                        <a:t>33.7%</a:t>
                      </a:r>
                      <a:endParaRPr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c>
                  <a:txBody>
                    <a:bodyPr/>
                    <a:lstStyle/>
                    <a:p>
                      <a:pPr indent="0" lvl="0" marL="0" marR="0" rtl="0" algn="ctr">
                        <a:spcBef>
                          <a:spcPts val="0"/>
                        </a:spcBef>
                        <a:spcAft>
                          <a:spcPts val="0"/>
                        </a:spcAft>
                        <a:buNone/>
                      </a:pPr>
                      <a:r>
                        <a:rPr lang="en" sz="900">
                          <a:solidFill>
                            <a:srgbClr val="1E3A4C"/>
                          </a:solidFill>
                        </a:rPr>
                        <a:t>29.2%</a:t>
                      </a:r>
                      <a:endParaRPr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r>
              <a:tr h="231725">
                <a:tc>
                  <a:txBody>
                    <a:bodyPr/>
                    <a:lstStyle/>
                    <a:p>
                      <a:pPr indent="0" lvl="0" marL="0" marR="0" rtl="0" algn="l">
                        <a:spcBef>
                          <a:spcPts val="0"/>
                        </a:spcBef>
                        <a:spcAft>
                          <a:spcPts val="0"/>
                        </a:spcAft>
                        <a:buNone/>
                      </a:pPr>
                      <a:r>
                        <a:rPr b="1" lang="en" sz="800">
                          <a:solidFill>
                            <a:schemeClr val="dk1"/>
                          </a:solidFill>
                        </a:rPr>
                        <a:t>LSTM (3 hidden layers)</a:t>
                      </a:r>
                      <a:endParaRPr b="1" sz="9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lang="en" sz="900">
                          <a:solidFill>
                            <a:srgbClr val="1E3A4C"/>
                          </a:solidFill>
                        </a:rPr>
                        <a:t>0.26</a:t>
                      </a:r>
                      <a:endParaRPr b="1" sz="900" u="none" cap="none" strike="noStrike">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D1DC"/>
                    </a:solidFill>
                  </a:tcPr>
                </a:tc>
                <a:tc>
                  <a:txBody>
                    <a:bodyPr/>
                    <a:lstStyle/>
                    <a:p>
                      <a:pPr indent="0" lvl="0" marL="0" marR="0" rtl="0" algn="ctr">
                        <a:spcBef>
                          <a:spcPts val="0"/>
                        </a:spcBef>
                        <a:spcAft>
                          <a:spcPts val="0"/>
                        </a:spcAft>
                        <a:buNone/>
                      </a:pPr>
                      <a:r>
                        <a:rPr b="1" lang="en" sz="900">
                          <a:solidFill>
                            <a:srgbClr val="1E3A4C"/>
                          </a:solidFill>
                        </a:rPr>
                        <a:t>9.2%</a:t>
                      </a:r>
                      <a:endParaRPr b="1" sz="900" u="none" cap="none" strike="noStrike">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c>
                  <a:txBody>
                    <a:bodyPr/>
                    <a:lstStyle/>
                    <a:p>
                      <a:pPr indent="0" lvl="0" marL="0" marR="0" rtl="0" algn="ctr">
                        <a:spcBef>
                          <a:spcPts val="0"/>
                        </a:spcBef>
                        <a:spcAft>
                          <a:spcPts val="0"/>
                        </a:spcAft>
                        <a:buNone/>
                      </a:pPr>
                      <a:r>
                        <a:rPr b="1" lang="en" sz="900">
                          <a:solidFill>
                            <a:srgbClr val="1E3A4C"/>
                          </a:solidFill>
                        </a:rPr>
                        <a:t>27.7%</a:t>
                      </a:r>
                      <a:endParaRPr b="1"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c>
                  <a:txBody>
                    <a:bodyPr/>
                    <a:lstStyle/>
                    <a:p>
                      <a:pPr indent="0" lvl="0" marL="0" marR="0" rtl="0" algn="ctr">
                        <a:spcBef>
                          <a:spcPts val="0"/>
                        </a:spcBef>
                        <a:spcAft>
                          <a:spcPts val="0"/>
                        </a:spcAft>
                        <a:buNone/>
                      </a:pPr>
                      <a:r>
                        <a:rPr b="1" lang="en" sz="900">
                          <a:solidFill>
                            <a:srgbClr val="1E3A4C"/>
                          </a:solidFill>
                        </a:rPr>
                        <a:t>27.8%</a:t>
                      </a:r>
                      <a:endParaRPr b="1"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r>
              <a:tr h="231725">
                <a:tc>
                  <a:txBody>
                    <a:bodyPr/>
                    <a:lstStyle/>
                    <a:p>
                      <a:pPr indent="0" lvl="0" marL="0" marR="0" rtl="0" algn="l">
                        <a:spcBef>
                          <a:spcPts val="0"/>
                        </a:spcBef>
                        <a:spcAft>
                          <a:spcPts val="0"/>
                        </a:spcAft>
                        <a:buNone/>
                      </a:pPr>
                      <a:r>
                        <a:rPr lang="en" sz="800">
                          <a:solidFill>
                            <a:schemeClr val="dk1"/>
                          </a:solidFill>
                        </a:rPr>
                        <a:t>Conformer (5M)</a:t>
                      </a:r>
                      <a:endParaRPr sz="800">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 sz="900">
                          <a:solidFill>
                            <a:srgbClr val="1E3A4C"/>
                          </a:solidFill>
                        </a:rPr>
                        <a:t>0.34</a:t>
                      </a:r>
                      <a:endParaRPr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D1DC"/>
                    </a:solidFill>
                  </a:tcPr>
                </a:tc>
                <a:tc>
                  <a:txBody>
                    <a:bodyPr/>
                    <a:lstStyle/>
                    <a:p>
                      <a:pPr indent="0" lvl="0" marL="0" marR="0" rtl="0" algn="ctr">
                        <a:spcBef>
                          <a:spcPts val="0"/>
                        </a:spcBef>
                        <a:spcAft>
                          <a:spcPts val="0"/>
                        </a:spcAft>
                        <a:buNone/>
                      </a:pPr>
                      <a:r>
                        <a:rPr lang="en" sz="900">
                          <a:solidFill>
                            <a:srgbClr val="1E3A4C"/>
                          </a:solidFill>
                        </a:rPr>
                        <a:t>11.2%</a:t>
                      </a:r>
                      <a:endParaRPr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c>
                  <a:txBody>
                    <a:bodyPr/>
                    <a:lstStyle/>
                    <a:p>
                      <a:pPr indent="0" lvl="0" marL="0" marR="0" rtl="0" algn="ctr">
                        <a:spcBef>
                          <a:spcPts val="0"/>
                        </a:spcBef>
                        <a:spcAft>
                          <a:spcPts val="0"/>
                        </a:spcAft>
                        <a:buNone/>
                      </a:pPr>
                      <a:r>
                        <a:rPr lang="en" sz="900">
                          <a:solidFill>
                            <a:srgbClr val="1E3A4C"/>
                          </a:solidFill>
                        </a:rPr>
                        <a:t>34.6%</a:t>
                      </a:r>
                      <a:endParaRPr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c>
                  <a:txBody>
                    <a:bodyPr/>
                    <a:lstStyle/>
                    <a:p>
                      <a:pPr indent="0" lvl="0" marL="0" marR="0" rtl="0" algn="ctr">
                        <a:spcBef>
                          <a:spcPts val="0"/>
                        </a:spcBef>
                        <a:spcAft>
                          <a:spcPts val="0"/>
                        </a:spcAft>
                        <a:buNone/>
                      </a:pPr>
                      <a:r>
                        <a:rPr lang="en" sz="900">
                          <a:solidFill>
                            <a:srgbClr val="1E3A4C"/>
                          </a:solidFill>
                        </a:rPr>
                        <a:t>29.7%</a:t>
                      </a:r>
                      <a:endParaRPr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r>
              <a:tr h="248000">
                <a:tc>
                  <a:txBody>
                    <a:bodyPr/>
                    <a:lstStyle/>
                    <a:p>
                      <a:pPr indent="0" lvl="0" marL="0" rtl="0" algn="l">
                        <a:spcBef>
                          <a:spcPts val="0"/>
                        </a:spcBef>
                        <a:spcAft>
                          <a:spcPts val="0"/>
                        </a:spcAft>
                        <a:buNone/>
                      </a:pPr>
                      <a:r>
                        <a:rPr b="1" lang="en" sz="800">
                          <a:solidFill>
                            <a:schemeClr val="dk1"/>
                          </a:solidFill>
                        </a:rPr>
                        <a:t>Conformer (18M)</a:t>
                      </a:r>
                      <a:endParaRPr b="1" sz="800">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lang="en" sz="900">
                          <a:solidFill>
                            <a:srgbClr val="1E3A4C"/>
                          </a:solidFill>
                        </a:rPr>
                        <a:t>0.29</a:t>
                      </a:r>
                      <a:endParaRPr b="1"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D1DC"/>
                    </a:solidFill>
                  </a:tcPr>
                </a:tc>
                <a:tc>
                  <a:txBody>
                    <a:bodyPr/>
                    <a:lstStyle/>
                    <a:p>
                      <a:pPr indent="0" lvl="0" marL="0" marR="0" rtl="0" algn="ctr">
                        <a:spcBef>
                          <a:spcPts val="0"/>
                        </a:spcBef>
                        <a:spcAft>
                          <a:spcPts val="0"/>
                        </a:spcAft>
                        <a:buNone/>
                      </a:pPr>
                      <a:r>
                        <a:rPr b="1" lang="en" sz="900">
                          <a:solidFill>
                            <a:srgbClr val="1E3A4C"/>
                          </a:solidFill>
                        </a:rPr>
                        <a:t>8.63%</a:t>
                      </a:r>
                      <a:endParaRPr b="1"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c>
                  <a:txBody>
                    <a:bodyPr/>
                    <a:lstStyle/>
                    <a:p>
                      <a:pPr indent="0" lvl="0" marL="0" marR="0" rtl="0" algn="ctr">
                        <a:spcBef>
                          <a:spcPts val="0"/>
                        </a:spcBef>
                        <a:spcAft>
                          <a:spcPts val="0"/>
                        </a:spcAft>
                        <a:buNone/>
                      </a:pPr>
                      <a:r>
                        <a:rPr b="1" lang="en" sz="900">
                          <a:solidFill>
                            <a:srgbClr val="1E3A4C"/>
                          </a:solidFill>
                        </a:rPr>
                        <a:t>25.2%</a:t>
                      </a:r>
                      <a:endParaRPr b="1"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c>
                  <a:txBody>
                    <a:bodyPr/>
                    <a:lstStyle/>
                    <a:p>
                      <a:pPr indent="0" lvl="0" marL="0" marR="0" rtl="0" algn="ctr">
                        <a:spcBef>
                          <a:spcPts val="0"/>
                        </a:spcBef>
                        <a:spcAft>
                          <a:spcPts val="0"/>
                        </a:spcAft>
                        <a:buNone/>
                      </a:pPr>
                      <a:r>
                        <a:rPr b="1" lang="en" sz="900">
                          <a:solidFill>
                            <a:srgbClr val="1E3A4C"/>
                          </a:solidFill>
                        </a:rPr>
                        <a:t>28.5%</a:t>
                      </a:r>
                      <a:endParaRPr b="1" sz="900">
                        <a:solidFill>
                          <a:srgbClr val="1E3A4C"/>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3C47D"/>
                    </a:solidFill>
                  </a:tcPr>
                </a:tc>
              </a:tr>
            </a:tbl>
          </a:graphicData>
        </a:graphic>
      </p:graphicFrame>
      <p:sp>
        <p:nvSpPr>
          <p:cNvPr id="143" name="Google Shape;143;p19"/>
          <p:cNvSpPr txBox="1"/>
          <p:nvPr/>
        </p:nvSpPr>
        <p:spPr>
          <a:xfrm>
            <a:off x="3084825" y="1115564"/>
            <a:ext cx="1021500" cy="274200"/>
          </a:xfrm>
          <a:prstGeom prst="rect">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50">
                <a:solidFill>
                  <a:srgbClr val="1E3A4C"/>
                </a:solidFill>
                <a:latin typeface="Calibri"/>
                <a:ea typeface="Calibri"/>
                <a:cs typeface="Calibri"/>
                <a:sym typeface="Calibri"/>
              </a:rPr>
              <a:t>Params</a:t>
            </a:r>
            <a:endParaRPr b="1"/>
          </a:p>
        </p:txBody>
      </p:sp>
      <p:sp>
        <p:nvSpPr>
          <p:cNvPr id="144" name="Google Shape;144;p19"/>
          <p:cNvSpPr txBox="1"/>
          <p:nvPr/>
        </p:nvSpPr>
        <p:spPr>
          <a:xfrm>
            <a:off x="4529150" y="1115575"/>
            <a:ext cx="1021500" cy="2742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50">
                <a:solidFill>
                  <a:srgbClr val="1E3A4C"/>
                </a:solidFill>
                <a:latin typeface="Calibri"/>
                <a:ea typeface="Calibri"/>
                <a:cs typeface="Calibri"/>
                <a:sym typeface="Calibri"/>
              </a:rPr>
              <a:t>Hyperparams</a:t>
            </a:r>
            <a:endParaRPr b="1"/>
          </a:p>
        </p:txBody>
      </p:sp>
      <p:sp>
        <p:nvSpPr>
          <p:cNvPr id="145" name="Google Shape;145;p19"/>
          <p:cNvSpPr/>
          <p:nvPr/>
        </p:nvSpPr>
        <p:spPr>
          <a:xfrm>
            <a:off x="4496302" y="1453922"/>
            <a:ext cx="1239600" cy="543900"/>
          </a:xfrm>
          <a:prstGeom prst="rect">
            <a:avLst/>
          </a:prstGeom>
          <a:noFill/>
          <a:ln>
            <a:noFill/>
          </a:ln>
        </p:spPr>
        <p:txBody>
          <a:bodyPr anchorCtr="0" anchor="t" bIns="0" lIns="0" spcFirstLastPara="1" rIns="0" wrap="square" tIns="0">
            <a:noAutofit/>
          </a:bodyPr>
          <a:lstStyle/>
          <a:p>
            <a:pPr indent="-123825" lvl="0" marL="114300" marR="0" rtl="0" algn="l">
              <a:spcBef>
                <a:spcPts val="0"/>
              </a:spcBef>
              <a:spcAft>
                <a:spcPts val="0"/>
              </a:spcAft>
              <a:buClr>
                <a:srgbClr val="1E3A4C"/>
              </a:buClr>
              <a:buSzPts val="1050"/>
              <a:buFont typeface="Calibri"/>
              <a:buChar char="•"/>
            </a:pPr>
            <a:r>
              <a:rPr b="1" lang="en" sz="1050">
                <a:solidFill>
                  <a:srgbClr val="1E3A4C"/>
                </a:solidFill>
                <a:latin typeface="Calibri"/>
                <a:ea typeface="Calibri"/>
                <a:cs typeface="Calibri"/>
                <a:sym typeface="Calibri"/>
              </a:rPr>
              <a:t>Epochs</a:t>
            </a:r>
            <a:r>
              <a:rPr b="1" lang="en" sz="1050">
                <a:solidFill>
                  <a:srgbClr val="1E3A4C"/>
                </a:solidFill>
                <a:latin typeface="Calibri"/>
                <a:ea typeface="Calibri"/>
                <a:cs typeface="Calibri"/>
                <a:sym typeface="Calibri"/>
              </a:rPr>
              <a:t>:</a:t>
            </a:r>
            <a:r>
              <a:rPr lang="en" sz="1050">
                <a:solidFill>
                  <a:srgbClr val="1E3A4C"/>
                </a:solidFill>
                <a:latin typeface="Calibri"/>
                <a:ea typeface="Calibri"/>
                <a:cs typeface="Calibri"/>
                <a:sym typeface="Calibri"/>
              </a:rPr>
              <a:t> 20</a:t>
            </a:r>
            <a:endParaRPr sz="1050">
              <a:solidFill>
                <a:srgbClr val="1E3A4C"/>
              </a:solidFill>
              <a:latin typeface="Calibri"/>
              <a:ea typeface="Calibri"/>
              <a:cs typeface="Calibri"/>
              <a:sym typeface="Calibri"/>
            </a:endParaRPr>
          </a:p>
          <a:p>
            <a:pPr indent="-123825" lvl="0" marL="114300" marR="0" rtl="0" algn="l">
              <a:spcBef>
                <a:spcPts val="0"/>
              </a:spcBef>
              <a:spcAft>
                <a:spcPts val="0"/>
              </a:spcAft>
              <a:buClr>
                <a:srgbClr val="1E3A4C"/>
              </a:buClr>
              <a:buSzPts val="1050"/>
              <a:buFont typeface="Calibri"/>
              <a:buChar char="•"/>
            </a:pPr>
            <a:r>
              <a:rPr b="1" lang="en" sz="1050">
                <a:solidFill>
                  <a:srgbClr val="1E3A4C"/>
                </a:solidFill>
                <a:latin typeface="Calibri"/>
                <a:ea typeface="Calibri"/>
                <a:cs typeface="Calibri"/>
                <a:sym typeface="Calibri"/>
              </a:rPr>
              <a:t>Batch Size</a:t>
            </a:r>
            <a:r>
              <a:rPr b="1" lang="en" sz="1050">
                <a:solidFill>
                  <a:srgbClr val="1E3A4C"/>
                </a:solidFill>
                <a:latin typeface="Calibri"/>
                <a:ea typeface="Calibri"/>
                <a:cs typeface="Calibri"/>
                <a:sym typeface="Calibri"/>
              </a:rPr>
              <a:t>:</a:t>
            </a:r>
            <a:r>
              <a:rPr lang="en" sz="1050">
                <a:solidFill>
                  <a:srgbClr val="1E3A4C"/>
                </a:solidFill>
                <a:latin typeface="Calibri"/>
                <a:ea typeface="Calibri"/>
                <a:cs typeface="Calibri"/>
                <a:sym typeface="Calibri"/>
              </a:rPr>
              <a:t> 32</a:t>
            </a:r>
            <a:endParaRPr sz="1050">
              <a:solidFill>
                <a:srgbClr val="1E3A4C"/>
              </a:solidFill>
              <a:latin typeface="Calibri"/>
              <a:ea typeface="Calibri"/>
              <a:cs typeface="Calibri"/>
              <a:sym typeface="Calibri"/>
            </a:endParaRPr>
          </a:p>
          <a:p>
            <a:pPr indent="-123825" lvl="0" marL="114300" marR="0" rtl="0" algn="l">
              <a:spcBef>
                <a:spcPts val="0"/>
              </a:spcBef>
              <a:spcAft>
                <a:spcPts val="0"/>
              </a:spcAft>
              <a:buClr>
                <a:srgbClr val="1E3A4C"/>
              </a:buClr>
              <a:buSzPts val="1050"/>
              <a:buFont typeface="Calibri"/>
              <a:buChar char="•"/>
            </a:pPr>
            <a:r>
              <a:rPr b="1" lang="en" sz="1050">
                <a:solidFill>
                  <a:srgbClr val="1E3A4C"/>
                </a:solidFill>
                <a:latin typeface="Calibri"/>
                <a:ea typeface="Calibri"/>
                <a:cs typeface="Calibri"/>
                <a:sym typeface="Calibri"/>
              </a:rPr>
              <a:t>Hidden layers: [3, 5]</a:t>
            </a:r>
            <a:endParaRPr b="0" i="0" sz="1050" u="none" cap="none" strike="noStrike">
              <a:solidFill>
                <a:schemeClr val="dk1"/>
              </a:solidFill>
              <a:latin typeface="Calibri"/>
              <a:ea typeface="Calibri"/>
              <a:cs typeface="Calibri"/>
              <a:sym typeface="Calibri"/>
            </a:endParaRPr>
          </a:p>
        </p:txBody>
      </p:sp>
      <p:cxnSp>
        <p:nvCxnSpPr>
          <p:cNvPr id="146" name="Google Shape;146;p19"/>
          <p:cNvCxnSpPr/>
          <p:nvPr/>
        </p:nvCxnSpPr>
        <p:spPr>
          <a:xfrm>
            <a:off x="4321724" y="1191700"/>
            <a:ext cx="9000" cy="775200"/>
          </a:xfrm>
          <a:prstGeom prst="straightConnector1">
            <a:avLst/>
          </a:prstGeom>
          <a:noFill/>
          <a:ln cap="flat" cmpd="sng" w="9525">
            <a:solidFill>
              <a:schemeClr val="dk2"/>
            </a:solidFill>
            <a:prstDash val="solid"/>
            <a:round/>
            <a:headEnd len="med" w="med" type="none"/>
            <a:tailEnd len="med" w="med" type="none"/>
          </a:ln>
        </p:spPr>
      </p:cxnSp>
      <p:sp>
        <p:nvSpPr>
          <p:cNvPr id="147" name="Google Shape;147;p19"/>
          <p:cNvSpPr/>
          <p:nvPr/>
        </p:nvSpPr>
        <p:spPr>
          <a:xfrm>
            <a:off x="5901475" y="824760"/>
            <a:ext cx="3069300" cy="1285500"/>
          </a:xfrm>
          <a:prstGeom prst="rect">
            <a:avLst/>
          </a:prstGeom>
          <a:solidFill>
            <a:srgbClr val="EBF4FA"/>
          </a:solidFill>
          <a:ln cap="flat" cmpd="sng" w="12700">
            <a:solidFill>
              <a:srgbClr val="0077A8"/>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9"/>
          <p:cNvSpPr/>
          <p:nvPr/>
        </p:nvSpPr>
        <p:spPr>
          <a:xfrm>
            <a:off x="258475" y="2292275"/>
            <a:ext cx="3847800" cy="2690700"/>
          </a:xfrm>
          <a:prstGeom prst="rect">
            <a:avLst/>
          </a:prstGeom>
          <a:solidFill>
            <a:srgbClr val="EBF4FA"/>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r>
              <a:rPr lang="en">
                <a:solidFill>
                  <a:schemeClr val="dk1"/>
                </a:solidFill>
              </a:rPr>
              <a:t>= </a:t>
            </a:r>
            <a:r>
              <a:rPr lang="en" sz="1300">
                <a:solidFill>
                  <a:schemeClr val="dk1"/>
                </a:solidFill>
              </a:rPr>
              <a:t> S + D + I</a:t>
            </a:r>
            <a:endParaRPr sz="1300">
              <a:solidFill>
                <a:schemeClr val="dk1"/>
              </a:solidFill>
            </a:endParaRPr>
          </a:p>
          <a:p>
            <a:pPr indent="457200" lvl="0" marL="0" rtl="0" algn="l">
              <a:spcBef>
                <a:spcPts val="0"/>
              </a:spcBef>
              <a:spcAft>
                <a:spcPts val="0"/>
              </a:spcAft>
              <a:buClr>
                <a:schemeClr val="dk1"/>
              </a:buClr>
              <a:buSzPts val="1100"/>
              <a:buFont typeface="Arial"/>
              <a:buNone/>
            </a:pPr>
            <a:r>
              <a:rPr lang="en" sz="1200">
                <a:solidFill>
                  <a:schemeClr val="dk1"/>
                </a:solidFill>
              </a:rPr>
              <a:t>   N</a:t>
            </a:r>
            <a:endParaRPr/>
          </a:p>
          <a:p>
            <a:pPr indent="0" lvl="0" marL="0" rtl="0" algn="l">
              <a:spcBef>
                <a:spcPts val="0"/>
              </a:spcBef>
              <a:spcAft>
                <a:spcPts val="0"/>
              </a:spcAft>
              <a:buNone/>
            </a:pPr>
            <a:r>
              <a:rPr lang="en"/>
              <a:t>		</a:t>
            </a:r>
            <a:endParaRPr sz="1200"/>
          </a:p>
        </p:txBody>
      </p:sp>
      <p:sp>
        <p:nvSpPr>
          <p:cNvPr id="149" name="Google Shape;149;p19"/>
          <p:cNvSpPr/>
          <p:nvPr/>
        </p:nvSpPr>
        <p:spPr>
          <a:xfrm>
            <a:off x="1562574" y="2339100"/>
            <a:ext cx="123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7A8"/>
              </a:buClr>
              <a:buSzPts val="1100"/>
              <a:buFont typeface="Calibri"/>
              <a:buNone/>
            </a:pPr>
            <a:r>
              <a:rPr b="1" lang="en" sz="1100">
                <a:solidFill>
                  <a:srgbClr val="0077A8"/>
                </a:solidFill>
                <a:latin typeface="Calibri"/>
                <a:ea typeface="Calibri"/>
                <a:cs typeface="Calibri"/>
                <a:sym typeface="Calibri"/>
              </a:rPr>
              <a:t>Performance</a:t>
            </a:r>
            <a:r>
              <a:rPr b="1" lang="en" sz="1100">
                <a:solidFill>
                  <a:srgbClr val="0077A8"/>
                </a:solidFill>
                <a:latin typeface="Calibri"/>
                <a:ea typeface="Calibri"/>
                <a:cs typeface="Calibri"/>
                <a:sym typeface="Calibri"/>
              </a:rPr>
              <a:t> Metrics</a:t>
            </a:r>
            <a:endParaRPr b="0" i="0" sz="1100" u="none" cap="none" strike="noStrike">
              <a:solidFill>
                <a:schemeClr val="dk1"/>
              </a:solidFill>
              <a:latin typeface="Calibri"/>
              <a:ea typeface="Calibri"/>
              <a:cs typeface="Calibri"/>
              <a:sym typeface="Calibri"/>
            </a:endParaRPr>
          </a:p>
        </p:txBody>
      </p:sp>
      <p:sp>
        <p:nvSpPr>
          <p:cNvPr id="150" name="Google Shape;150;p19"/>
          <p:cNvSpPr txBox="1"/>
          <p:nvPr/>
        </p:nvSpPr>
        <p:spPr>
          <a:xfrm>
            <a:off x="446525" y="2929727"/>
            <a:ext cx="1021500" cy="274200"/>
          </a:xfrm>
          <a:prstGeom prst="rect">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750">
                <a:solidFill>
                  <a:srgbClr val="1E3A4C"/>
                </a:solidFill>
                <a:latin typeface="Calibri"/>
                <a:ea typeface="Calibri"/>
                <a:cs typeface="Calibri"/>
                <a:sym typeface="Calibri"/>
              </a:rPr>
              <a:t>Character Error Rate</a:t>
            </a:r>
            <a:endParaRPr b="1" sz="1100"/>
          </a:p>
        </p:txBody>
      </p:sp>
      <p:sp>
        <p:nvSpPr>
          <p:cNvPr id="151" name="Google Shape;151;p19"/>
          <p:cNvSpPr txBox="1"/>
          <p:nvPr/>
        </p:nvSpPr>
        <p:spPr>
          <a:xfrm>
            <a:off x="446525" y="3283964"/>
            <a:ext cx="1021500" cy="274200"/>
          </a:xfrm>
          <a:prstGeom prst="rect">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750">
                <a:solidFill>
                  <a:srgbClr val="1E3A4C"/>
                </a:solidFill>
                <a:latin typeface="Calibri"/>
                <a:ea typeface="Calibri"/>
                <a:cs typeface="Calibri"/>
                <a:sym typeface="Calibri"/>
              </a:rPr>
              <a:t>Word Error Rate</a:t>
            </a:r>
            <a:endParaRPr b="1" sz="750"/>
          </a:p>
        </p:txBody>
      </p:sp>
      <p:cxnSp>
        <p:nvCxnSpPr>
          <p:cNvPr id="152" name="Google Shape;152;p19"/>
          <p:cNvCxnSpPr/>
          <p:nvPr/>
        </p:nvCxnSpPr>
        <p:spPr>
          <a:xfrm flipH="1" rot="10800000">
            <a:off x="596651" y="3863612"/>
            <a:ext cx="776100" cy="3900"/>
          </a:xfrm>
          <a:prstGeom prst="straightConnector1">
            <a:avLst/>
          </a:prstGeom>
          <a:noFill/>
          <a:ln cap="flat" cmpd="sng" w="9525">
            <a:solidFill>
              <a:schemeClr val="dk2"/>
            </a:solidFill>
            <a:prstDash val="solid"/>
            <a:round/>
            <a:headEnd len="med" w="med" type="none"/>
            <a:tailEnd len="med" w="med" type="none"/>
          </a:ln>
        </p:spPr>
      </p:cxnSp>
      <p:sp>
        <p:nvSpPr>
          <p:cNvPr id="153" name="Google Shape;153;p19"/>
          <p:cNvSpPr txBox="1"/>
          <p:nvPr/>
        </p:nvSpPr>
        <p:spPr>
          <a:xfrm>
            <a:off x="347475" y="4095375"/>
            <a:ext cx="1327800" cy="607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 sz="650">
                <a:solidFill>
                  <a:srgbClr val="1E3A4C"/>
                </a:solidFill>
                <a:latin typeface="Calibri"/>
                <a:ea typeface="Calibri"/>
                <a:cs typeface="Calibri"/>
                <a:sym typeface="Calibri"/>
              </a:rPr>
              <a:t>S = substitutions,</a:t>
            </a:r>
            <a:endParaRPr b="1" i="1" sz="650">
              <a:solidFill>
                <a:srgbClr val="1E3A4C"/>
              </a:solidFill>
              <a:latin typeface="Calibri"/>
              <a:ea typeface="Calibri"/>
              <a:cs typeface="Calibri"/>
              <a:sym typeface="Calibri"/>
            </a:endParaRPr>
          </a:p>
          <a:p>
            <a:pPr indent="0" lvl="0" marL="0" rtl="0" algn="l">
              <a:spcBef>
                <a:spcPts val="0"/>
              </a:spcBef>
              <a:spcAft>
                <a:spcPts val="0"/>
              </a:spcAft>
              <a:buNone/>
            </a:pPr>
            <a:r>
              <a:rPr b="1" i="1" lang="en" sz="650">
                <a:solidFill>
                  <a:srgbClr val="1E3A4C"/>
                </a:solidFill>
                <a:latin typeface="Calibri"/>
                <a:ea typeface="Calibri"/>
                <a:cs typeface="Calibri"/>
                <a:sym typeface="Calibri"/>
              </a:rPr>
              <a:t>D = Deletions,</a:t>
            </a:r>
            <a:endParaRPr b="1" i="1" sz="650">
              <a:solidFill>
                <a:srgbClr val="1E3A4C"/>
              </a:solidFill>
              <a:latin typeface="Calibri"/>
              <a:ea typeface="Calibri"/>
              <a:cs typeface="Calibri"/>
              <a:sym typeface="Calibri"/>
            </a:endParaRPr>
          </a:p>
          <a:p>
            <a:pPr indent="0" lvl="0" marL="0" rtl="0" algn="l">
              <a:spcBef>
                <a:spcPts val="0"/>
              </a:spcBef>
              <a:spcAft>
                <a:spcPts val="0"/>
              </a:spcAft>
              <a:buNone/>
            </a:pPr>
            <a:r>
              <a:rPr b="1" i="1" lang="en" sz="650">
                <a:solidFill>
                  <a:srgbClr val="1E3A4C"/>
                </a:solidFill>
                <a:latin typeface="Calibri"/>
                <a:ea typeface="Calibri"/>
                <a:cs typeface="Calibri"/>
                <a:sym typeface="Calibri"/>
              </a:rPr>
              <a:t>I = Insertions,</a:t>
            </a:r>
            <a:endParaRPr b="1" i="1" sz="650">
              <a:solidFill>
                <a:srgbClr val="1E3A4C"/>
              </a:solidFill>
              <a:latin typeface="Calibri"/>
              <a:ea typeface="Calibri"/>
              <a:cs typeface="Calibri"/>
              <a:sym typeface="Calibri"/>
            </a:endParaRPr>
          </a:p>
          <a:p>
            <a:pPr indent="0" lvl="0" marL="0" rtl="0" algn="l">
              <a:spcBef>
                <a:spcPts val="0"/>
              </a:spcBef>
              <a:spcAft>
                <a:spcPts val="0"/>
              </a:spcAft>
              <a:buNone/>
            </a:pPr>
            <a:r>
              <a:rPr b="1" i="1" lang="en" sz="650">
                <a:solidFill>
                  <a:srgbClr val="1E3A4C"/>
                </a:solidFill>
                <a:latin typeface="Calibri"/>
                <a:ea typeface="Calibri"/>
                <a:cs typeface="Calibri"/>
                <a:sym typeface="Calibri"/>
              </a:rPr>
              <a:t>N = Total reference objects</a:t>
            </a:r>
            <a:endParaRPr b="1" i="1" sz="1000"/>
          </a:p>
        </p:txBody>
      </p:sp>
      <p:sp>
        <p:nvSpPr>
          <p:cNvPr id="154" name="Google Shape;154;p19"/>
          <p:cNvSpPr txBox="1"/>
          <p:nvPr/>
        </p:nvSpPr>
        <p:spPr>
          <a:xfrm>
            <a:off x="6123250" y="1111221"/>
            <a:ext cx="914400" cy="320100"/>
          </a:xfrm>
          <a:prstGeom prst="rect">
            <a:avLst/>
          </a:prstGeom>
          <a:solidFill>
            <a:srgbClr val="FCE5CD"/>
          </a:solidFill>
          <a:ln>
            <a:noFill/>
          </a:ln>
        </p:spPr>
        <p:txBody>
          <a:bodyPr anchorCtr="0" anchor="ctr" bIns="75275" lIns="75275" spcFirstLastPara="1" rIns="75275" wrap="square" tIns="75275">
            <a:noAutofit/>
          </a:bodyPr>
          <a:lstStyle/>
          <a:p>
            <a:pPr indent="0" lvl="0" marL="0" rtl="0" algn="ctr">
              <a:spcBef>
                <a:spcPts val="0"/>
              </a:spcBef>
              <a:spcAft>
                <a:spcPts val="0"/>
              </a:spcAft>
              <a:buNone/>
            </a:pPr>
            <a:r>
              <a:rPr b="1" lang="en" sz="1050">
                <a:solidFill>
                  <a:srgbClr val="1E3A4C"/>
                </a:solidFill>
                <a:latin typeface="Calibri"/>
                <a:ea typeface="Calibri"/>
                <a:cs typeface="Calibri"/>
                <a:sym typeface="Calibri"/>
              </a:rPr>
              <a:t>Greedy decoding</a:t>
            </a:r>
            <a:endParaRPr b="1" sz="1050"/>
          </a:p>
        </p:txBody>
      </p:sp>
      <p:cxnSp>
        <p:nvCxnSpPr>
          <p:cNvPr id="155" name="Google Shape;155;p19"/>
          <p:cNvCxnSpPr>
            <a:stCxn id="154" idx="3"/>
            <a:endCxn id="156" idx="1"/>
          </p:cNvCxnSpPr>
          <p:nvPr/>
        </p:nvCxnSpPr>
        <p:spPr>
          <a:xfrm flipH="1" rot="10800000">
            <a:off x="7037650" y="1268871"/>
            <a:ext cx="357300" cy="2400"/>
          </a:xfrm>
          <a:prstGeom prst="straightConnector1">
            <a:avLst/>
          </a:prstGeom>
          <a:noFill/>
          <a:ln cap="flat" cmpd="sng" w="7850">
            <a:solidFill>
              <a:schemeClr val="dk2"/>
            </a:solidFill>
            <a:prstDash val="solid"/>
            <a:round/>
            <a:headEnd len="med" w="med" type="none"/>
            <a:tailEnd len="med" w="med" type="triangle"/>
          </a:ln>
        </p:spPr>
      </p:cxnSp>
      <p:sp>
        <p:nvSpPr>
          <p:cNvPr id="156" name="Google Shape;156;p19"/>
          <p:cNvSpPr txBox="1"/>
          <p:nvPr/>
        </p:nvSpPr>
        <p:spPr>
          <a:xfrm>
            <a:off x="7394900" y="1108810"/>
            <a:ext cx="1348500" cy="320100"/>
          </a:xfrm>
          <a:prstGeom prst="rect">
            <a:avLst/>
          </a:prstGeom>
          <a:solidFill>
            <a:srgbClr val="C9DAF8"/>
          </a:solidFill>
          <a:ln>
            <a:noFill/>
          </a:ln>
        </p:spPr>
        <p:txBody>
          <a:bodyPr anchorCtr="0" anchor="ctr" bIns="75275" lIns="75275" spcFirstLastPara="1" rIns="75275" wrap="square" tIns="75275">
            <a:noAutofit/>
          </a:bodyPr>
          <a:lstStyle/>
          <a:p>
            <a:pPr indent="0" lvl="0" marL="0" rtl="0" algn="ctr">
              <a:spcBef>
                <a:spcPts val="0"/>
              </a:spcBef>
              <a:spcAft>
                <a:spcPts val="0"/>
              </a:spcAft>
              <a:buNone/>
            </a:pPr>
            <a:r>
              <a:rPr b="1" lang="en" sz="1065">
                <a:solidFill>
                  <a:srgbClr val="1E3A4C"/>
                </a:solidFill>
                <a:latin typeface="Calibri"/>
                <a:ea typeface="Calibri"/>
                <a:cs typeface="Calibri"/>
                <a:sym typeface="Calibri"/>
              </a:rPr>
              <a:t>Beam Search + KenLM</a:t>
            </a:r>
            <a:endParaRPr b="1" sz="1065"/>
          </a:p>
        </p:txBody>
      </p:sp>
      <p:sp>
        <p:nvSpPr>
          <p:cNvPr id="157" name="Google Shape;157;p19"/>
          <p:cNvSpPr/>
          <p:nvPr/>
        </p:nvSpPr>
        <p:spPr>
          <a:xfrm>
            <a:off x="6315560" y="1528382"/>
            <a:ext cx="722100" cy="399000"/>
          </a:xfrm>
          <a:prstGeom prst="rect">
            <a:avLst/>
          </a:prstGeom>
          <a:solidFill>
            <a:srgbClr val="EBF4FA"/>
          </a:solidFill>
          <a:ln>
            <a:noFill/>
          </a:ln>
        </p:spPr>
        <p:txBody>
          <a:bodyPr anchorCtr="0" anchor="ctr" bIns="75275" lIns="75275" spcFirstLastPara="1" rIns="75275" wrap="square" tIns="75275">
            <a:noAutofit/>
          </a:bodyPr>
          <a:lstStyle/>
          <a:p>
            <a:pPr indent="0" lvl="0" marL="0" rtl="0" algn="ctr">
              <a:spcBef>
                <a:spcPts val="0"/>
              </a:spcBef>
              <a:spcAft>
                <a:spcPts val="0"/>
              </a:spcAft>
              <a:buNone/>
            </a:pPr>
            <a:r>
              <a:rPr i="1" lang="en" sz="865">
                <a:latin typeface="Calibri"/>
                <a:ea typeface="Calibri"/>
                <a:cs typeface="Calibri"/>
                <a:sym typeface="Calibri"/>
              </a:rPr>
              <a:t>Argmax at each timestep</a:t>
            </a:r>
            <a:endParaRPr i="1" sz="865">
              <a:latin typeface="Calibri"/>
              <a:ea typeface="Calibri"/>
              <a:cs typeface="Calibri"/>
              <a:sym typeface="Calibri"/>
            </a:endParaRPr>
          </a:p>
        </p:txBody>
      </p:sp>
      <p:sp>
        <p:nvSpPr>
          <p:cNvPr id="158" name="Google Shape;158;p19"/>
          <p:cNvSpPr/>
          <p:nvPr/>
        </p:nvSpPr>
        <p:spPr>
          <a:xfrm>
            <a:off x="7623751" y="1508335"/>
            <a:ext cx="1088400" cy="399000"/>
          </a:xfrm>
          <a:prstGeom prst="rect">
            <a:avLst/>
          </a:prstGeom>
          <a:solidFill>
            <a:srgbClr val="EBF4FA"/>
          </a:solidFill>
          <a:ln>
            <a:noFill/>
          </a:ln>
        </p:spPr>
        <p:txBody>
          <a:bodyPr anchorCtr="0" anchor="ctr" bIns="75275" lIns="75275" spcFirstLastPara="1" rIns="75275" wrap="square" tIns="75275">
            <a:noAutofit/>
          </a:bodyPr>
          <a:lstStyle/>
          <a:p>
            <a:pPr indent="0" lvl="0" marL="0" rtl="0" algn="ctr">
              <a:spcBef>
                <a:spcPts val="0"/>
              </a:spcBef>
              <a:spcAft>
                <a:spcPts val="0"/>
              </a:spcAft>
              <a:buNone/>
            </a:pPr>
            <a:r>
              <a:rPr i="1" lang="en" sz="865">
                <a:latin typeface="Calibri"/>
                <a:ea typeface="Calibri"/>
                <a:cs typeface="Calibri"/>
                <a:sym typeface="Calibri"/>
              </a:rPr>
              <a:t>3-gram LM trained on LibriSpeech, top-50 beam comparison</a:t>
            </a:r>
            <a:endParaRPr i="1" sz="865">
              <a:latin typeface="Calibri"/>
              <a:ea typeface="Calibri"/>
              <a:cs typeface="Calibri"/>
              <a:sym typeface="Calibri"/>
            </a:endParaRPr>
          </a:p>
        </p:txBody>
      </p:sp>
      <p:sp>
        <p:nvSpPr>
          <p:cNvPr id="159" name="Google Shape;159;p19"/>
          <p:cNvSpPr/>
          <p:nvPr/>
        </p:nvSpPr>
        <p:spPr>
          <a:xfrm>
            <a:off x="7015668" y="865598"/>
            <a:ext cx="840900" cy="22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4D8"/>
              </a:buClr>
              <a:buSzPts val="906"/>
              <a:buFont typeface="Calibri"/>
              <a:buNone/>
            </a:pPr>
            <a:r>
              <a:rPr b="1" lang="en" sz="1100">
                <a:solidFill>
                  <a:srgbClr val="0077A8"/>
                </a:solidFill>
                <a:latin typeface="Calibri"/>
                <a:ea typeface="Calibri"/>
                <a:cs typeface="Calibri"/>
                <a:sym typeface="Calibri"/>
              </a:rPr>
              <a:t>Inference</a:t>
            </a:r>
            <a:endParaRPr b="0" i="0" sz="1100" u="none" cap="none" strike="noStrike">
              <a:solidFill>
                <a:schemeClr val="dk1"/>
              </a:solidFill>
              <a:latin typeface="Calibri"/>
              <a:ea typeface="Calibri"/>
              <a:cs typeface="Calibri"/>
              <a:sym typeface="Calibri"/>
            </a:endParaRPr>
          </a:p>
        </p:txBody>
      </p:sp>
      <p:sp>
        <p:nvSpPr>
          <p:cNvPr id="160" name="Google Shape;160;p19"/>
          <p:cNvSpPr/>
          <p:nvPr/>
        </p:nvSpPr>
        <p:spPr>
          <a:xfrm>
            <a:off x="6554860" y="2280357"/>
            <a:ext cx="267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4C"/>
              </a:buClr>
              <a:buSzPts val="1100"/>
              <a:buFont typeface="Calibri"/>
              <a:buNone/>
            </a:pPr>
            <a:r>
              <a:rPr b="1" lang="en" sz="800">
                <a:solidFill>
                  <a:srgbClr val="1E3A4C"/>
                </a:solidFill>
                <a:latin typeface="Calibri"/>
                <a:ea typeface="Calibri"/>
                <a:cs typeface="Calibri"/>
                <a:sym typeface="Calibri"/>
              </a:rPr>
              <a:t>VAL</a:t>
            </a:r>
            <a:endParaRPr b="0" i="0" sz="800" u="none" cap="none" strike="noStrike">
              <a:solidFill>
                <a:schemeClr val="dk1"/>
              </a:solidFill>
              <a:latin typeface="Calibri"/>
              <a:ea typeface="Calibri"/>
              <a:cs typeface="Calibri"/>
              <a:sym typeface="Calibri"/>
            </a:endParaRPr>
          </a:p>
        </p:txBody>
      </p:sp>
      <p:sp>
        <p:nvSpPr>
          <p:cNvPr id="161" name="Google Shape;161;p19"/>
          <p:cNvSpPr/>
          <p:nvPr/>
        </p:nvSpPr>
        <p:spPr>
          <a:xfrm>
            <a:off x="7665002" y="2280339"/>
            <a:ext cx="320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4C"/>
              </a:buClr>
              <a:buSzPts val="1100"/>
              <a:buFont typeface="Calibri"/>
              <a:buNone/>
            </a:pPr>
            <a:r>
              <a:rPr b="1" lang="en" sz="800">
                <a:solidFill>
                  <a:srgbClr val="1E3A4C"/>
                </a:solidFill>
                <a:latin typeface="Calibri"/>
                <a:ea typeface="Calibri"/>
                <a:cs typeface="Calibri"/>
                <a:sym typeface="Calibri"/>
              </a:rPr>
              <a:t>TEST</a:t>
            </a:r>
            <a:endParaRPr b="0" i="0" sz="800" u="none" cap="none" strike="noStrike">
              <a:solidFill>
                <a:schemeClr val="dk1"/>
              </a:solidFill>
              <a:latin typeface="Calibri"/>
              <a:ea typeface="Calibri"/>
              <a:cs typeface="Calibri"/>
              <a:sym typeface="Calibri"/>
            </a:endParaRPr>
          </a:p>
        </p:txBody>
      </p:sp>
      <p:pic>
        <p:nvPicPr>
          <p:cNvPr id="162" name="Google Shape;162;p19" title="val_wer.png"/>
          <p:cNvPicPr preferRelativeResize="0"/>
          <p:nvPr/>
        </p:nvPicPr>
        <p:blipFill>
          <a:blip r:embed="rId4">
            <a:alphaModFix/>
          </a:blip>
          <a:stretch>
            <a:fillRect/>
          </a:stretch>
        </p:blipFill>
        <p:spPr>
          <a:xfrm>
            <a:off x="1727507" y="2949278"/>
            <a:ext cx="2342837" cy="175712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67" name="Shape 167"/>
        <p:cNvGrpSpPr/>
        <p:nvPr/>
      </p:nvGrpSpPr>
      <p:grpSpPr>
        <a:xfrm>
          <a:off x="0" y="0"/>
          <a:ext cx="0" cy="0"/>
          <a:chOff x="0" y="0"/>
          <a:chExt cx="0" cy="0"/>
        </a:xfrm>
      </p:grpSpPr>
      <p:sp>
        <p:nvSpPr>
          <p:cNvPr id="168" name="Google Shape;168;p20"/>
          <p:cNvSpPr/>
          <p:nvPr/>
        </p:nvSpPr>
        <p:spPr>
          <a:xfrm>
            <a:off x="0" y="0"/>
            <a:ext cx="9144000" cy="4587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0"/>
          <p:cNvSpPr/>
          <p:nvPr/>
        </p:nvSpPr>
        <p:spPr>
          <a:xfrm>
            <a:off x="0" y="0"/>
            <a:ext cx="201300" cy="4587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0"/>
          <p:cNvSpPr/>
          <p:nvPr/>
        </p:nvSpPr>
        <p:spPr>
          <a:xfrm>
            <a:off x="347472" y="0"/>
            <a:ext cx="7772400" cy="45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TEAM CONTRIBUTIONS &amp; FUTURE WORK</a:t>
            </a:r>
            <a:endParaRPr b="0" i="0" sz="1300" u="none" cap="none" strike="noStrike">
              <a:solidFill>
                <a:schemeClr val="dk1"/>
              </a:solidFill>
              <a:latin typeface="Calibri"/>
              <a:ea typeface="Calibri"/>
              <a:cs typeface="Calibri"/>
              <a:sym typeface="Calibri"/>
            </a:endParaRPr>
          </a:p>
        </p:txBody>
      </p:sp>
      <p:sp>
        <p:nvSpPr>
          <p:cNvPr id="171" name="Google Shape;171;p20"/>
          <p:cNvSpPr/>
          <p:nvPr/>
        </p:nvSpPr>
        <p:spPr>
          <a:xfrm>
            <a:off x="8046720" y="114681"/>
            <a:ext cx="914400" cy="22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B4D8"/>
              </a:buClr>
              <a:buSzPts val="900"/>
              <a:buFont typeface="Calibri"/>
              <a:buNone/>
            </a:pPr>
            <a:r>
              <a:rPr b="0" i="0" lang="en" sz="900" u="none" cap="none" strike="noStrike">
                <a:solidFill>
                  <a:srgbClr val="00B4D8"/>
                </a:solidFill>
                <a:latin typeface="Calibri"/>
                <a:ea typeface="Calibri"/>
                <a:cs typeface="Calibri"/>
                <a:sym typeface="Calibri"/>
              </a:rPr>
              <a:t>04 / 04</a:t>
            </a:r>
            <a:endParaRPr b="0" i="0" sz="900" u="none" cap="none" strike="noStrike">
              <a:solidFill>
                <a:schemeClr val="dk1"/>
              </a:solidFill>
              <a:latin typeface="Calibri"/>
              <a:ea typeface="Calibri"/>
              <a:cs typeface="Calibri"/>
              <a:sym typeface="Calibri"/>
            </a:endParaRPr>
          </a:p>
        </p:txBody>
      </p:sp>
      <p:sp>
        <p:nvSpPr>
          <p:cNvPr id="172" name="Google Shape;172;p20"/>
          <p:cNvSpPr/>
          <p:nvPr/>
        </p:nvSpPr>
        <p:spPr>
          <a:xfrm>
            <a:off x="274320" y="777240"/>
            <a:ext cx="5029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4C"/>
              </a:buClr>
              <a:buSzPts val="1300"/>
              <a:buFont typeface="Calibri"/>
              <a:buNone/>
            </a:pPr>
            <a:r>
              <a:rPr b="1" i="0" lang="en" sz="1300" u="none" cap="none" strike="noStrike">
                <a:solidFill>
                  <a:srgbClr val="1E3A4C"/>
                </a:solidFill>
                <a:latin typeface="Calibri"/>
                <a:ea typeface="Calibri"/>
                <a:cs typeface="Calibri"/>
                <a:sym typeface="Calibri"/>
              </a:rPr>
              <a:t>Individual Contributions</a:t>
            </a:r>
            <a:endParaRPr b="0" i="0" sz="1300" u="none" cap="none" strike="noStrike">
              <a:solidFill>
                <a:schemeClr val="dk1"/>
              </a:solidFill>
              <a:latin typeface="Calibri"/>
              <a:ea typeface="Calibri"/>
              <a:cs typeface="Calibri"/>
              <a:sym typeface="Calibri"/>
            </a:endParaRPr>
          </a:p>
        </p:txBody>
      </p:sp>
      <p:graphicFrame>
        <p:nvGraphicFramePr>
          <p:cNvPr id="173" name="Google Shape;173;p20"/>
          <p:cNvGraphicFramePr/>
          <p:nvPr/>
        </p:nvGraphicFramePr>
        <p:xfrm>
          <a:off x="274320" y="1115568"/>
          <a:ext cx="3000000" cy="3000000"/>
        </p:xfrm>
        <a:graphic>
          <a:graphicData uri="http://schemas.openxmlformats.org/drawingml/2006/table">
            <a:tbl>
              <a:tblPr>
                <a:noFill/>
                <a:tableStyleId>{6EC3C7F0-2309-4531-97DA-3BB09D230519}</a:tableStyleId>
              </a:tblPr>
              <a:tblGrid>
                <a:gridCol w="1463050"/>
                <a:gridCol w="1325875"/>
                <a:gridCol w="5806450"/>
              </a:tblGrid>
              <a:tr h="347475">
                <a:tc>
                  <a:txBody>
                    <a:bodyPr/>
                    <a:lstStyle/>
                    <a:p>
                      <a:pPr indent="0" lvl="0" marL="0" marR="0" rtl="0" algn="ctr">
                        <a:spcBef>
                          <a:spcPts val="0"/>
                        </a:spcBef>
                        <a:spcAft>
                          <a:spcPts val="0"/>
                        </a:spcAft>
                        <a:buClr>
                          <a:srgbClr val="FFFFFF"/>
                        </a:buClr>
                        <a:buSzPts val="1100"/>
                        <a:buFont typeface="Calibri"/>
                        <a:buNone/>
                      </a:pPr>
                      <a:r>
                        <a:rPr b="1" lang="en" sz="1100" u="none" cap="none" strike="noStrike">
                          <a:solidFill>
                            <a:srgbClr val="FFFFFF"/>
                          </a:solidFill>
                        </a:rPr>
                        <a:t>Member</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FFFFFF"/>
                        </a:buClr>
                        <a:buSzPts val="1100"/>
                        <a:buFont typeface="Calibri"/>
                        <a:buNone/>
                      </a:pPr>
                      <a:r>
                        <a:rPr b="1" lang="en" sz="1100" u="none" cap="none" strike="noStrike">
                          <a:solidFill>
                            <a:srgbClr val="FFFFFF"/>
                          </a:solidFill>
                        </a:rPr>
                        <a:t>Role</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FFFFFF"/>
                        </a:buClr>
                        <a:buSzPts val="1100"/>
                        <a:buFont typeface="Calibri"/>
                        <a:buNone/>
                      </a:pPr>
                      <a:r>
                        <a:rPr b="1" lang="en" sz="1100" u="none" cap="none" strike="noStrike">
                          <a:solidFill>
                            <a:srgbClr val="FFFFFF"/>
                          </a:solidFill>
                        </a:rPr>
                        <a:t>Key Contributions</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D1B2A"/>
                    </a:solidFill>
                  </a:tcPr>
                </a:tc>
              </a:tr>
              <a:tr h="384050">
                <a:tc>
                  <a:txBody>
                    <a:bodyPr/>
                    <a:lstStyle/>
                    <a:p>
                      <a:pPr indent="0" lvl="0" marL="0" marR="0" rtl="0" algn="l">
                        <a:spcBef>
                          <a:spcPts val="0"/>
                        </a:spcBef>
                        <a:spcAft>
                          <a:spcPts val="0"/>
                        </a:spcAft>
                        <a:buClr>
                          <a:srgbClr val="0077A8"/>
                        </a:buClr>
                        <a:buSzPts val="1100"/>
                        <a:buFont typeface="Calibri"/>
                        <a:buNone/>
                      </a:pPr>
                      <a:r>
                        <a:rPr b="1" lang="en" sz="1100">
                          <a:solidFill>
                            <a:srgbClr val="0077A8"/>
                          </a:solidFill>
                        </a:rPr>
                        <a:t>Anubhav Sharma</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3A4C"/>
                        </a:buClr>
                        <a:buSzPts val="1100"/>
                        <a:buFont typeface="Calibri"/>
                        <a:buNone/>
                      </a:pPr>
                      <a:r>
                        <a:rPr lang="en" sz="1100">
                          <a:solidFill>
                            <a:srgbClr val="1E3A4C"/>
                          </a:solidFill>
                        </a:rPr>
                        <a:t>Data + Optimization</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1E3A4C"/>
                        </a:buClr>
                        <a:buSzPts val="1100"/>
                        <a:buFont typeface="Calibri"/>
                        <a:buNone/>
                      </a:pPr>
                      <a:r>
                        <a:rPr lang="en" sz="1100">
                          <a:solidFill>
                            <a:srgbClr val="1E3A4C"/>
                          </a:solidFill>
                        </a:rPr>
                        <a:t>Dataset curation, preprocessing, LSTM implementation, model performance and training optimization</a:t>
                      </a:r>
                      <a:endParaRPr sz="1100">
                        <a:solidFill>
                          <a:schemeClr val="dk1"/>
                        </a:solidFill>
                      </a:endParaRPr>
                    </a:p>
                    <a:p>
                      <a:pPr indent="0" lvl="0" marL="0" marR="0" rtl="0" algn="l">
                        <a:spcBef>
                          <a:spcPts val="0"/>
                        </a:spcBef>
                        <a:spcAft>
                          <a:spcPts val="0"/>
                        </a:spcAft>
                        <a:buClr>
                          <a:srgbClr val="1E3A4C"/>
                        </a:buClr>
                        <a:buSzPts val="1100"/>
                        <a:buFont typeface="Calibri"/>
                        <a:buNone/>
                      </a:pPr>
                      <a:r>
                        <a:t/>
                      </a:r>
                      <a:endParaRPr sz="1100">
                        <a:solidFill>
                          <a:srgbClr val="1E3A4C"/>
                        </a:solidFill>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0077A8"/>
                        </a:buClr>
                        <a:buSzPts val="1100"/>
                        <a:buFont typeface="Calibri"/>
                        <a:buNone/>
                      </a:pPr>
                      <a:r>
                        <a:rPr b="1" lang="en" sz="1100">
                          <a:solidFill>
                            <a:srgbClr val="0077A8"/>
                          </a:solidFill>
                        </a:rPr>
                        <a:t>Edwin Chen</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BF4FA"/>
                    </a:solidFill>
                  </a:tcPr>
                </a:tc>
                <a:tc>
                  <a:txBody>
                    <a:bodyPr/>
                    <a:lstStyle/>
                    <a:p>
                      <a:pPr indent="0" lvl="0" marL="0" marR="0" rtl="0" algn="l">
                        <a:spcBef>
                          <a:spcPts val="0"/>
                        </a:spcBef>
                        <a:spcAft>
                          <a:spcPts val="0"/>
                        </a:spcAft>
                        <a:buClr>
                          <a:srgbClr val="1E3A4C"/>
                        </a:buClr>
                        <a:buSzPts val="1100"/>
                        <a:buFont typeface="Calibri"/>
                        <a:buNone/>
                      </a:pPr>
                      <a:r>
                        <a:rPr lang="en" sz="1100">
                          <a:solidFill>
                            <a:srgbClr val="1E3A4C"/>
                          </a:solidFill>
                        </a:rPr>
                        <a:t>Architecture Design</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BF4FA"/>
                    </a:solidFill>
                  </a:tcPr>
                </a:tc>
                <a:tc>
                  <a:txBody>
                    <a:bodyPr/>
                    <a:lstStyle/>
                    <a:p>
                      <a:pPr indent="0" lvl="0" marL="0" marR="0" rtl="0" algn="l">
                        <a:spcBef>
                          <a:spcPts val="0"/>
                        </a:spcBef>
                        <a:spcAft>
                          <a:spcPts val="0"/>
                        </a:spcAft>
                        <a:buClr>
                          <a:srgbClr val="1E3A4C"/>
                        </a:buClr>
                        <a:buSzPts val="1100"/>
                        <a:buFont typeface="Calibri"/>
                        <a:buNone/>
                      </a:pPr>
                      <a:r>
                        <a:rPr lang="en" sz="1100">
                          <a:solidFill>
                            <a:srgbClr val="1E3A4C"/>
                          </a:solidFill>
                        </a:rPr>
                        <a:t>Research and implementation of baseline Deep Speech 2 and Conformer architecture.</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BF4FA"/>
                    </a:solidFill>
                  </a:tcPr>
                </a:tc>
              </a:tr>
              <a:tr h="384050">
                <a:tc>
                  <a:txBody>
                    <a:bodyPr/>
                    <a:lstStyle/>
                    <a:p>
                      <a:pPr indent="0" lvl="0" marL="0" marR="0" rtl="0" algn="l">
                        <a:spcBef>
                          <a:spcPts val="0"/>
                        </a:spcBef>
                        <a:spcAft>
                          <a:spcPts val="0"/>
                        </a:spcAft>
                        <a:buClr>
                          <a:srgbClr val="0077A8"/>
                        </a:buClr>
                        <a:buSzPts val="1100"/>
                        <a:buFont typeface="Calibri"/>
                        <a:buNone/>
                      </a:pPr>
                      <a:r>
                        <a:rPr b="1" lang="en" sz="1100">
                          <a:solidFill>
                            <a:srgbClr val="0077A8"/>
                          </a:solidFill>
                        </a:rPr>
                        <a:t>Trung Lam Nguyen</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3A4C"/>
                        </a:buClr>
                        <a:buSzPts val="1100"/>
                        <a:buFont typeface="Calibri"/>
                        <a:buNone/>
                      </a:pPr>
                      <a:r>
                        <a:rPr lang="en" sz="1100">
                          <a:solidFill>
                            <a:srgbClr val="1E3A4C"/>
                          </a:solidFill>
                        </a:rPr>
                        <a:t>Model </a:t>
                      </a:r>
                      <a:r>
                        <a:rPr lang="en" sz="1100" u="none" cap="none" strike="noStrike">
                          <a:solidFill>
                            <a:srgbClr val="1E3A4C"/>
                          </a:solidFill>
                        </a:rPr>
                        <a:t>Evaluation</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3A4C"/>
                        </a:buClr>
                        <a:buSzPts val="1100"/>
                        <a:buFont typeface="Calibri"/>
                        <a:buNone/>
                      </a:pPr>
                      <a:r>
                        <a:rPr lang="en" sz="1100">
                          <a:solidFill>
                            <a:srgbClr val="1E3A4C"/>
                          </a:solidFill>
                        </a:rPr>
                        <a:t>CNN implementation, </a:t>
                      </a:r>
                      <a:r>
                        <a:rPr lang="en" sz="1100">
                          <a:solidFill>
                            <a:srgbClr val="1E3A4C"/>
                          </a:solidFill>
                        </a:rPr>
                        <a:t>data loader optimization, </a:t>
                      </a:r>
                      <a:r>
                        <a:rPr lang="en" sz="1100">
                          <a:solidFill>
                            <a:srgbClr val="1E3A4C"/>
                          </a:solidFill>
                        </a:rPr>
                        <a:t>model </a:t>
                      </a:r>
                      <a:r>
                        <a:rPr lang="en" sz="1100">
                          <a:solidFill>
                            <a:srgbClr val="1E3A4C"/>
                          </a:solidFill>
                        </a:rPr>
                        <a:t>training and </a:t>
                      </a:r>
                      <a:r>
                        <a:rPr lang="en" sz="1100">
                          <a:solidFill>
                            <a:srgbClr val="1E3A4C"/>
                          </a:solidFill>
                        </a:rPr>
                        <a:t>benchmarking, </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bl>
          </a:graphicData>
        </a:graphic>
      </p:graphicFrame>
      <p:sp>
        <p:nvSpPr>
          <p:cNvPr id="174" name="Google Shape;174;p20"/>
          <p:cNvSpPr/>
          <p:nvPr/>
        </p:nvSpPr>
        <p:spPr>
          <a:xfrm>
            <a:off x="274320" y="3058713"/>
            <a:ext cx="5029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4C"/>
              </a:buClr>
              <a:buSzPts val="1300"/>
              <a:buFont typeface="Calibri"/>
              <a:buNone/>
            </a:pPr>
            <a:r>
              <a:rPr b="1" i="0" lang="en" sz="1300" u="none" cap="none" strike="noStrike">
                <a:solidFill>
                  <a:srgbClr val="1E3A4C"/>
                </a:solidFill>
                <a:latin typeface="Calibri"/>
                <a:ea typeface="Calibri"/>
                <a:cs typeface="Calibri"/>
                <a:sym typeface="Calibri"/>
              </a:rPr>
              <a:t>Plans for Future Work</a:t>
            </a:r>
            <a:endParaRPr b="0" i="0" sz="1300" u="none" cap="none" strike="noStrike">
              <a:solidFill>
                <a:schemeClr val="dk1"/>
              </a:solidFill>
              <a:latin typeface="Calibri"/>
              <a:ea typeface="Calibri"/>
              <a:cs typeface="Calibri"/>
              <a:sym typeface="Calibri"/>
            </a:endParaRPr>
          </a:p>
        </p:txBody>
      </p:sp>
      <p:sp>
        <p:nvSpPr>
          <p:cNvPr id="175" name="Google Shape;175;p20"/>
          <p:cNvSpPr/>
          <p:nvPr/>
        </p:nvSpPr>
        <p:spPr>
          <a:xfrm>
            <a:off x="274308" y="3420648"/>
            <a:ext cx="2011800" cy="1298400"/>
          </a:xfrm>
          <a:prstGeom prst="rect">
            <a:avLst/>
          </a:prstGeom>
          <a:solidFill>
            <a:srgbClr val="FFFFFF"/>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0"/>
          <p:cNvSpPr/>
          <p:nvPr/>
        </p:nvSpPr>
        <p:spPr>
          <a:xfrm>
            <a:off x="365760" y="3621024"/>
            <a:ext cx="1828800" cy="384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77A8"/>
              </a:buClr>
              <a:buSzPts val="1050"/>
              <a:buFont typeface="Calibri"/>
              <a:buNone/>
            </a:pPr>
            <a:r>
              <a:rPr b="1" i="0" lang="en" sz="1050" u="none" cap="none" strike="noStrike">
                <a:solidFill>
                  <a:srgbClr val="0077A8"/>
                </a:solidFill>
                <a:latin typeface="Calibri"/>
                <a:ea typeface="Calibri"/>
                <a:cs typeface="Calibri"/>
                <a:sym typeface="Calibri"/>
              </a:rPr>
              <a:t>🔡 Language Model Integration</a:t>
            </a:r>
            <a:endParaRPr b="0" i="0" sz="1050" u="none" cap="none" strike="noStrike">
              <a:solidFill>
                <a:schemeClr val="dk1"/>
              </a:solidFill>
              <a:latin typeface="Calibri"/>
              <a:ea typeface="Calibri"/>
              <a:cs typeface="Calibri"/>
              <a:sym typeface="Calibri"/>
            </a:endParaRPr>
          </a:p>
        </p:txBody>
      </p:sp>
      <p:sp>
        <p:nvSpPr>
          <p:cNvPr id="177" name="Google Shape;177;p20"/>
          <p:cNvSpPr/>
          <p:nvPr/>
        </p:nvSpPr>
        <p:spPr>
          <a:xfrm>
            <a:off x="365735" y="3966010"/>
            <a:ext cx="1828800" cy="7863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A7A8A"/>
              </a:buClr>
              <a:buSzPts val="950"/>
              <a:buFont typeface="Calibri"/>
              <a:buNone/>
            </a:pPr>
            <a:r>
              <a:rPr b="0" i="0" lang="en" sz="950" u="none" cap="none" strike="noStrike">
                <a:solidFill>
                  <a:srgbClr val="5A7A8A"/>
                </a:solidFill>
                <a:latin typeface="Calibri"/>
                <a:ea typeface="Calibri"/>
                <a:cs typeface="Calibri"/>
                <a:sym typeface="Calibri"/>
              </a:rPr>
              <a:t>Couple acoustic model with </a:t>
            </a:r>
            <a:r>
              <a:rPr lang="en" sz="950">
                <a:solidFill>
                  <a:srgbClr val="5A7A8A"/>
                </a:solidFill>
                <a:latin typeface="Calibri"/>
                <a:ea typeface="Calibri"/>
                <a:cs typeface="Calibri"/>
                <a:sym typeface="Calibri"/>
              </a:rPr>
              <a:t>fine-tuned </a:t>
            </a:r>
            <a:r>
              <a:rPr b="0" i="0" lang="en" sz="950" u="none" cap="none" strike="noStrike">
                <a:solidFill>
                  <a:srgbClr val="5A7A8A"/>
                </a:solidFill>
                <a:latin typeface="Calibri"/>
                <a:ea typeface="Calibri"/>
                <a:cs typeface="Calibri"/>
                <a:sym typeface="Calibri"/>
              </a:rPr>
              <a:t>n-gram or transformer LM for rescoring</a:t>
            </a:r>
            <a:endParaRPr b="0" i="0" sz="950" u="none" cap="none" strike="noStrike">
              <a:solidFill>
                <a:schemeClr val="dk1"/>
              </a:solidFill>
              <a:latin typeface="Calibri"/>
              <a:ea typeface="Calibri"/>
              <a:cs typeface="Calibri"/>
              <a:sym typeface="Calibri"/>
            </a:endParaRPr>
          </a:p>
        </p:txBody>
      </p:sp>
      <p:sp>
        <p:nvSpPr>
          <p:cNvPr id="178" name="Google Shape;178;p20"/>
          <p:cNvSpPr/>
          <p:nvPr/>
        </p:nvSpPr>
        <p:spPr>
          <a:xfrm>
            <a:off x="3547806" y="3420648"/>
            <a:ext cx="2011800" cy="1298400"/>
          </a:xfrm>
          <a:prstGeom prst="rect">
            <a:avLst/>
          </a:prstGeom>
          <a:solidFill>
            <a:srgbClr val="FFFFFF"/>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0"/>
          <p:cNvSpPr/>
          <p:nvPr/>
        </p:nvSpPr>
        <p:spPr>
          <a:xfrm>
            <a:off x="3639321" y="3621024"/>
            <a:ext cx="1828800" cy="384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77A8"/>
              </a:buClr>
              <a:buSzPts val="1050"/>
              <a:buFont typeface="Calibri"/>
              <a:buNone/>
            </a:pPr>
            <a:r>
              <a:rPr b="1" i="0" lang="en" sz="1050" u="none" cap="none" strike="noStrike">
                <a:solidFill>
                  <a:srgbClr val="0077A8"/>
                </a:solidFill>
                <a:latin typeface="Calibri"/>
                <a:ea typeface="Calibri"/>
                <a:cs typeface="Calibri"/>
                <a:sym typeface="Calibri"/>
              </a:rPr>
              <a:t>📊 Scale Training Data</a:t>
            </a:r>
            <a:endParaRPr b="0" i="0" sz="1050" u="none" cap="none" strike="noStrike">
              <a:solidFill>
                <a:schemeClr val="dk1"/>
              </a:solidFill>
              <a:latin typeface="Calibri"/>
              <a:ea typeface="Calibri"/>
              <a:cs typeface="Calibri"/>
              <a:sym typeface="Calibri"/>
            </a:endParaRPr>
          </a:p>
        </p:txBody>
      </p:sp>
      <p:sp>
        <p:nvSpPr>
          <p:cNvPr id="180" name="Google Shape;180;p20"/>
          <p:cNvSpPr/>
          <p:nvPr/>
        </p:nvSpPr>
        <p:spPr>
          <a:xfrm>
            <a:off x="3639321" y="3801710"/>
            <a:ext cx="1828800" cy="7863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A7A8A"/>
              </a:buClr>
              <a:buSzPts val="950"/>
              <a:buFont typeface="Calibri"/>
              <a:buNone/>
            </a:pPr>
            <a:r>
              <a:rPr b="0" i="0" lang="en" sz="950" u="none" cap="none" strike="noStrike">
                <a:solidFill>
                  <a:srgbClr val="5A7A8A"/>
                </a:solidFill>
                <a:latin typeface="Calibri"/>
                <a:ea typeface="Calibri"/>
                <a:cs typeface="Calibri"/>
                <a:sym typeface="Calibri"/>
              </a:rPr>
              <a:t>Train on full 960h LibriSpeech</a:t>
            </a:r>
            <a:r>
              <a:rPr lang="en" sz="950">
                <a:solidFill>
                  <a:srgbClr val="5A7A8A"/>
                </a:solidFill>
                <a:latin typeface="Calibri"/>
                <a:ea typeface="Calibri"/>
                <a:cs typeface="Calibri"/>
                <a:sym typeface="Calibri"/>
              </a:rPr>
              <a:t> and </a:t>
            </a:r>
            <a:r>
              <a:rPr b="0" i="0" lang="en" sz="950" u="none" cap="none" strike="noStrike">
                <a:solidFill>
                  <a:srgbClr val="5A7A8A"/>
                </a:solidFill>
                <a:latin typeface="Calibri"/>
                <a:ea typeface="Calibri"/>
                <a:cs typeface="Calibri"/>
                <a:sym typeface="Calibri"/>
              </a:rPr>
              <a:t>explore multilingual CommonVoice</a:t>
            </a:r>
            <a:endParaRPr b="0" i="0" sz="950" u="none" cap="none" strike="noStrike">
              <a:solidFill>
                <a:schemeClr val="dk1"/>
              </a:solidFill>
              <a:latin typeface="Calibri"/>
              <a:ea typeface="Calibri"/>
              <a:cs typeface="Calibri"/>
              <a:sym typeface="Calibri"/>
            </a:endParaRPr>
          </a:p>
        </p:txBody>
      </p:sp>
      <p:sp>
        <p:nvSpPr>
          <p:cNvPr id="181" name="Google Shape;181;p20"/>
          <p:cNvSpPr/>
          <p:nvPr/>
        </p:nvSpPr>
        <p:spPr>
          <a:xfrm>
            <a:off x="6857889" y="3420648"/>
            <a:ext cx="2011800" cy="1298400"/>
          </a:xfrm>
          <a:prstGeom prst="rect">
            <a:avLst/>
          </a:prstGeom>
          <a:solidFill>
            <a:srgbClr val="FFFFFF"/>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0"/>
          <p:cNvSpPr/>
          <p:nvPr/>
        </p:nvSpPr>
        <p:spPr>
          <a:xfrm>
            <a:off x="7004304" y="3621024"/>
            <a:ext cx="1828800" cy="384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77A8"/>
              </a:buClr>
              <a:buSzPts val="1050"/>
              <a:buFont typeface="Calibri"/>
              <a:buNone/>
            </a:pPr>
            <a:r>
              <a:rPr b="1" i="0" lang="en" sz="1050" u="none" cap="none" strike="noStrike">
                <a:solidFill>
                  <a:srgbClr val="0077A8"/>
                </a:solidFill>
                <a:latin typeface="Calibri"/>
                <a:ea typeface="Calibri"/>
                <a:cs typeface="Calibri"/>
                <a:sym typeface="Calibri"/>
              </a:rPr>
              <a:t>🎙 Noise Robustness</a:t>
            </a:r>
            <a:endParaRPr b="0" i="0" sz="1050" u="none" cap="none" strike="noStrike">
              <a:solidFill>
                <a:schemeClr val="dk1"/>
              </a:solidFill>
              <a:latin typeface="Calibri"/>
              <a:ea typeface="Calibri"/>
              <a:cs typeface="Calibri"/>
              <a:sym typeface="Calibri"/>
            </a:endParaRPr>
          </a:p>
        </p:txBody>
      </p:sp>
      <p:sp>
        <p:nvSpPr>
          <p:cNvPr id="183" name="Google Shape;183;p20"/>
          <p:cNvSpPr/>
          <p:nvPr/>
        </p:nvSpPr>
        <p:spPr>
          <a:xfrm>
            <a:off x="7004304" y="3801710"/>
            <a:ext cx="1828800" cy="7863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A7A8A"/>
              </a:buClr>
              <a:buSzPts val="950"/>
              <a:buFont typeface="Calibri"/>
              <a:buNone/>
            </a:pPr>
            <a:r>
              <a:rPr b="0" i="0" lang="en" sz="950" u="none" cap="none" strike="noStrike">
                <a:solidFill>
                  <a:srgbClr val="5A7A8A"/>
                </a:solidFill>
                <a:latin typeface="Calibri"/>
                <a:ea typeface="Calibri"/>
                <a:cs typeface="Calibri"/>
                <a:sym typeface="Calibri"/>
              </a:rPr>
              <a:t>Environmental noise augmentation and speaker adaptation</a:t>
            </a:r>
            <a:endParaRPr b="0" i="0" sz="950" u="none" cap="none" strike="noStrike">
              <a:solidFill>
                <a:schemeClr val="dk1"/>
              </a:solidFill>
              <a:latin typeface="Calibri"/>
              <a:ea typeface="Calibri"/>
              <a:cs typeface="Calibri"/>
              <a:sym typeface="Calibri"/>
            </a:endParaRPr>
          </a:p>
        </p:txBody>
      </p:sp>
      <p:sp>
        <p:nvSpPr>
          <p:cNvPr id="184" name="Google Shape;184;p20"/>
          <p:cNvSpPr/>
          <p:nvPr/>
        </p:nvSpPr>
        <p:spPr>
          <a:xfrm>
            <a:off x="0" y="4892040"/>
            <a:ext cx="9144000" cy="25146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0"/>
          <p:cNvSpPr/>
          <p:nvPr/>
        </p:nvSpPr>
        <p:spPr>
          <a:xfrm>
            <a:off x="0" y="4892040"/>
            <a:ext cx="9144000" cy="2514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4D8"/>
              </a:buClr>
              <a:buSzPts val="1000"/>
              <a:buFont typeface="Calibri"/>
              <a:buNone/>
            </a:pPr>
            <a:r>
              <a:rPr b="1" i="0" lang="en" sz="1000" u="none" cap="none" strike="noStrike">
                <a:solidFill>
                  <a:srgbClr val="00B4D8"/>
                </a:solidFill>
                <a:latin typeface="Calibri"/>
                <a:ea typeface="Calibri"/>
                <a:cs typeface="Calibri"/>
                <a:sym typeface="Calibri"/>
              </a:rPr>
              <a:t>Thank you — Questions?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